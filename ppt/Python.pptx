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7" r:id="rId3"/>
    <p:sldId id="258" r:id="rId4"/>
    <p:sldId id="260" r:id="rId5"/>
    <p:sldId id="283" r:id="rId6"/>
    <p:sldId id="271" r:id="rId7"/>
    <p:sldId id="261" r:id="rId8"/>
    <p:sldId id="335" r:id="rId9"/>
    <p:sldId id="262" r:id="rId10"/>
    <p:sldId id="294" r:id="rId11"/>
    <p:sldId id="296" r:id="rId12"/>
    <p:sldId id="297" r:id="rId13"/>
    <p:sldId id="306" r:id="rId14"/>
    <p:sldId id="307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323" r:id="rId24"/>
    <p:sldId id="316" r:id="rId25"/>
    <p:sldId id="317" r:id="rId26"/>
    <p:sldId id="318" r:id="rId27"/>
    <p:sldId id="343" r:id="rId28"/>
    <p:sldId id="319" r:id="rId29"/>
    <p:sldId id="320" r:id="rId30"/>
    <p:sldId id="322" r:id="rId31"/>
    <p:sldId id="330" r:id="rId32"/>
    <p:sldId id="331" r:id="rId33"/>
    <p:sldId id="332" r:id="rId34"/>
    <p:sldId id="333" r:id="rId35"/>
    <p:sldId id="334" r:id="rId36"/>
    <p:sldId id="338" r:id="rId37"/>
    <p:sldId id="337" r:id="rId38"/>
    <p:sldId id="339" r:id="rId39"/>
    <p:sldId id="340" r:id="rId40"/>
    <p:sldId id="341" r:id="rId41"/>
    <p:sldId id="342" r:id="rId42"/>
  </p:sldIdLst>
  <p:sldSz cx="12192000" cy="6858000"/>
  <p:notesSz cx="7559675" cy="106918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99" autoAdjust="0"/>
    <p:restoredTop sz="94660"/>
  </p:normalViewPr>
  <p:slideViewPr>
    <p:cSldViewPr snapToGrid="0">
      <p:cViewPr varScale="1">
        <p:scale>
          <a:sx n="74" d="100"/>
          <a:sy n="74" d="100"/>
        </p:scale>
        <p:origin x="4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280" cy="11064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280" cy="11064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IN" sz="4400" b="0" strike="noStrike" spc="-1"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3200" b="0" strike="noStrike" spc="-1"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IN" sz="2800" b="0" strike="noStrike" spc="-1"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2400" b="0" strike="noStrike" spc="-1"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IN" sz="2000" b="0" strike="noStrike" spc="-1"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2000" b="0" strike="noStrike" spc="-1"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2000" b="0" strike="noStrike" spc="-1"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2000" b="0" strike="noStrike" spc="-1">
                <a:latin typeface="Arial" panose="020B06040202020202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IN" sz="1800" b="0" strike="noStrike" spc="-1"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3200" b="0" strike="noStrike" spc="-1"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IN" sz="2800" b="0" strike="noStrike" spc="-1"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2400" b="0" strike="noStrike" spc="-1"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IN" sz="2000" b="0" strike="noStrike" spc="-1"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2000" b="0" strike="noStrike" spc="-1"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2000" b="0" strike="noStrike" spc="-1"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2000" b="0" strike="noStrike" spc="-1">
                <a:latin typeface="Arial" panose="020B06040202020202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CustomShape 1"/>
          <p:cNvSpPr/>
          <p:nvPr/>
        </p:nvSpPr>
        <p:spPr>
          <a:xfrm>
            <a:off x="911225" y="1845310"/>
            <a:ext cx="8559800" cy="172783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5400" b="1" strike="noStrike" spc="-1">
                <a:solidFill>
                  <a:srgbClr val="ED7D31"/>
                </a:solidFill>
                <a:latin typeface="Calibri" panose="020F0502020204030204"/>
              </a:rPr>
              <a:t>PYTHON </a:t>
            </a:r>
            <a:r>
              <a:rPr lang="en-US" altLang="en-IN" sz="5400" b="1" strike="noStrike" spc="-1">
                <a:solidFill>
                  <a:srgbClr val="ED7D31"/>
                </a:solidFill>
                <a:latin typeface="Calibri" panose="020F0502020204030204"/>
              </a:rPr>
              <a:t>PROGRAMMING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CustomShape 1"/>
          <p:cNvSpPr/>
          <p:nvPr/>
        </p:nvSpPr>
        <p:spPr>
          <a:xfrm>
            <a:off x="354240" y="378000"/>
            <a:ext cx="7891560" cy="105732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IN" sz="5400" b="1" strike="noStrike" spc="-1">
                <a:solidFill>
                  <a:srgbClr val="ED7D31"/>
                </a:solidFill>
                <a:latin typeface="Calibri" panose="020F0502020204030204"/>
              </a:rPr>
              <a:t>AGENDA</a:t>
            </a:r>
            <a:endParaRPr lang="en-IN" sz="5400" b="0" strike="noStrike" spc="-1">
              <a:latin typeface="Arial" panose="020B0604020202020204"/>
            </a:endParaRPr>
          </a:p>
        </p:txBody>
      </p:sp>
      <p:sp>
        <p:nvSpPr>
          <p:cNvPr id="80" name="CustomShape 2"/>
          <p:cNvSpPr/>
          <p:nvPr/>
        </p:nvSpPr>
        <p:spPr>
          <a:xfrm>
            <a:off x="232920" y="1955160"/>
            <a:ext cx="9362520" cy="420696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normAutofit fontScale="97500"/>
          </a:bodyPr>
          <a:lstStyle/>
          <a:p>
            <a:pPr marL="457200" indent="-456565">
              <a:lnSpc>
                <a:spcPct val="90000"/>
              </a:lnSpc>
              <a:spcBef>
                <a:spcPts val="1000"/>
              </a:spcBef>
              <a:buClr>
                <a:srgbClr val="FFFFFF"/>
              </a:buClr>
              <a:buFont typeface="Arial" panose="020B0604020202020204"/>
              <a:buChar char="•"/>
            </a:pPr>
            <a:r>
              <a:rPr lang="en-US" altLang="en-IN" sz="3000" spc="-1">
                <a:solidFill>
                  <a:srgbClr val="FFFFFF"/>
                </a:solidFill>
                <a:latin typeface="Times New Roman" panose="02020603050405020304"/>
                <a:sym typeface="+mn-ea"/>
              </a:rPr>
              <a:t>Programing Language and Program execution ?</a:t>
            </a:r>
            <a:endParaRPr lang="en-US" altLang="en-IN" sz="3000" b="0" strike="noStrike" spc="-1">
              <a:solidFill>
                <a:srgbClr val="FFFFFF"/>
              </a:solidFill>
              <a:latin typeface="Times New Roman" panose="02020603050405020304"/>
            </a:endParaRPr>
          </a:p>
          <a:p>
            <a:pPr marL="457200" indent="-456565">
              <a:lnSpc>
                <a:spcPct val="90000"/>
              </a:lnSpc>
              <a:spcBef>
                <a:spcPts val="1000"/>
              </a:spcBef>
              <a:buClr>
                <a:srgbClr val="FFFFFF"/>
              </a:buClr>
              <a:buFont typeface="Arial" panose="020B0604020202020204"/>
              <a:buChar char="•"/>
            </a:pPr>
            <a:r>
              <a:rPr lang="en-US" altLang="en-IN" sz="3000" b="0" strike="noStrike" spc="-1">
                <a:solidFill>
                  <a:srgbClr val="FFFFFF"/>
                </a:solidFill>
                <a:latin typeface="Times New Roman" panose="02020603050405020304"/>
              </a:rPr>
              <a:t>What is python ?</a:t>
            </a:r>
            <a:endParaRPr lang="en-IN" sz="3000" b="0" strike="noStrike" spc="-1">
              <a:latin typeface="Arial" panose="020B0604020202020204"/>
            </a:endParaRPr>
          </a:p>
          <a:p>
            <a:pPr marL="457200" indent="-456565">
              <a:lnSpc>
                <a:spcPct val="90000"/>
              </a:lnSpc>
              <a:spcBef>
                <a:spcPts val="1000"/>
              </a:spcBef>
              <a:buClr>
                <a:srgbClr val="FFFFFF"/>
              </a:buClr>
              <a:buFont typeface="Arial" panose="020B0604020202020204"/>
              <a:buChar char="•"/>
            </a:pPr>
            <a:r>
              <a:rPr lang="en-IN" sz="3000" b="0" strike="noStrike" spc="-1">
                <a:solidFill>
                  <a:srgbClr val="FFFFFF"/>
                </a:solidFill>
                <a:latin typeface="Times New Roman" panose="02020603050405020304"/>
              </a:rPr>
              <a:t>Why python ?</a:t>
            </a:r>
          </a:p>
          <a:p>
            <a:pPr marL="457200" indent="-456565">
              <a:lnSpc>
                <a:spcPct val="90000"/>
              </a:lnSpc>
              <a:spcBef>
                <a:spcPts val="1000"/>
              </a:spcBef>
              <a:buClr>
                <a:srgbClr val="FFFFFF"/>
              </a:buClr>
              <a:buFont typeface="Arial" panose="020B0604020202020204"/>
              <a:buChar char="•"/>
            </a:pPr>
            <a:r>
              <a:rPr lang="en-IN" sz="3000" b="0" strike="noStrike" spc="-1">
                <a:solidFill>
                  <a:srgbClr val="FFFFFF"/>
                </a:solidFill>
                <a:latin typeface="Times New Roman" panose="02020603050405020304"/>
              </a:rPr>
              <a:t>Fe</a:t>
            </a:r>
            <a:r>
              <a:rPr lang="en-US" altLang="en-IN" sz="3000" b="0" strike="noStrike" spc="-1">
                <a:solidFill>
                  <a:srgbClr val="FFFFFF"/>
                </a:solidFill>
                <a:latin typeface="Times New Roman" panose="02020603050405020304"/>
              </a:rPr>
              <a:t>a</a:t>
            </a:r>
            <a:r>
              <a:rPr lang="en-IN" sz="3000" b="0" strike="noStrike" spc="-1">
                <a:solidFill>
                  <a:srgbClr val="FFFFFF"/>
                </a:solidFill>
                <a:latin typeface="Times New Roman" panose="02020603050405020304"/>
              </a:rPr>
              <a:t>ture</a:t>
            </a:r>
            <a:r>
              <a:rPr lang="en-US" altLang="en-IN" sz="3000" b="0" strike="noStrike" spc="-1">
                <a:solidFill>
                  <a:srgbClr val="FFFFFF"/>
                </a:solidFill>
                <a:latin typeface="Times New Roman" panose="02020603050405020304"/>
              </a:rPr>
              <a:t>s</a:t>
            </a:r>
            <a:r>
              <a:rPr lang="en-IN" sz="3000" b="0" strike="noStrike" spc="-1">
                <a:solidFill>
                  <a:srgbClr val="FFFFFF"/>
                </a:solidFill>
                <a:latin typeface="Times New Roman" panose="02020603050405020304"/>
              </a:rPr>
              <a:t> of python ?</a:t>
            </a:r>
            <a:endParaRPr lang="en-IN" sz="3000" b="0" strike="noStrike" spc="-1">
              <a:latin typeface="Arial" panose="020B0604020202020204"/>
            </a:endParaRPr>
          </a:p>
          <a:p>
            <a:pPr marL="457200" indent="-456565">
              <a:lnSpc>
                <a:spcPct val="90000"/>
              </a:lnSpc>
              <a:spcBef>
                <a:spcPts val="1000"/>
              </a:spcBef>
              <a:buClr>
                <a:srgbClr val="FFFFFF"/>
              </a:buClr>
              <a:buFont typeface="Arial" panose="020B0604020202020204"/>
              <a:buChar char="•"/>
            </a:pPr>
            <a:r>
              <a:rPr lang="en-US" altLang="en-IN" sz="3000" spc="-1">
                <a:solidFill>
                  <a:srgbClr val="FFFFFF"/>
                </a:solidFill>
                <a:latin typeface="Times New Roman" panose="02020603050405020304"/>
                <a:sym typeface="+mn-ea"/>
              </a:rPr>
              <a:t>First Program in python.</a:t>
            </a:r>
            <a:endParaRPr lang="en-IN" sz="3000" b="0" strike="noStrike" spc="-1">
              <a:latin typeface="Arial" panose="020B0604020202020204"/>
            </a:endParaRPr>
          </a:p>
          <a:p>
            <a:pPr marL="457200" indent="-456565">
              <a:lnSpc>
                <a:spcPct val="90000"/>
              </a:lnSpc>
              <a:spcBef>
                <a:spcPts val="1000"/>
              </a:spcBef>
              <a:buClr>
                <a:srgbClr val="FFFFFF"/>
              </a:buClr>
              <a:buFont typeface="Arial" panose="020B0604020202020204"/>
              <a:buChar char="•"/>
            </a:pPr>
            <a:r>
              <a:rPr lang="en-US" sz="3000" b="0" strike="noStrike" spc="-1">
                <a:solidFill>
                  <a:srgbClr val="FFFFFF"/>
                </a:solidFill>
                <a:latin typeface="Times New Roman" panose="02020603050405020304"/>
              </a:rPr>
              <a:t>Python setup.</a:t>
            </a:r>
            <a:endParaRPr lang="en-IN" sz="3000" b="0" strike="noStrike" spc="-1">
              <a:latin typeface="Arial" panose="020B0604020202020204"/>
            </a:endParaRPr>
          </a:p>
          <a:p>
            <a:pPr marL="457200" indent="-456565">
              <a:lnSpc>
                <a:spcPct val="90000"/>
              </a:lnSpc>
              <a:spcBef>
                <a:spcPts val="1000"/>
              </a:spcBef>
              <a:buClr>
                <a:srgbClr val="FFFFFF"/>
              </a:buClr>
              <a:buFont typeface="Arial" panose="020B0604020202020204"/>
              <a:buChar char="•"/>
            </a:pPr>
            <a:r>
              <a:rPr lang="en-IN" sz="3000" b="0" strike="noStrike" spc="-1">
                <a:solidFill>
                  <a:srgbClr val="FFFFFF"/>
                </a:solidFill>
                <a:latin typeface="Times New Roman" panose="02020603050405020304"/>
              </a:rPr>
              <a:t>Data types in python.</a:t>
            </a:r>
            <a:endParaRPr lang="en-IN" sz="3000" b="0" strike="noStrike" spc="-1">
              <a:latin typeface="Arial" panose="020B0604020202020204"/>
            </a:endParaRPr>
          </a:p>
          <a:p>
            <a:pPr marL="457200" indent="-456565">
              <a:lnSpc>
                <a:spcPct val="90000"/>
              </a:lnSpc>
              <a:spcBef>
                <a:spcPts val="1000"/>
              </a:spcBef>
              <a:buClr>
                <a:srgbClr val="FFFFFF"/>
              </a:buClr>
              <a:buFont typeface="Arial" panose="020B0604020202020204"/>
              <a:buChar char="•"/>
            </a:pPr>
            <a:r>
              <a:rPr lang="en-IN" sz="3000" b="0" strike="noStrike" spc="-1">
                <a:solidFill>
                  <a:srgbClr val="FFFFFF"/>
                </a:solidFill>
                <a:latin typeface="Times New Roman" panose="02020603050405020304"/>
              </a:rPr>
              <a:t>Python operators.</a:t>
            </a:r>
            <a:endParaRPr lang="en-IN" sz="3000" b="0" strike="noStrike" spc="-1"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stomShape 1"/>
          <p:cNvSpPr/>
          <p:nvPr/>
        </p:nvSpPr>
        <p:spPr>
          <a:xfrm>
            <a:off x="354240" y="226800"/>
            <a:ext cx="7891560" cy="105732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IN" sz="5400" b="1" strike="noStrike" spc="-1">
                <a:solidFill>
                  <a:srgbClr val="ED7D31"/>
                </a:solidFill>
                <a:latin typeface="Calibri" panose="020F0502020204030204"/>
              </a:rPr>
              <a:t>PYTHON</a:t>
            </a:r>
            <a:endParaRPr lang="en-IN" sz="5400" b="0" strike="noStrike" spc="-1">
              <a:latin typeface="Arial" panose="020B0604020202020204"/>
            </a:endParaRPr>
          </a:p>
        </p:txBody>
      </p:sp>
      <p:sp>
        <p:nvSpPr>
          <p:cNvPr id="86" name="CustomShape 2"/>
          <p:cNvSpPr/>
          <p:nvPr/>
        </p:nvSpPr>
        <p:spPr>
          <a:xfrm>
            <a:off x="233045" y="1577975"/>
            <a:ext cx="10434955" cy="500824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en-IN" sz="2400" b="0" strike="noStrike" spc="-1" dirty="0">
                <a:solidFill>
                  <a:srgbClr val="FFFFFF"/>
                </a:solidFill>
                <a:latin typeface="Times New Roman" panose="02020603050405020304"/>
              </a:rPr>
              <a:t>Python is a widely used general-purpose, high level programming language. It was created by</a:t>
            </a:r>
            <a:r>
              <a:rPr lang="en-IN" sz="24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n-IN" sz="2400" b="1" strike="noStrike" spc="-1" dirty="0">
                <a:solidFill>
                  <a:srgbClr val="ED7D31"/>
                </a:solidFill>
                <a:latin typeface="Calibri" panose="020F0502020204030204"/>
              </a:rPr>
              <a:t>Guido van Rossum</a:t>
            </a:r>
            <a:r>
              <a:rPr lang="en-IN" sz="24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n-IN" sz="2400" b="0" strike="noStrike" spc="-1" dirty="0">
                <a:solidFill>
                  <a:srgbClr val="FFFFFF"/>
                </a:solidFill>
                <a:latin typeface="Times New Roman" panose="02020603050405020304"/>
              </a:rPr>
              <a:t>in 1991</a:t>
            </a:r>
            <a:r>
              <a:rPr lang="en-IN" b="0" strike="noStrike" spc="-1" dirty="0">
                <a:solidFill>
                  <a:srgbClr val="FFFFFF"/>
                </a:solidFill>
                <a:latin typeface="Times New Roman" panose="02020603050405020304"/>
              </a:rPr>
              <a:t>.</a:t>
            </a:r>
            <a:endParaRPr lang="en-IN" b="0" strike="noStrike" spc="-1" dirty="0">
              <a:latin typeface="Arial" panose="020B0604020202020204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endParaRPr lang="en-IN" b="0" strike="noStrike" spc="-1" dirty="0">
              <a:latin typeface="Arial" panose="020B0604020202020204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en-IN" sz="2400" b="1" strike="noStrike" spc="-1" dirty="0">
                <a:solidFill>
                  <a:srgbClr val="ED7D31"/>
                </a:solidFill>
                <a:latin typeface="Calibri" panose="020F0502020204030204"/>
              </a:rPr>
              <a:t>Why Python ?</a:t>
            </a:r>
            <a:endParaRPr lang="en-IN" sz="2400" b="0" strike="noStrike" spc="-1" dirty="0">
              <a:latin typeface="Arial" panose="020B0604020202020204"/>
            </a:endParaRPr>
          </a:p>
          <a:p>
            <a:pPr marL="285750" indent="-285115">
              <a:lnSpc>
                <a:spcPct val="100000"/>
              </a:lnSpc>
              <a:spcBef>
                <a:spcPts val="1000"/>
              </a:spcBef>
              <a:buClr>
                <a:srgbClr val="FFFFFF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IN" sz="2400" b="0" strike="noStrike" spc="-1" dirty="0">
                <a:solidFill>
                  <a:srgbClr val="FFFFFF"/>
                </a:solidFill>
                <a:latin typeface="Times New Roman" panose="02020603050405020304"/>
              </a:rPr>
              <a:t>Readable and Easy to Learn</a:t>
            </a:r>
            <a:endParaRPr lang="en-IN" sz="2400" b="0" strike="noStrike" spc="-1" dirty="0">
              <a:latin typeface="Arial" panose="020B0604020202020204"/>
            </a:endParaRPr>
          </a:p>
          <a:p>
            <a:pPr marL="285750" indent="-285115">
              <a:lnSpc>
                <a:spcPct val="100000"/>
              </a:lnSpc>
              <a:spcBef>
                <a:spcPts val="1000"/>
              </a:spcBef>
              <a:buClr>
                <a:srgbClr val="FFFFFF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IN" sz="2400" b="0" strike="noStrike" spc="-1" dirty="0">
                <a:solidFill>
                  <a:srgbClr val="FFFFFF"/>
                </a:solidFill>
                <a:latin typeface="Times New Roman" panose="02020603050405020304"/>
              </a:rPr>
              <a:t>Object Oriented</a:t>
            </a:r>
            <a:endParaRPr lang="en-IN" sz="2400" b="0" strike="noStrike" spc="-1" dirty="0">
              <a:latin typeface="Arial" panose="020B0604020202020204"/>
            </a:endParaRPr>
          </a:p>
          <a:p>
            <a:pPr marL="285750" indent="-285115">
              <a:lnSpc>
                <a:spcPct val="100000"/>
              </a:lnSpc>
              <a:spcBef>
                <a:spcPts val="1000"/>
              </a:spcBef>
              <a:buClr>
                <a:srgbClr val="FFFFFF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IN" sz="2400" b="0" strike="noStrike" spc="-1" dirty="0">
                <a:solidFill>
                  <a:srgbClr val="FFFFFF"/>
                </a:solidFill>
                <a:latin typeface="Times New Roman" panose="02020603050405020304"/>
              </a:rPr>
              <a:t>Interpreted</a:t>
            </a:r>
            <a:endParaRPr lang="en-IN" sz="2400" b="0" strike="noStrike" spc="-1" dirty="0">
              <a:latin typeface="Arial" panose="020B0604020202020204"/>
            </a:endParaRPr>
          </a:p>
          <a:p>
            <a:pPr marL="285750" indent="-285115">
              <a:lnSpc>
                <a:spcPct val="100000"/>
              </a:lnSpc>
              <a:spcBef>
                <a:spcPts val="1000"/>
              </a:spcBef>
              <a:buClr>
                <a:srgbClr val="FFFFFF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IN" sz="2400" b="0" strike="noStrike" spc="-1" dirty="0">
                <a:solidFill>
                  <a:srgbClr val="FFFFFF"/>
                </a:solidFill>
                <a:latin typeface="Times New Roman" panose="02020603050405020304"/>
              </a:rPr>
              <a:t>High-Level Language</a:t>
            </a:r>
            <a:endParaRPr lang="en-IN" sz="2400" b="0" strike="noStrike" spc="-1" dirty="0">
              <a:latin typeface="Arial" panose="020B0604020202020204"/>
            </a:endParaRPr>
          </a:p>
          <a:p>
            <a:pPr marL="285750" indent="-285115">
              <a:lnSpc>
                <a:spcPct val="100000"/>
              </a:lnSpc>
              <a:spcBef>
                <a:spcPts val="1000"/>
              </a:spcBef>
              <a:buClr>
                <a:srgbClr val="FFFFFF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IN" sz="2400" b="0" strike="noStrike" spc="-1" dirty="0">
                <a:solidFill>
                  <a:srgbClr val="FFFFFF"/>
                </a:solidFill>
                <a:latin typeface="Times New Roman" panose="02020603050405020304"/>
              </a:rPr>
              <a:t>Dynamic Typing</a:t>
            </a:r>
            <a:endParaRPr lang="en-IN" sz="2400" b="0" strike="noStrike" spc="-1" dirty="0">
              <a:latin typeface="Arial" panose="020B0604020202020204"/>
            </a:endParaRPr>
          </a:p>
          <a:p>
            <a:pPr marL="285750" indent="-285115">
              <a:lnSpc>
                <a:spcPct val="100000"/>
              </a:lnSpc>
              <a:spcBef>
                <a:spcPts val="1000"/>
              </a:spcBef>
              <a:buClr>
                <a:srgbClr val="FFFFFF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IN" sz="2400" b="0" strike="noStrike" spc="-1" dirty="0">
                <a:solidFill>
                  <a:srgbClr val="FFFFFF"/>
                </a:solidFill>
                <a:latin typeface="Times New Roman" panose="02020603050405020304"/>
              </a:rPr>
              <a:t>Cross-platform</a:t>
            </a:r>
            <a:endParaRPr lang="en-IN" sz="2400" b="0" strike="noStrike" spc="-1" dirty="0">
              <a:latin typeface="Arial" panose="020B0604020202020204"/>
            </a:endParaRPr>
          </a:p>
          <a:p>
            <a:pPr marL="285750" indent="-285115">
              <a:lnSpc>
                <a:spcPct val="100000"/>
              </a:lnSpc>
              <a:spcBef>
                <a:spcPts val="1000"/>
              </a:spcBef>
              <a:buClr>
                <a:srgbClr val="FFFFFF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IN" sz="2400" b="0" strike="noStrike" spc="-1" dirty="0">
                <a:solidFill>
                  <a:srgbClr val="FFFFFF"/>
                </a:solidFill>
                <a:latin typeface="Times New Roman" panose="02020603050405020304"/>
              </a:rPr>
              <a:t>large standard library</a:t>
            </a:r>
            <a:endParaRPr lang="en-IN" sz="2400" b="0" strike="noStrike" spc="-1" dirty="0">
              <a:latin typeface="Arial" panose="020B0604020202020204"/>
            </a:endParaRPr>
          </a:p>
          <a:p>
            <a:pPr marL="285750" indent="-285115"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endParaRPr lang="en-IN" sz="24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stomShape 1"/>
          <p:cNvSpPr/>
          <p:nvPr/>
        </p:nvSpPr>
        <p:spPr>
          <a:xfrm>
            <a:off x="341630" y="0"/>
            <a:ext cx="8848090" cy="105727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en-IN" sz="4800" b="0" strike="noStrike" spc="-1" dirty="0">
                <a:solidFill>
                  <a:schemeClr val="accent2"/>
                </a:solidFill>
                <a:latin typeface="Arial" panose="020B0604020202020204"/>
              </a:rPr>
              <a:t>PROGRAM COMPARISON</a:t>
            </a:r>
          </a:p>
        </p:txBody>
      </p:sp>
      <p:pic>
        <p:nvPicPr>
          <p:cNvPr id="2" name="Picture 1" descr="hello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30" y="1692275"/>
            <a:ext cx="9035987" cy="4721225"/>
          </a:xfrm>
          <a:prstGeom prst="rect">
            <a:avLst/>
          </a:prstGeom>
          <a:ln w="38100">
            <a:solidFill>
              <a:schemeClr val="accent2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nterpre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" y="2071370"/>
            <a:ext cx="8421370" cy="4300220"/>
          </a:xfrm>
          <a:prstGeom prst="rect">
            <a:avLst/>
          </a:prstGeom>
          <a:ln w="38100">
            <a:solidFill>
              <a:schemeClr val="accent2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" name="Text Box 2"/>
          <p:cNvSpPr txBox="1"/>
          <p:nvPr/>
        </p:nvSpPr>
        <p:spPr>
          <a:xfrm>
            <a:off x="553085" y="568960"/>
            <a:ext cx="719899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IN" sz="3200" spc="-1">
                <a:solidFill>
                  <a:schemeClr val="accent2"/>
                </a:solidFill>
                <a:latin typeface="Times New Roman" panose="02020603050405020304"/>
                <a:sym typeface="+mn-ea"/>
              </a:rPr>
              <a:t>Programing Language and Program execution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ustomShape 1"/>
          <p:cNvSpPr/>
          <p:nvPr/>
        </p:nvSpPr>
        <p:spPr>
          <a:xfrm>
            <a:off x="244377" y="348781"/>
            <a:ext cx="7891560" cy="81897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IN" sz="4800" b="1" strike="noStrike" spc="-1" dirty="0" smtClean="0">
                <a:solidFill>
                  <a:srgbClr val="ED7D31"/>
                </a:solidFill>
                <a:latin typeface="Calibri" panose="020F0502020204030204"/>
              </a:rPr>
              <a:t>VARIABLES</a:t>
            </a:r>
            <a:endParaRPr lang="en-US" altLang="en-IN" sz="4800" b="1" strike="noStrike" spc="-1" dirty="0">
              <a:solidFill>
                <a:srgbClr val="ED7D31"/>
              </a:solidFill>
              <a:latin typeface="Calibri" panose="020F0502020204030204"/>
            </a:endParaRPr>
          </a:p>
        </p:txBody>
      </p:sp>
      <p:sp>
        <p:nvSpPr>
          <p:cNvPr id="89" name="CustomShape 2"/>
          <p:cNvSpPr/>
          <p:nvPr/>
        </p:nvSpPr>
        <p:spPr>
          <a:xfrm>
            <a:off x="551925" y="2277205"/>
            <a:ext cx="8539920" cy="460211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endParaRPr lang="en-IN" sz="2400" b="0" strike="noStrike" spc="-1" dirty="0">
              <a:latin typeface="Arial" panose="020B060402020202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7637" y="3735692"/>
            <a:ext cx="5440363" cy="290320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1047" y="1666894"/>
            <a:ext cx="92016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spc="-1" dirty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Think of a variable as a small storage compartment in the computer's memory. It's like having a tiny box where we can keep different kinds of information, such as numbers, words, or even more complex data like lists or sets. Each box has a name,</a:t>
            </a:r>
            <a:endParaRPr lang="en-IN" sz="2400" spc="-1" dirty="0">
              <a:solidFill>
                <a:srgbClr val="FFFFFF"/>
              </a:solidFill>
              <a:latin typeface="Times New Roman" panose="02020603050405020304"/>
              <a:ea typeface="DejaVu Sans" panose="020B06030308040202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ustomShape 1"/>
          <p:cNvSpPr/>
          <p:nvPr/>
        </p:nvSpPr>
        <p:spPr>
          <a:xfrm>
            <a:off x="271690" y="0"/>
            <a:ext cx="7891560" cy="105732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IN" sz="4800" b="1" strike="noStrike" spc="-1" dirty="0">
                <a:solidFill>
                  <a:srgbClr val="ED7D31"/>
                </a:solidFill>
                <a:latin typeface="Calibri" panose="020F0502020204030204"/>
              </a:rPr>
              <a:t>VARIABLE NAMES</a:t>
            </a:r>
            <a:r>
              <a:rPr lang="en-US" altLang="en-IN" sz="4800" b="1" strike="noStrike" spc="-1" dirty="0">
                <a:solidFill>
                  <a:srgbClr val="ED7D31"/>
                </a:solidFill>
                <a:latin typeface="Calibri" panose="020F0502020204030204"/>
              </a:rPr>
              <a:t> RULES</a:t>
            </a:r>
          </a:p>
        </p:txBody>
      </p:sp>
      <p:sp>
        <p:nvSpPr>
          <p:cNvPr id="89" name="CustomShape 2"/>
          <p:cNvSpPr/>
          <p:nvPr/>
        </p:nvSpPr>
        <p:spPr>
          <a:xfrm>
            <a:off x="463024" y="2306958"/>
            <a:ext cx="9315975" cy="3299963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228600" indent="-227965">
              <a:lnSpc>
                <a:spcPct val="90000"/>
              </a:lnSpc>
              <a:spcBef>
                <a:spcPts val="1000"/>
              </a:spcBef>
              <a:buClr>
                <a:srgbClr val="FFFFFF"/>
              </a:buClr>
              <a:buFont typeface="Arial" panose="020B0604020202020204"/>
              <a:buChar char="•"/>
            </a:pPr>
            <a:r>
              <a:rPr lang="en-IN" sz="2400" b="0" strike="noStrike" spc="-1" dirty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A variable name must start with a letter or the underscore character</a:t>
            </a:r>
            <a:endParaRPr lang="en-IN" sz="2400" b="0" strike="noStrike" spc="-1" dirty="0">
              <a:latin typeface="Arial" panose="020B0604020202020204"/>
            </a:endParaRPr>
          </a:p>
          <a:p>
            <a:pPr marL="228600" indent="-227965">
              <a:lnSpc>
                <a:spcPct val="90000"/>
              </a:lnSpc>
              <a:spcBef>
                <a:spcPts val="1000"/>
              </a:spcBef>
              <a:buClr>
                <a:srgbClr val="FFFFFF"/>
              </a:buClr>
              <a:buFont typeface="Arial" panose="020B0604020202020204"/>
              <a:buChar char="•"/>
            </a:pPr>
            <a:r>
              <a:rPr lang="en-IN" sz="2400" b="0" strike="noStrike" spc="-1" dirty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A variable name cannot start with a number</a:t>
            </a:r>
            <a:endParaRPr lang="en-IN" sz="2400" b="0" strike="noStrike" spc="-1" dirty="0">
              <a:latin typeface="Arial" panose="020B0604020202020204"/>
            </a:endParaRPr>
          </a:p>
          <a:p>
            <a:pPr marL="228600" indent="-227965">
              <a:lnSpc>
                <a:spcPct val="90000"/>
              </a:lnSpc>
              <a:spcBef>
                <a:spcPts val="1000"/>
              </a:spcBef>
              <a:buClr>
                <a:srgbClr val="FFFFFF"/>
              </a:buClr>
              <a:buFont typeface="Arial" panose="020B0604020202020204"/>
              <a:buChar char="•"/>
            </a:pPr>
            <a:r>
              <a:rPr lang="en-IN" sz="2400" b="0" strike="noStrike" spc="-1" dirty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A variable name can only contain alpha-numeric characters and underscores (</a:t>
            </a:r>
            <a:r>
              <a:rPr lang="en-IN" sz="2000" b="1" strike="noStrike" spc="-1" dirty="0">
                <a:solidFill>
                  <a:srgbClr val="ED7D31"/>
                </a:solidFill>
                <a:latin typeface="Calibri" panose="020F0502020204030204"/>
                <a:ea typeface="DejaVu Sans" panose="020B0603030804020204"/>
              </a:rPr>
              <a:t>A-z, 0-9,  and  _ </a:t>
            </a:r>
            <a:r>
              <a:rPr lang="en-IN" sz="2400" b="0" strike="noStrike" spc="-1" dirty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)</a:t>
            </a:r>
            <a:endParaRPr lang="en-IN" sz="2400" b="0" strike="noStrike" spc="-1" dirty="0">
              <a:latin typeface="Arial" panose="020B0604020202020204"/>
            </a:endParaRPr>
          </a:p>
          <a:p>
            <a:pPr marL="228600" indent="-227965">
              <a:lnSpc>
                <a:spcPct val="90000"/>
              </a:lnSpc>
              <a:spcBef>
                <a:spcPts val="1000"/>
              </a:spcBef>
              <a:buClr>
                <a:srgbClr val="FFFFFF"/>
              </a:buClr>
              <a:buFont typeface="Arial" panose="020B0604020202020204"/>
              <a:buChar char="•"/>
            </a:pPr>
            <a:r>
              <a:rPr lang="en-IN" sz="2400" b="0" strike="noStrike" spc="-1" dirty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Variable names are case-sensitive (age, Age and AGE are three different variables)</a:t>
            </a:r>
            <a:endParaRPr lang="en-IN" sz="2400" b="0" strike="noStrike" spc="-1" dirty="0">
              <a:latin typeface="Arial" panose="020B0604020202020204"/>
            </a:endParaRPr>
          </a:p>
          <a:p>
            <a:pPr marL="228600" indent="-227965">
              <a:lnSpc>
                <a:spcPct val="90000"/>
              </a:lnSpc>
              <a:spcBef>
                <a:spcPts val="1000"/>
              </a:spcBef>
              <a:buClr>
                <a:srgbClr val="FFFFFF"/>
              </a:buClr>
              <a:buFont typeface="Arial" panose="020B0604020202020204"/>
              <a:buChar char="•"/>
            </a:pPr>
            <a:r>
              <a:rPr lang="en-IN" sz="2400" b="0" strike="noStrike" spc="-1" dirty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A variable name cannot be any of the Python keywords.</a:t>
            </a:r>
            <a:endParaRPr lang="en-IN" sz="24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endParaRPr lang="en-IN" sz="2400" b="0" strike="noStrike" spc="-1" dirty="0"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88944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CustomShape 1"/>
          <p:cNvSpPr/>
          <p:nvPr/>
        </p:nvSpPr>
        <p:spPr>
          <a:xfrm>
            <a:off x="354425" y="260605"/>
            <a:ext cx="7891560" cy="105732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IN" sz="5400" b="1" strike="noStrike" spc="-1">
                <a:solidFill>
                  <a:srgbClr val="ED7D31"/>
                </a:solidFill>
                <a:latin typeface="Calibri" panose="020F0502020204030204"/>
              </a:rPr>
              <a:t>DATA TYPES IN PYTHON</a:t>
            </a:r>
            <a:endParaRPr lang="en-IN" sz="5400" b="0" strike="noStrike" spc="-1">
              <a:latin typeface="Arial" panose="020B0604020202020204"/>
            </a:endParaRPr>
          </a:p>
        </p:txBody>
      </p:sp>
      <p:pic>
        <p:nvPicPr>
          <p:cNvPr id="92" name="Picture 2" descr="datype-removebg-preview"/>
          <p:cNvPicPr/>
          <p:nvPr/>
        </p:nvPicPr>
        <p:blipFill>
          <a:blip r:embed="rId2"/>
          <a:stretch>
            <a:fillRect/>
          </a:stretch>
        </p:blipFill>
        <p:spPr>
          <a:xfrm>
            <a:off x="1382400" y="2357640"/>
            <a:ext cx="5835600" cy="39394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CustomShape 1"/>
          <p:cNvSpPr/>
          <p:nvPr/>
        </p:nvSpPr>
        <p:spPr>
          <a:xfrm>
            <a:off x="354425" y="260605"/>
            <a:ext cx="7891560" cy="105732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IN" sz="5400" b="1" strike="noStrike" spc="-1">
                <a:solidFill>
                  <a:srgbClr val="ED7D31"/>
                </a:solidFill>
                <a:latin typeface="Calibri" panose="020F0502020204030204"/>
              </a:rPr>
              <a:t>STRING</a:t>
            </a:r>
          </a:p>
        </p:txBody>
      </p:sp>
      <p:pic>
        <p:nvPicPr>
          <p:cNvPr id="3" name="Picture 2" descr="string3-removebg-preview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25" y="2277110"/>
            <a:ext cx="8582025" cy="4037330"/>
          </a:xfrm>
          <a:prstGeom prst="rect">
            <a:avLst/>
          </a:prstGeom>
          <a:ln w="38100">
            <a:solidFill>
              <a:schemeClr val="accent2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CustomShape 1"/>
          <p:cNvSpPr/>
          <p:nvPr/>
        </p:nvSpPr>
        <p:spPr>
          <a:xfrm>
            <a:off x="354425" y="260605"/>
            <a:ext cx="7891560" cy="105732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en-IN" sz="5400" b="1" strike="noStrike" spc="-1">
                <a:solidFill>
                  <a:srgbClr val="ED7D31"/>
                </a:solidFill>
                <a:latin typeface="Calibri" panose="020F0502020204030204"/>
              </a:rPr>
              <a:t>TUPLE</a:t>
            </a:r>
          </a:p>
        </p:txBody>
      </p:sp>
      <p:pic>
        <p:nvPicPr>
          <p:cNvPr id="2" name="Picture 1" descr="tuple-removebg-pre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25" y="1943101"/>
            <a:ext cx="9092280" cy="4373880"/>
          </a:xfrm>
          <a:prstGeom prst="rect">
            <a:avLst/>
          </a:prstGeom>
          <a:ln w="38100">
            <a:solidFill>
              <a:schemeClr val="accent2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CustomShape 1"/>
          <p:cNvSpPr/>
          <p:nvPr/>
        </p:nvSpPr>
        <p:spPr>
          <a:xfrm>
            <a:off x="354425" y="260605"/>
            <a:ext cx="7891560" cy="105732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en-IN" sz="5400" b="1" strike="noStrike" spc="-1">
                <a:solidFill>
                  <a:srgbClr val="ED7D31"/>
                </a:solidFill>
                <a:latin typeface="Calibri" panose="020F0502020204030204"/>
              </a:rPr>
              <a:t>LIST</a:t>
            </a:r>
          </a:p>
        </p:txBody>
      </p:sp>
      <p:pic>
        <p:nvPicPr>
          <p:cNvPr id="2" name="Picture 1" descr="lst-removebg-pre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790" y="2205355"/>
            <a:ext cx="8653145" cy="3990340"/>
          </a:xfrm>
          <a:prstGeom prst="rect">
            <a:avLst/>
          </a:prstGeom>
          <a:ln w="38100">
            <a:solidFill>
              <a:schemeClr val="accent2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CustomShape 1"/>
          <p:cNvSpPr/>
          <p:nvPr/>
        </p:nvSpPr>
        <p:spPr>
          <a:xfrm>
            <a:off x="240030" y="273050"/>
            <a:ext cx="4177665" cy="105727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en-IN" sz="5400" b="1" strike="noStrike" spc="-1" dirty="0">
                <a:solidFill>
                  <a:srgbClr val="ED7D31"/>
                </a:solidFill>
                <a:latin typeface="Calibri" panose="020F0502020204030204"/>
              </a:rPr>
              <a:t>Dictionary</a:t>
            </a:r>
          </a:p>
        </p:txBody>
      </p:sp>
      <p:pic>
        <p:nvPicPr>
          <p:cNvPr id="3" name="Picture 2" descr="dict-removebg-pre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" y="2247900"/>
            <a:ext cx="9448359" cy="4154805"/>
          </a:xfrm>
          <a:prstGeom prst="rect">
            <a:avLst/>
          </a:prstGeom>
          <a:ln w="38100">
            <a:solidFill>
              <a:schemeClr val="accent2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CustomShape 1"/>
          <p:cNvSpPr/>
          <p:nvPr/>
        </p:nvSpPr>
        <p:spPr>
          <a:xfrm>
            <a:off x="354330" y="260350"/>
            <a:ext cx="4177665" cy="105727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en-IN" sz="5400" b="1" strike="noStrike" spc="-1">
                <a:solidFill>
                  <a:srgbClr val="ED7D31"/>
                </a:solidFill>
                <a:latin typeface="Calibri" panose="020F0502020204030204"/>
              </a:rPr>
              <a:t>SET</a:t>
            </a:r>
          </a:p>
        </p:txBody>
      </p:sp>
      <p:pic>
        <p:nvPicPr>
          <p:cNvPr id="2" name="Picture 1" descr="set-removebg-pre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035" y="2015490"/>
            <a:ext cx="9295130" cy="4305935"/>
          </a:xfrm>
          <a:prstGeom prst="rect">
            <a:avLst/>
          </a:prstGeom>
          <a:ln w="38100">
            <a:solidFill>
              <a:schemeClr val="accent2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CustomShape 1"/>
          <p:cNvSpPr/>
          <p:nvPr/>
        </p:nvSpPr>
        <p:spPr>
          <a:xfrm>
            <a:off x="205745" y="44040"/>
            <a:ext cx="7891560" cy="105732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IN" sz="5400" b="1" strike="noStrike" spc="-1" dirty="0">
                <a:solidFill>
                  <a:srgbClr val="ED7D31"/>
                </a:solidFill>
                <a:latin typeface="Calibri" panose="020F0502020204030204"/>
              </a:rPr>
              <a:t>PYTHON OPERATORS</a:t>
            </a:r>
            <a:endParaRPr lang="en-IN" sz="5400" b="0" strike="noStrike" spc="-1" dirty="0">
              <a:latin typeface="Arial" panose="020B0604020202020204"/>
            </a:endParaRPr>
          </a:p>
        </p:txBody>
      </p:sp>
      <p:sp>
        <p:nvSpPr>
          <p:cNvPr id="95" name="CustomShape 2"/>
          <p:cNvSpPr/>
          <p:nvPr/>
        </p:nvSpPr>
        <p:spPr>
          <a:xfrm>
            <a:off x="462915" y="2369820"/>
            <a:ext cx="3088005" cy="1885315"/>
          </a:xfrm>
          <a:prstGeom prst="ellipse">
            <a:avLst/>
          </a:prstGeom>
          <a:blipFill rotWithShape="0">
            <a:blip r:embed="rId2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2400" b="1" strike="noStrike" spc="-1" dirty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Arithmetic</a:t>
            </a:r>
          </a:p>
        </p:txBody>
      </p:sp>
      <p:sp>
        <p:nvSpPr>
          <p:cNvPr id="96" name="CustomShape 3"/>
          <p:cNvSpPr/>
          <p:nvPr/>
        </p:nvSpPr>
        <p:spPr>
          <a:xfrm>
            <a:off x="5807710" y="3500755"/>
            <a:ext cx="3131185" cy="1673860"/>
          </a:xfrm>
          <a:prstGeom prst="ellipse">
            <a:avLst/>
          </a:prstGeom>
          <a:blipFill rotWithShape="0">
            <a:blip r:embed="rId2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28600" indent="-227965">
              <a:lnSpc>
                <a:spcPct val="100000"/>
              </a:lnSpc>
              <a:tabLst>
                <a:tab pos="0" algn="l"/>
              </a:tabLst>
            </a:pPr>
            <a:r>
              <a:rPr lang="en-IN" sz="2400" b="1" strike="noStrike" spc="-1" dirty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Identity</a:t>
            </a:r>
          </a:p>
        </p:txBody>
      </p:sp>
      <p:sp>
        <p:nvSpPr>
          <p:cNvPr id="97" name="CustomShape 4"/>
          <p:cNvSpPr/>
          <p:nvPr/>
        </p:nvSpPr>
        <p:spPr>
          <a:xfrm>
            <a:off x="2662560" y="3594240"/>
            <a:ext cx="2232720" cy="1673640"/>
          </a:xfrm>
          <a:prstGeom prst="ellipse">
            <a:avLst/>
          </a:prstGeom>
          <a:blipFill rotWithShape="0">
            <a:blip r:embed="rId2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2400" b="1" strike="noStrike" spc="-1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Logical</a:t>
            </a:r>
          </a:p>
        </p:txBody>
      </p:sp>
      <p:sp>
        <p:nvSpPr>
          <p:cNvPr id="98" name="CustomShape 5"/>
          <p:cNvSpPr/>
          <p:nvPr/>
        </p:nvSpPr>
        <p:spPr>
          <a:xfrm>
            <a:off x="5447665" y="4940300"/>
            <a:ext cx="3248660" cy="1885315"/>
          </a:xfrm>
          <a:prstGeom prst="ellipse">
            <a:avLst/>
          </a:prstGeom>
          <a:blipFill rotWithShape="0">
            <a:blip r:embed="rId2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2300" b="1" strike="noStrike" spc="-1" dirty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Membership</a:t>
            </a:r>
          </a:p>
        </p:txBody>
      </p:sp>
      <p:sp>
        <p:nvSpPr>
          <p:cNvPr id="99" name="CustomShape 6"/>
          <p:cNvSpPr/>
          <p:nvPr/>
        </p:nvSpPr>
        <p:spPr>
          <a:xfrm>
            <a:off x="172085" y="4255770"/>
            <a:ext cx="3160395" cy="2388235"/>
          </a:xfrm>
          <a:prstGeom prst="ellipse">
            <a:avLst/>
          </a:prstGeom>
          <a:blipFill rotWithShape="0">
            <a:blip r:embed="rId2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2400" b="1" strike="noStrike" spc="-1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Assignment</a:t>
            </a:r>
          </a:p>
        </p:txBody>
      </p:sp>
      <p:sp>
        <p:nvSpPr>
          <p:cNvPr id="100" name="CustomShape 7"/>
          <p:cNvSpPr/>
          <p:nvPr/>
        </p:nvSpPr>
        <p:spPr>
          <a:xfrm>
            <a:off x="3791630" y="2133105"/>
            <a:ext cx="2926080" cy="2036520"/>
          </a:xfrm>
          <a:prstGeom prst="ellipse">
            <a:avLst/>
          </a:prstGeom>
          <a:blipFill rotWithShape="0">
            <a:blip r:embed="rId2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2200" b="1" strike="noStrike" spc="-1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Comparison</a:t>
            </a:r>
          </a:p>
        </p:txBody>
      </p:sp>
      <p:sp>
        <p:nvSpPr>
          <p:cNvPr id="101" name="CustomShape 8"/>
          <p:cNvSpPr/>
          <p:nvPr/>
        </p:nvSpPr>
        <p:spPr>
          <a:xfrm>
            <a:off x="3333240" y="5046480"/>
            <a:ext cx="2232720" cy="1673640"/>
          </a:xfrm>
          <a:prstGeom prst="ellipse">
            <a:avLst/>
          </a:prstGeom>
          <a:blipFill rotWithShape="0">
            <a:blip r:embed="rId2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28600" indent="-227965">
              <a:lnSpc>
                <a:spcPct val="100000"/>
              </a:lnSpc>
              <a:tabLst>
                <a:tab pos="0" algn="l"/>
              </a:tabLst>
            </a:pPr>
            <a:r>
              <a:rPr lang="en-IN" sz="2400" b="1" strike="noStrike" spc="-1" dirty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Bitwise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CustomShape 1"/>
          <p:cNvSpPr/>
          <p:nvPr/>
        </p:nvSpPr>
        <p:spPr>
          <a:xfrm>
            <a:off x="195490" y="189185"/>
            <a:ext cx="7891560" cy="105732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IN" sz="5400" b="1" strike="noStrike" spc="-1" dirty="0">
                <a:solidFill>
                  <a:srgbClr val="ED7D31"/>
                </a:solidFill>
                <a:latin typeface="Calibri" panose="020F0502020204030204"/>
              </a:rPr>
              <a:t>ARITHMETIC OPERATORS</a:t>
            </a:r>
            <a:endParaRPr lang="en-IN" sz="5400" b="0" strike="noStrike" spc="-1" dirty="0">
              <a:latin typeface="Arial" panose="020B0604020202020204"/>
            </a:endParaRPr>
          </a:p>
        </p:txBody>
      </p:sp>
      <p:sp>
        <p:nvSpPr>
          <p:cNvPr id="104" name="CustomShape 2"/>
          <p:cNvSpPr/>
          <p:nvPr/>
        </p:nvSpPr>
        <p:spPr>
          <a:xfrm>
            <a:off x="408304" y="2057400"/>
            <a:ext cx="9230995" cy="434721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228600" indent="-227965">
              <a:lnSpc>
                <a:spcPct val="90000"/>
              </a:lnSpc>
              <a:spcBef>
                <a:spcPts val="1000"/>
              </a:spcBef>
              <a:buClr>
                <a:srgbClr val="FFFFFF"/>
              </a:buClr>
              <a:buFont typeface="Arial" panose="020B0604020202020204"/>
              <a:buChar char="•"/>
            </a:pPr>
            <a:r>
              <a:rPr lang="en-IN" sz="2400" b="0" strike="noStrike" spc="-1" dirty="0">
                <a:solidFill>
                  <a:srgbClr val="FFFFFF"/>
                </a:solidFill>
                <a:latin typeface="Times New Roman" panose="02020603050405020304"/>
              </a:rPr>
              <a:t>+	Addition	                    </a:t>
            </a:r>
            <a:r>
              <a:rPr lang="en-US" altLang="en-IN" sz="2400" b="0" strike="noStrike" spc="-1" dirty="0" smtClean="0">
                <a:solidFill>
                  <a:srgbClr val="FFFFFF"/>
                </a:solidFill>
                <a:latin typeface="Times New Roman" panose="02020603050405020304"/>
              </a:rPr>
              <a:t>x </a:t>
            </a:r>
            <a:r>
              <a:rPr lang="en-IN" sz="2400" b="0" strike="noStrike" spc="-1" dirty="0" smtClean="0">
                <a:solidFill>
                  <a:srgbClr val="FFFFFF"/>
                </a:solidFill>
                <a:latin typeface="Times New Roman" panose="02020603050405020304"/>
              </a:rPr>
              <a:t>+ </a:t>
            </a:r>
            <a:r>
              <a:rPr lang="en-IN" sz="2400" b="0" strike="noStrike" spc="-1" dirty="0">
                <a:solidFill>
                  <a:srgbClr val="FFFFFF"/>
                </a:solidFill>
                <a:latin typeface="Times New Roman" panose="02020603050405020304"/>
              </a:rPr>
              <a:t>y	</a:t>
            </a:r>
            <a:endParaRPr lang="en-IN" sz="2400" b="0" strike="noStrike" spc="-1" dirty="0">
              <a:latin typeface="Arial" panose="020B0604020202020204"/>
            </a:endParaRPr>
          </a:p>
          <a:p>
            <a:pPr marL="228600" indent="-227965">
              <a:lnSpc>
                <a:spcPct val="90000"/>
              </a:lnSpc>
              <a:spcBef>
                <a:spcPts val="1000"/>
              </a:spcBef>
              <a:buClr>
                <a:srgbClr val="FFFFFF"/>
              </a:buClr>
              <a:buFont typeface="Arial" panose="020B0604020202020204"/>
              <a:buChar char="•"/>
            </a:pPr>
            <a:r>
              <a:rPr lang="en-IN" sz="2400" b="0" strike="noStrike" spc="-1" dirty="0">
                <a:solidFill>
                  <a:srgbClr val="FFFFFF"/>
                </a:solidFill>
                <a:latin typeface="Times New Roman" panose="02020603050405020304"/>
              </a:rPr>
              <a:t>-	Subtraction	         	</a:t>
            </a:r>
            <a:r>
              <a:rPr lang="en-US" altLang="en-IN" sz="2400" b="0" strike="noStrike" spc="-1" dirty="0">
                <a:solidFill>
                  <a:srgbClr val="FFFFFF"/>
                </a:solidFill>
                <a:latin typeface="Times New Roman" panose="02020603050405020304"/>
              </a:rPr>
              <a:t>       </a:t>
            </a:r>
            <a:r>
              <a:rPr lang="en-IN" sz="2400" b="0" strike="noStrike" spc="-1" dirty="0">
                <a:solidFill>
                  <a:srgbClr val="FFFFFF"/>
                </a:solidFill>
                <a:latin typeface="Times New Roman" panose="02020603050405020304"/>
              </a:rPr>
              <a:t> x - y	</a:t>
            </a:r>
            <a:endParaRPr lang="en-IN" sz="2400" b="0" strike="noStrike" spc="-1" dirty="0">
              <a:latin typeface="Arial" panose="020B0604020202020204"/>
            </a:endParaRPr>
          </a:p>
          <a:p>
            <a:pPr marL="228600" indent="-227965">
              <a:lnSpc>
                <a:spcPct val="90000"/>
              </a:lnSpc>
              <a:spcBef>
                <a:spcPts val="1000"/>
              </a:spcBef>
              <a:buClr>
                <a:srgbClr val="FFFFFF"/>
              </a:buClr>
              <a:buFont typeface="Arial" panose="020B0604020202020204"/>
              <a:buChar char="•"/>
            </a:pPr>
            <a:r>
              <a:rPr lang="en-IN" sz="2400" b="0" strike="noStrike" spc="-1" dirty="0">
                <a:solidFill>
                  <a:srgbClr val="FFFFFF"/>
                </a:solidFill>
                <a:latin typeface="Times New Roman" panose="02020603050405020304"/>
              </a:rPr>
              <a:t>*	Multiplication	         	</a:t>
            </a:r>
            <a:r>
              <a:rPr lang="en-US" altLang="en-IN" sz="2400" b="0" strike="noStrike" spc="-1" dirty="0">
                <a:solidFill>
                  <a:srgbClr val="FFFFFF"/>
                </a:solidFill>
                <a:latin typeface="Times New Roman" panose="02020603050405020304"/>
              </a:rPr>
              <a:t>        </a:t>
            </a:r>
            <a:r>
              <a:rPr lang="en-IN" sz="2400" b="0" strike="noStrike" spc="-1" dirty="0">
                <a:solidFill>
                  <a:srgbClr val="FFFFFF"/>
                </a:solidFill>
                <a:latin typeface="Times New Roman" panose="02020603050405020304"/>
              </a:rPr>
              <a:t>x * y	</a:t>
            </a:r>
            <a:endParaRPr lang="en-IN" sz="2400" b="0" strike="noStrike" spc="-1" dirty="0">
              <a:latin typeface="Arial" panose="020B0604020202020204"/>
            </a:endParaRPr>
          </a:p>
          <a:p>
            <a:pPr marL="228600" indent="-227965">
              <a:lnSpc>
                <a:spcPct val="90000"/>
              </a:lnSpc>
              <a:spcBef>
                <a:spcPts val="1000"/>
              </a:spcBef>
              <a:buClr>
                <a:srgbClr val="FFFFFF"/>
              </a:buClr>
              <a:buFont typeface="Arial" panose="020B0604020202020204"/>
              <a:buChar char="•"/>
            </a:pPr>
            <a:r>
              <a:rPr lang="en-IN" sz="2400" b="0" strike="noStrike" spc="-1" dirty="0">
                <a:solidFill>
                  <a:srgbClr val="FFFFFF"/>
                </a:solidFill>
                <a:latin typeface="Times New Roman" panose="02020603050405020304"/>
              </a:rPr>
              <a:t>/	Division	                    x / y	</a:t>
            </a:r>
            <a:endParaRPr lang="en-IN" sz="2400" b="0" strike="noStrike" spc="-1" dirty="0">
              <a:latin typeface="Arial" panose="020B0604020202020204"/>
            </a:endParaRPr>
          </a:p>
          <a:p>
            <a:pPr marL="228600" indent="-227965">
              <a:lnSpc>
                <a:spcPct val="90000"/>
              </a:lnSpc>
              <a:spcBef>
                <a:spcPts val="1000"/>
              </a:spcBef>
              <a:buClr>
                <a:srgbClr val="FFFFFF"/>
              </a:buClr>
              <a:buFont typeface="Arial" panose="020B0604020202020204"/>
              <a:buChar char="•"/>
            </a:pPr>
            <a:r>
              <a:rPr lang="en-IN" sz="2400" b="0" strike="noStrike" spc="-1" dirty="0">
                <a:solidFill>
                  <a:srgbClr val="FFFFFF"/>
                </a:solidFill>
                <a:latin typeface="Times New Roman" panose="02020603050405020304"/>
              </a:rPr>
              <a:t>%	Modulus	                    x % </a:t>
            </a:r>
            <a:r>
              <a:rPr lang="en-US" altLang="en-IN" sz="2400" b="0" strike="noStrike" spc="-1" dirty="0">
                <a:solidFill>
                  <a:srgbClr val="FFFFFF"/>
                </a:solidFill>
                <a:latin typeface="Times New Roman" panose="02020603050405020304"/>
              </a:rPr>
              <a:t>y</a:t>
            </a:r>
            <a:r>
              <a:rPr lang="en-IN" sz="2400" b="0" strike="noStrike" spc="-1" dirty="0">
                <a:solidFill>
                  <a:srgbClr val="FFFFFF"/>
                </a:solidFill>
                <a:latin typeface="Times New Roman" panose="02020603050405020304"/>
              </a:rPr>
              <a:t>	</a:t>
            </a:r>
            <a:endParaRPr lang="en-IN" sz="2400" b="0" strike="noStrike" spc="-1" dirty="0">
              <a:latin typeface="Arial" panose="020B0604020202020204"/>
            </a:endParaRPr>
          </a:p>
          <a:p>
            <a:pPr marL="228600" indent="-227965">
              <a:lnSpc>
                <a:spcPct val="90000"/>
              </a:lnSpc>
              <a:spcBef>
                <a:spcPts val="1000"/>
              </a:spcBef>
              <a:buClr>
                <a:srgbClr val="FFFFFF"/>
              </a:buClr>
              <a:buFont typeface="Arial" panose="020B0604020202020204"/>
              <a:buChar char="•"/>
            </a:pPr>
            <a:r>
              <a:rPr lang="en-IN" sz="2400" b="0" strike="noStrike" spc="-1" dirty="0">
                <a:solidFill>
                  <a:srgbClr val="FFFFFF"/>
                </a:solidFill>
                <a:latin typeface="Times New Roman" panose="02020603050405020304"/>
              </a:rPr>
              <a:t>**	Exponentiation	        x ** y</a:t>
            </a:r>
            <a:endParaRPr lang="en-IN" sz="2400" b="0" strike="noStrike" spc="-1" dirty="0">
              <a:latin typeface="Arial" panose="020B0604020202020204"/>
            </a:endParaRPr>
          </a:p>
          <a:p>
            <a:pPr marL="228600" indent="-227965">
              <a:lnSpc>
                <a:spcPct val="90000"/>
              </a:lnSpc>
              <a:spcBef>
                <a:spcPts val="1000"/>
              </a:spcBef>
              <a:buClr>
                <a:srgbClr val="FFFFFF"/>
              </a:buClr>
              <a:buFont typeface="Arial" panose="020B0604020202020204"/>
              <a:buChar char="•"/>
            </a:pPr>
            <a:r>
              <a:rPr lang="en-IN" sz="2400" b="0" strike="noStrike" spc="-1" dirty="0">
                <a:solidFill>
                  <a:srgbClr val="FFFFFF"/>
                </a:solidFill>
                <a:latin typeface="Times New Roman" panose="02020603050405020304"/>
              </a:rPr>
              <a:t>//	Floor division	           </a:t>
            </a:r>
            <a:r>
              <a:rPr lang="en-US" altLang="en-IN" sz="2400" b="0" strike="noStrike" spc="-1" dirty="0">
                <a:solidFill>
                  <a:srgbClr val="FFFFFF"/>
                </a:solidFill>
                <a:latin typeface="Times New Roman" panose="02020603050405020304"/>
              </a:rPr>
              <a:t>         </a:t>
            </a:r>
            <a:r>
              <a:rPr lang="en-IN" sz="2400" b="0" strike="noStrike" spc="-1" dirty="0">
                <a:solidFill>
                  <a:srgbClr val="FFFFFF"/>
                </a:solidFill>
                <a:latin typeface="Times New Roman" panose="02020603050405020304"/>
              </a:rPr>
              <a:t>x // </a:t>
            </a:r>
            <a:r>
              <a:rPr lang="en-IN" sz="2400" b="0" strike="noStrike" spc="-1" dirty="0" smtClean="0">
                <a:solidFill>
                  <a:srgbClr val="FFFFFF"/>
                </a:solidFill>
                <a:latin typeface="Times New Roman" panose="02020603050405020304"/>
              </a:rPr>
              <a:t>y</a:t>
            </a:r>
          </a:p>
          <a:p>
            <a:pPr marL="635">
              <a:lnSpc>
                <a:spcPct val="90000"/>
              </a:lnSpc>
              <a:spcBef>
                <a:spcPts val="1000"/>
              </a:spcBef>
              <a:buClr>
                <a:srgbClr val="FFFFFF"/>
              </a:buClr>
            </a:pPr>
            <a:endParaRPr lang="en-US" sz="2400" spc="-1" dirty="0">
              <a:solidFill>
                <a:srgbClr val="FFFFFF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/>
          <p:cNvSpPr/>
          <p:nvPr/>
        </p:nvSpPr>
        <p:spPr>
          <a:xfrm>
            <a:off x="407735" y="188585"/>
            <a:ext cx="7891560" cy="105732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/>
          <a:lstStyle/>
          <a:p>
            <a:pPr>
              <a:lnSpc>
                <a:spcPct val="100000"/>
              </a:lnSpc>
            </a:pPr>
            <a:r>
              <a:rPr lang="en-IN" sz="4800" b="1" strike="noStrike" spc="-1">
                <a:solidFill>
                  <a:srgbClr val="ED7D31"/>
                </a:solidFill>
                <a:latin typeface="Calibri" panose="020F0502020204030204"/>
              </a:rPr>
              <a:t>COMPARISON OPERATORS</a:t>
            </a:r>
          </a:p>
        </p:txBody>
      </p:sp>
      <p:sp>
        <p:nvSpPr>
          <p:cNvPr id="107" name="CustomShape 2"/>
          <p:cNvSpPr/>
          <p:nvPr/>
        </p:nvSpPr>
        <p:spPr>
          <a:xfrm>
            <a:off x="716760" y="2726640"/>
            <a:ext cx="9030240" cy="306324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228600" indent="-227965">
              <a:lnSpc>
                <a:spcPct val="90000"/>
              </a:lnSpc>
              <a:spcBef>
                <a:spcPts val="1000"/>
              </a:spcBef>
              <a:buClr>
                <a:srgbClr val="FFFFFF"/>
              </a:buClr>
              <a:buFont typeface="Arial" panose="020B0604020202020204"/>
              <a:buChar char="•"/>
            </a:pPr>
            <a:r>
              <a:rPr lang="en-IN" sz="2400" b="0" strike="noStrike" spc="-1" dirty="0">
                <a:solidFill>
                  <a:srgbClr val="FFFFFF"/>
                </a:solidFill>
                <a:latin typeface="Times New Roman" panose="02020603050405020304"/>
              </a:rPr>
              <a:t>==	  Equal	                            </a:t>
            </a:r>
            <a:r>
              <a:rPr lang="en-US" altLang="en-IN" sz="2400" b="0" strike="noStrike" spc="-1" dirty="0">
                <a:solidFill>
                  <a:srgbClr val="FFFFFF"/>
                </a:solidFill>
                <a:latin typeface="Times New Roman" panose="02020603050405020304"/>
              </a:rPr>
              <a:t>        </a:t>
            </a:r>
            <a:r>
              <a:rPr lang="en-IN" sz="2400" b="0" strike="noStrike" spc="-1" dirty="0">
                <a:solidFill>
                  <a:srgbClr val="FFFFFF"/>
                </a:solidFill>
                <a:latin typeface="Times New Roman" panose="02020603050405020304"/>
              </a:rPr>
              <a:t>x == y	</a:t>
            </a:r>
            <a:endParaRPr lang="en-IN" sz="2400" b="0" strike="noStrike" spc="-1" dirty="0">
              <a:latin typeface="Arial" panose="020B0604020202020204"/>
            </a:endParaRPr>
          </a:p>
          <a:p>
            <a:pPr marL="228600" indent="-227965">
              <a:lnSpc>
                <a:spcPct val="90000"/>
              </a:lnSpc>
              <a:spcBef>
                <a:spcPts val="1000"/>
              </a:spcBef>
              <a:buClr>
                <a:srgbClr val="FFFFFF"/>
              </a:buClr>
              <a:buFont typeface="Arial" panose="020B0604020202020204"/>
              <a:buChar char="•"/>
            </a:pPr>
            <a:r>
              <a:rPr lang="en-IN" sz="2400" b="0" strike="noStrike" spc="-1" dirty="0">
                <a:solidFill>
                  <a:srgbClr val="FFFFFF"/>
                </a:solidFill>
                <a:latin typeface="Times New Roman" panose="02020603050405020304"/>
              </a:rPr>
              <a:t>!=	  Not equal	                   </a:t>
            </a:r>
            <a:r>
              <a:rPr lang="en-US" altLang="en-IN" sz="2400" b="0" strike="noStrike" spc="-1" dirty="0">
                <a:solidFill>
                  <a:srgbClr val="FFFFFF"/>
                </a:solidFill>
                <a:latin typeface="Times New Roman" panose="02020603050405020304"/>
              </a:rPr>
              <a:t>     </a:t>
            </a:r>
            <a:r>
              <a:rPr lang="en-IN" sz="2400" b="0" strike="noStrike" spc="-1" dirty="0">
                <a:solidFill>
                  <a:srgbClr val="FFFFFF"/>
                </a:solidFill>
                <a:latin typeface="Times New Roman" panose="02020603050405020304"/>
              </a:rPr>
              <a:t>x != y	</a:t>
            </a:r>
            <a:endParaRPr lang="en-IN" sz="2400" b="0" strike="noStrike" spc="-1" dirty="0">
              <a:latin typeface="Arial" panose="020B0604020202020204"/>
            </a:endParaRPr>
          </a:p>
          <a:p>
            <a:pPr marL="228600" indent="-227965">
              <a:lnSpc>
                <a:spcPct val="90000"/>
              </a:lnSpc>
              <a:spcBef>
                <a:spcPts val="1000"/>
              </a:spcBef>
              <a:buClr>
                <a:srgbClr val="FFFFFF"/>
              </a:buClr>
              <a:buFont typeface="Arial" panose="020B0604020202020204"/>
              <a:buChar char="•"/>
            </a:pPr>
            <a:r>
              <a:rPr lang="en-IN" sz="2400" b="0" strike="noStrike" spc="-1" dirty="0">
                <a:solidFill>
                  <a:srgbClr val="FFFFFF"/>
                </a:solidFill>
                <a:latin typeface="Times New Roman" panose="02020603050405020304"/>
              </a:rPr>
              <a:t>&gt;	  Greater than	                   </a:t>
            </a:r>
            <a:r>
              <a:rPr lang="en-US" altLang="en-IN" sz="2400" b="0" strike="noStrike" spc="-1" dirty="0">
                <a:solidFill>
                  <a:srgbClr val="FFFFFF"/>
                </a:solidFill>
                <a:latin typeface="Times New Roman" panose="02020603050405020304"/>
              </a:rPr>
              <a:t>     </a:t>
            </a:r>
            <a:r>
              <a:rPr lang="en-IN" sz="2400" b="0" strike="noStrike" spc="-1" dirty="0">
                <a:solidFill>
                  <a:srgbClr val="FFFFFF"/>
                </a:solidFill>
                <a:latin typeface="Times New Roman" panose="02020603050405020304"/>
              </a:rPr>
              <a:t>x &gt; y	</a:t>
            </a:r>
            <a:endParaRPr lang="en-IN" sz="2400" b="0" strike="noStrike" spc="-1" dirty="0">
              <a:latin typeface="Arial" panose="020B0604020202020204"/>
            </a:endParaRPr>
          </a:p>
          <a:p>
            <a:pPr marL="228600" indent="-227965">
              <a:lnSpc>
                <a:spcPct val="90000"/>
              </a:lnSpc>
              <a:spcBef>
                <a:spcPts val="1000"/>
              </a:spcBef>
              <a:buClr>
                <a:srgbClr val="FFFFFF"/>
              </a:buClr>
              <a:buFont typeface="Arial" panose="020B0604020202020204"/>
              <a:buChar char="•"/>
            </a:pPr>
            <a:r>
              <a:rPr lang="en-IN" sz="2400" b="0" strike="noStrike" spc="-1" dirty="0">
                <a:solidFill>
                  <a:srgbClr val="FFFFFF"/>
                </a:solidFill>
                <a:latin typeface="Times New Roman" panose="02020603050405020304"/>
              </a:rPr>
              <a:t>&lt;	  Less than	                        x &lt; y	</a:t>
            </a:r>
            <a:endParaRPr lang="en-IN" sz="2400" b="0" strike="noStrike" spc="-1" dirty="0">
              <a:latin typeface="Arial" panose="020B0604020202020204"/>
            </a:endParaRPr>
          </a:p>
          <a:p>
            <a:pPr marL="228600" indent="-227965">
              <a:lnSpc>
                <a:spcPct val="90000"/>
              </a:lnSpc>
              <a:spcBef>
                <a:spcPts val="1000"/>
              </a:spcBef>
              <a:buClr>
                <a:srgbClr val="FFFFFF"/>
              </a:buClr>
              <a:buFont typeface="Arial" panose="020B0604020202020204"/>
              <a:buChar char="•"/>
            </a:pPr>
            <a:r>
              <a:rPr lang="en-IN" sz="2400" b="0" strike="noStrike" spc="-1" dirty="0">
                <a:solidFill>
                  <a:srgbClr val="FFFFFF"/>
                </a:solidFill>
                <a:latin typeface="Times New Roman" panose="02020603050405020304"/>
              </a:rPr>
              <a:t>&gt;=	  Greater than or equal to	x &gt;= y	</a:t>
            </a:r>
            <a:endParaRPr lang="en-IN" sz="2400" b="0" strike="noStrike" spc="-1" dirty="0">
              <a:latin typeface="Arial" panose="020B0604020202020204"/>
            </a:endParaRPr>
          </a:p>
          <a:p>
            <a:pPr marL="228600" indent="-227965">
              <a:lnSpc>
                <a:spcPct val="90000"/>
              </a:lnSpc>
              <a:spcBef>
                <a:spcPts val="1000"/>
              </a:spcBef>
              <a:buClr>
                <a:srgbClr val="FFFFFF"/>
              </a:buClr>
              <a:buFont typeface="Arial" panose="020B0604020202020204"/>
              <a:buChar char="•"/>
            </a:pPr>
            <a:r>
              <a:rPr lang="en-IN" sz="2400" b="0" strike="noStrike" spc="-1" dirty="0">
                <a:solidFill>
                  <a:srgbClr val="FFFFFF"/>
                </a:solidFill>
                <a:latin typeface="Times New Roman" panose="02020603050405020304"/>
              </a:rPr>
              <a:t>&lt;=	  Less than or equal to	          </a:t>
            </a:r>
            <a:r>
              <a:rPr lang="en-US" altLang="en-IN" sz="2400" b="0" strike="noStrike" spc="-1" dirty="0">
                <a:solidFill>
                  <a:srgbClr val="FFFFFF"/>
                </a:solidFill>
                <a:latin typeface="Times New Roman" panose="02020603050405020304"/>
              </a:rPr>
              <a:t>  </a:t>
            </a:r>
            <a:r>
              <a:rPr lang="en-IN" sz="2400" b="0" strike="noStrike" spc="-1" dirty="0">
                <a:solidFill>
                  <a:srgbClr val="FFFFFF"/>
                </a:solidFill>
                <a:latin typeface="Times New Roman" panose="02020603050405020304"/>
              </a:rPr>
              <a:t>x &lt;= y</a:t>
            </a:r>
            <a:endParaRPr lang="en-IN" sz="24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CustomShape 1"/>
          <p:cNvSpPr/>
          <p:nvPr/>
        </p:nvSpPr>
        <p:spPr>
          <a:xfrm>
            <a:off x="297090" y="139320"/>
            <a:ext cx="7891560" cy="105732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IN" sz="5400" b="1" strike="noStrike" spc="-1" dirty="0">
                <a:solidFill>
                  <a:srgbClr val="ED7D31"/>
                </a:solidFill>
                <a:latin typeface="Calibri" panose="020F0502020204030204"/>
              </a:rPr>
              <a:t>ASSIGNMENT OPERATORS</a:t>
            </a:r>
            <a:endParaRPr lang="en-IN" sz="5400" b="0" strike="noStrike" spc="-1" dirty="0">
              <a:latin typeface="Arial" panose="020B0604020202020204"/>
            </a:endParaRPr>
          </a:p>
        </p:txBody>
      </p:sp>
      <p:sp>
        <p:nvSpPr>
          <p:cNvPr id="110" name="CustomShape 2"/>
          <p:cNvSpPr/>
          <p:nvPr/>
        </p:nvSpPr>
        <p:spPr>
          <a:xfrm>
            <a:off x="595580" y="2357780"/>
            <a:ext cx="9132620" cy="326456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228600" indent="-227965">
              <a:lnSpc>
                <a:spcPct val="90000"/>
              </a:lnSpc>
              <a:spcBef>
                <a:spcPts val="1000"/>
              </a:spcBef>
              <a:buClr>
                <a:srgbClr val="FFFFFF"/>
              </a:buClr>
              <a:buFont typeface="Arial" panose="020B0604020202020204"/>
              <a:buChar char="•"/>
            </a:pPr>
            <a:r>
              <a:rPr lang="en-IN" sz="2000" b="0" strike="noStrike" spc="-1" dirty="0">
                <a:solidFill>
                  <a:srgbClr val="FFFFFF"/>
                </a:solidFill>
                <a:latin typeface="Times New Roman" panose="02020603050405020304"/>
              </a:rPr>
              <a:t>=	              x = 5	             </a:t>
            </a:r>
            <a:r>
              <a:rPr lang="en-US" altLang="en-IN" sz="2000" b="0" strike="noStrike" spc="-1" dirty="0">
                <a:solidFill>
                  <a:srgbClr val="FFFFFF"/>
                </a:solidFill>
                <a:latin typeface="Times New Roman" panose="02020603050405020304"/>
              </a:rPr>
              <a:t> </a:t>
            </a:r>
            <a:r>
              <a:rPr lang="en-IN" sz="2000" b="0" strike="noStrike" spc="-1" dirty="0">
                <a:solidFill>
                  <a:srgbClr val="FFFFFF"/>
                </a:solidFill>
                <a:latin typeface="Times New Roman" panose="02020603050405020304"/>
              </a:rPr>
              <a:t>x = 5	</a:t>
            </a:r>
            <a:endParaRPr lang="en-IN" sz="2000" b="0" strike="noStrike" spc="-1" dirty="0">
              <a:latin typeface="Arial" panose="020B0604020202020204"/>
            </a:endParaRPr>
          </a:p>
          <a:p>
            <a:pPr marL="228600" indent="-227965">
              <a:lnSpc>
                <a:spcPct val="90000"/>
              </a:lnSpc>
              <a:spcBef>
                <a:spcPts val="1000"/>
              </a:spcBef>
              <a:buClr>
                <a:srgbClr val="FFFFFF"/>
              </a:buClr>
              <a:buFont typeface="Arial" panose="020B0604020202020204"/>
              <a:buChar char="•"/>
            </a:pPr>
            <a:r>
              <a:rPr lang="en-IN" sz="2000" b="0" strike="noStrike" spc="-1" dirty="0">
                <a:solidFill>
                  <a:srgbClr val="FFFFFF"/>
                </a:solidFill>
                <a:latin typeface="Times New Roman" panose="02020603050405020304"/>
              </a:rPr>
              <a:t>+=                 </a:t>
            </a:r>
            <a:r>
              <a:rPr lang="en-US" altLang="en-IN" sz="2000" b="0" strike="noStrike" spc="-1" dirty="0">
                <a:solidFill>
                  <a:srgbClr val="FFFFFF"/>
                </a:solidFill>
                <a:latin typeface="Times New Roman" panose="02020603050405020304"/>
              </a:rPr>
              <a:t>   </a:t>
            </a:r>
            <a:r>
              <a:rPr lang="en-IN" sz="2000" b="0" strike="noStrike" spc="-1" dirty="0">
                <a:solidFill>
                  <a:srgbClr val="FFFFFF"/>
                </a:solidFill>
                <a:latin typeface="Times New Roman" panose="02020603050405020304"/>
              </a:rPr>
              <a:t>x += 3	      </a:t>
            </a:r>
            <a:r>
              <a:rPr lang="en-US" altLang="en-IN" sz="2000" b="0" strike="noStrike" spc="-1" dirty="0">
                <a:solidFill>
                  <a:srgbClr val="FFFFFF"/>
                </a:solidFill>
                <a:latin typeface="Times New Roman" panose="02020603050405020304"/>
              </a:rPr>
              <a:t>     </a:t>
            </a:r>
            <a:r>
              <a:rPr lang="en-IN" sz="2000" b="0" strike="noStrike" spc="-1" dirty="0">
                <a:solidFill>
                  <a:srgbClr val="FFFFFF"/>
                </a:solidFill>
                <a:latin typeface="Times New Roman" panose="02020603050405020304"/>
              </a:rPr>
              <a:t>   x = x + 3	</a:t>
            </a:r>
            <a:endParaRPr lang="en-IN" sz="2000" b="0" strike="noStrike" spc="-1" dirty="0">
              <a:latin typeface="Arial" panose="020B0604020202020204"/>
            </a:endParaRPr>
          </a:p>
          <a:p>
            <a:pPr marL="228600" indent="-227965">
              <a:lnSpc>
                <a:spcPct val="90000"/>
              </a:lnSpc>
              <a:spcBef>
                <a:spcPts val="1000"/>
              </a:spcBef>
              <a:buClr>
                <a:srgbClr val="FFFFFF"/>
              </a:buClr>
              <a:buFont typeface="Arial" panose="020B0604020202020204"/>
              <a:buChar char="•"/>
            </a:pPr>
            <a:r>
              <a:rPr lang="en-IN" sz="2000" b="0" strike="noStrike" spc="-1" dirty="0">
                <a:solidFill>
                  <a:srgbClr val="FFFFFF"/>
                </a:solidFill>
                <a:latin typeface="Times New Roman" panose="02020603050405020304"/>
              </a:rPr>
              <a:t>-=	              x -= 3                  </a:t>
            </a:r>
            <a:r>
              <a:rPr lang="en-US" altLang="en-IN" sz="2000" b="0" strike="noStrike" spc="-1" dirty="0">
                <a:solidFill>
                  <a:srgbClr val="FFFFFF"/>
                </a:solidFill>
                <a:latin typeface="Times New Roman" panose="02020603050405020304"/>
              </a:rPr>
              <a:t> </a:t>
            </a:r>
            <a:r>
              <a:rPr lang="en-IN" sz="2000" b="0" strike="noStrike" spc="-1" dirty="0">
                <a:solidFill>
                  <a:srgbClr val="FFFFFF"/>
                </a:solidFill>
                <a:latin typeface="Times New Roman" panose="02020603050405020304"/>
              </a:rPr>
              <a:t>x = x - 3	</a:t>
            </a:r>
            <a:endParaRPr lang="en-IN" sz="2000" b="0" strike="noStrike" spc="-1" dirty="0">
              <a:latin typeface="Arial" panose="020B0604020202020204"/>
            </a:endParaRPr>
          </a:p>
          <a:p>
            <a:pPr marL="228600" indent="-227965">
              <a:lnSpc>
                <a:spcPct val="90000"/>
              </a:lnSpc>
              <a:spcBef>
                <a:spcPts val="1000"/>
              </a:spcBef>
              <a:buClr>
                <a:srgbClr val="FFFFFF"/>
              </a:buClr>
              <a:buFont typeface="Arial" panose="020B0604020202020204"/>
              <a:buChar char="•"/>
            </a:pPr>
            <a:r>
              <a:rPr lang="en-IN" sz="2000" b="0" strike="noStrike" spc="-1" dirty="0">
                <a:solidFill>
                  <a:srgbClr val="FFFFFF"/>
                </a:solidFill>
                <a:latin typeface="Times New Roman" panose="02020603050405020304"/>
              </a:rPr>
              <a:t>*=	              x *= 3	              x = x * 3	</a:t>
            </a:r>
            <a:endParaRPr lang="en-IN" sz="2000" b="0" strike="noStrike" spc="-1" dirty="0">
              <a:latin typeface="Arial" panose="020B0604020202020204"/>
            </a:endParaRPr>
          </a:p>
          <a:p>
            <a:pPr marL="228600" indent="-227965">
              <a:lnSpc>
                <a:spcPct val="90000"/>
              </a:lnSpc>
              <a:spcBef>
                <a:spcPts val="1000"/>
              </a:spcBef>
              <a:buClr>
                <a:srgbClr val="FFFFFF"/>
              </a:buClr>
              <a:buFont typeface="Arial" panose="020B0604020202020204"/>
              <a:buChar char="•"/>
            </a:pPr>
            <a:r>
              <a:rPr lang="en-IN" sz="2000" b="0" strike="noStrike" spc="-1" dirty="0">
                <a:solidFill>
                  <a:srgbClr val="FFFFFF"/>
                </a:solidFill>
                <a:latin typeface="Times New Roman" panose="02020603050405020304"/>
              </a:rPr>
              <a:t>/=	              x /= 3	              x = x / 3	</a:t>
            </a:r>
            <a:endParaRPr lang="en-IN" sz="2000" b="0" strike="noStrike" spc="-1" dirty="0">
              <a:latin typeface="Arial" panose="020B0604020202020204"/>
            </a:endParaRPr>
          </a:p>
          <a:p>
            <a:pPr marL="228600" indent="-227965">
              <a:lnSpc>
                <a:spcPct val="90000"/>
              </a:lnSpc>
              <a:spcBef>
                <a:spcPts val="1000"/>
              </a:spcBef>
              <a:buClr>
                <a:srgbClr val="FFFFFF"/>
              </a:buClr>
              <a:buFont typeface="Arial" panose="020B0604020202020204"/>
              <a:buChar char="•"/>
            </a:pPr>
            <a:r>
              <a:rPr lang="en-IN" sz="2000" b="0" strike="noStrike" spc="-1" dirty="0">
                <a:solidFill>
                  <a:srgbClr val="FFFFFF"/>
                </a:solidFill>
                <a:latin typeface="Times New Roman" panose="02020603050405020304"/>
              </a:rPr>
              <a:t>%=	              x %= 3	              x = x % 3	</a:t>
            </a:r>
            <a:endParaRPr lang="en-IN" sz="2000" b="0" strike="noStrike" spc="-1" dirty="0">
              <a:latin typeface="Arial" panose="020B0604020202020204"/>
            </a:endParaRPr>
          </a:p>
          <a:p>
            <a:pPr marL="228600" indent="-227965">
              <a:lnSpc>
                <a:spcPct val="90000"/>
              </a:lnSpc>
              <a:spcBef>
                <a:spcPts val="1000"/>
              </a:spcBef>
              <a:buClr>
                <a:srgbClr val="FFFFFF"/>
              </a:buClr>
              <a:buFont typeface="Arial" panose="020B0604020202020204"/>
              <a:buChar char="•"/>
            </a:pPr>
            <a:r>
              <a:rPr lang="en-IN" sz="2000" b="0" strike="noStrike" spc="-1" dirty="0">
                <a:solidFill>
                  <a:srgbClr val="FFFFFF"/>
                </a:solidFill>
                <a:latin typeface="Times New Roman" panose="02020603050405020304"/>
              </a:rPr>
              <a:t>//= 	              x //= 3	              x = x // 3	</a:t>
            </a:r>
            <a:endParaRPr lang="en-IN" sz="2000" b="0" strike="noStrike" spc="-1" dirty="0">
              <a:latin typeface="Arial" panose="020B0604020202020204"/>
            </a:endParaRPr>
          </a:p>
          <a:p>
            <a:pPr marL="228600" indent="-227965">
              <a:lnSpc>
                <a:spcPct val="90000"/>
              </a:lnSpc>
              <a:spcBef>
                <a:spcPts val="1000"/>
              </a:spcBef>
              <a:buClr>
                <a:srgbClr val="FFFFFF"/>
              </a:buClr>
              <a:buFont typeface="Arial" panose="020B0604020202020204"/>
              <a:buChar char="•"/>
            </a:pPr>
            <a:r>
              <a:rPr lang="en-IN" sz="2000" b="0" strike="noStrike" spc="-1" dirty="0">
                <a:solidFill>
                  <a:srgbClr val="FFFFFF"/>
                </a:solidFill>
                <a:latin typeface="Times New Roman" panose="02020603050405020304"/>
              </a:rPr>
              <a:t>**=	              x **= 2	              x = x ** </a:t>
            </a:r>
            <a:r>
              <a:rPr lang="en-IN" sz="2000" b="0" strike="noStrike" spc="-1" dirty="0" smtClean="0">
                <a:solidFill>
                  <a:srgbClr val="FFFFFF"/>
                </a:solidFill>
                <a:latin typeface="Times New Roman" panose="02020603050405020304"/>
              </a:rPr>
              <a:t>2</a:t>
            </a:r>
            <a:endParaRPr lang="en-IN" sz="2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CustomShape 1"/>
          <p:cNvSpPr/>
          <p:nvPr/>
        </p:nvSpPr>
        <p:spPr>
          <a:xfrm>
            <a:off x="191680" y="175"/>
            <a:ext cx="7891560" cy="105732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IN" sz="5400" b="1" strike="noStrike" spc="-1">
                <a:solidFill>
                  <a:srgbClr val="ED7D31"/>
                </a:solidFill>
                <a:latin typeface="Calibri" panose="020F0502020204030204"/>
              </a:rPr>
              <a:t>LOGICAL OPERATORS</a:t>
            </a:r>
            <a:endParaRPr lang="en-IN" sz="5400" b="0" strike="noStrike" spc="-1">
              <a:latin typeface="Arial" panose="020B0604020202020204"/>
            </a:endParaRPr>
          </a:p>
        </p:txBody>
      </p:sp>
      <p:graphicFrame>
        <p:nvGraphicFramePr>
          <p:cNvPr id="113" name="Table 2"/>
          <p:cNvGraphicFramePr/>
          <p:nvPr/>
        </p:nvGraphicFramePr>
        <p:xfrm>
          <a:off x="692280" y="2519640"/>
          <a:ext cx="7873200" cy="3026520"/>
        </p:xfrm>
        <a:graphic>
          <a:graphicData uri="http://schemas.openxmlformats.org/drawingml/2006/table">
            <a:tbl>
              <a:tblPr/>
              <a:tblGrid>
                <a:gridCol w="262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64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800" b="1" strike="noStrike" spc="-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Operator</a:t>
                      </a:r>
                      <a:endParaRPr lang="en-IN" sz="1800" b="0" strike="noStrike" spc="-1">
                        <a:latin typeface="Arial" panose="020B0604020202020204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800" b="1" strike="noStrike" spc="-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Description</a:t>
                      </a:r>
                      <a:endParaRPr lang="en-IN" sz="1800" b="0" strike="noStrike" spc="-1">
                        <a:latin typeface="Arial" panose="020B0604020202020204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800" b="1" strike="noStrike" spc="-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Syntex</a:t>
                      </a:r>
                      <a:endParaRPr lang="en-IN" sz="1800" b="0" strike="noStrike" spc="-1">
                        <a:latin typeface="Arial" panose="020B0604020202020204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54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and</a:t>
                      </a:r>
                      <a:endParaRPr lang="en-IN" sz="1800" b="0" strike="noStrike" spc="-1">
                        <a:latin typeface="Arial" panose="020B0604020202020204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Logical AND: True if both the operands are true</a:t>
                      </a:r>
                      <a:endParaRPr lang="en-IN" sz="1800" b="0" strike="noStrike" spc="-1">
                        <a:latin typeface="Arial" panose="020B0604020202020204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x and y</a:t>
                      </a:r>
                      <a:endParaRPr lang="en-IN" sz="1800" b="0" strike="noStrike" spc="-1">
                        <a:latin typeface="Arial" panose="020B0604020202020204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1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54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strike="noStrike" spc="-1" dirty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or</a:t>
                      </a:r>
                      <a:endParaRPr lang="en-IN" sz="1800" b="0" strike="noStrike" spc="-1" dirty="0">
                        <a:latin typeface="Arial" panose="020B0604020202020204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Logical OR: True if either of the operands is true</a:t>
                      </a:r>
                      <a:endParaRPr lang="en-IN" sz="1800" b="0" strike="noStrike" spc="-1">
                        <a:latin typeface="Arial" panose="020B0604020202020204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x or y</a:t>
                      </a:r>
                      <a:endParaRPr lang="en-IN" sz="1800" b="0" strike="noStrike" spc="-1">
                        <a:latin typeface="Arial" panose="020B0604020202020204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not</a:t>
                      </a:r>
                      <a:endParaRPr lang="en-IN" sz="1800" b="0" strike="noStrike" spc="-1">
                        <a:latin typeface="Arial" panose="020B0604020202020204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Revert result</a:t>
                      </a:r>
                      <a:endParaRPr lang="en-IN" sz="1800" b="0" strike="noStrike" spc="-1">
                        <a:latin typeface="Arial" panose="020B0604020202020204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strike="noStrike" spc="-1" dirty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not x</a:t>
                      </a:r>
                      <a:endParaRPr lang="en-IN" sz="1800" b="0" strike="noStrike" spc="-1" dirty="0">
                        <a:latin typeface="Arial" panose="020B0604020202020204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1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CustomShape 1"/>
          <p:cNvSpPr/>
          <p:nvPr/>
        </p:nvSpPr>
        <p:spPr>
          <a:xfrm>
            <a:off x="263435" y="117015"/>
            <a:ext cx="7891560" cy="105732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IN" sz="5400" b="1" strike="noStrike" spc="-1">
                <a:solidFill>
                  <a:srgbClr val="ED7D31"/>
                </a:solidFill>
                <a:latin typeface="Calibri" panose="020F0502020204030204"/>
              </a:rPr>
              <a:t>BITWISE OPERATORS</a:t>
            </a:r>
            <a:endParaRPr lang="en-IN" sz="5400" b="0" strike="noStrike" spc="-1">
              <a:latin typeface="Arial" panose="020B0604020202020204"/>
            </a:endParaRPr>
          </a:p>
        </p:txBody>
      </p:sp>
      <p:graphicFrame>
        <p:nvGraphicFramePr>
          <p:cNvPr id="116" name="Table 2"/>
          <p:cNvGraphicFramePr/>
          <p:nvPr/>
        </p:nvGraphicFramePr>
        <p:xfrm>
          <a:off x="692280" y="2666520"/>
          <a:ext cx="7873200" cy="3026520"/>
        </p:xfrm>
        <a:graphic>
          <a:graphicData uri="http://schemas.openxmlformats.org/drawingml/2006/table">
            <a:tbl>
              <a:tblPr/>
              <a:tblGrid>
                <a:gridCol w="262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4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4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64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800" b="1" strike="noStrike" spc="-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Operator</a:t>
                      </a:r>
                      <a:endParaRPr lang="en-IN" sz="1800" b="0" strike="noStrike" spc="-1">
                        <a:latin typeface="Arial" panose="020B0604020202020204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800" b="1" strike="noStrike" spc="-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Description</a:t>
                      </a:r>
                      <a:endParaRPr lang="en-IN" sz="1800" b="0" strike="noStrike" spc="-1">
                        <a:latin typeface="Arial" panose="020B0604020202020204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800" b="1" strike="noStrike" spc="-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Syntex</a:t>
                      </a:r>
                      <a:endParaRPr lang="en-IN" sz="1800" b="0" strike="noStrike" spc="-1">
                        <a:latin typeface="Arial" panose="020B0604020202020204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54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800" b="1" strike="noStrike" spc="-1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&amp;</a:t>
                      </a:r>
                      <a:endParaRPr lang="en-IN" sz="1800" b="0" strike="noStrike" spc="-1">
                        <a:latin typeface="Arial" panose="020B0604020202020204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800" b="1" strike="noStrike" spc="-1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AND</a:t>
                      </a:r>
                      <a:endParaRPr lang="en-IN" sz="1800" b="0" strike="noStrike" spc="-1">
                        <a:latin typeface="Arial" panose="020B0604020202020204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800" b="1" strike="noStrike" spc="-1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x &amp; y</a:t>
                      </a:r>
                      <a:endParaRPr lang="en-IN" sz="1800" b="0" strike="noStrike" spc="-1">
                        <a:latin typeface="Arial" panose="020B0604020202020204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1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54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800" b="1" strike="noStrike" spc="-1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|</a:t>
                      </a:r>
                      <a:endParaRPr lang="en-IN" sz="1800" b="0" strike="noStrike" spc="-1">
                        <a:latin typeface="Arial" panose="020B0604020202020204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800" b="1" strike="noStrike" spc="-1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OR</a:t>
                      </a:r>
                      <a:endParaRPr lang="en-IN" sz="1800" b="0" strike="noStrike" spc="-1">
                        <a:latin typeface="Arial" panose="020B0604020202020204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800" b="1" strike="noStrike" spc="-1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x | y</a:t>
                      </a:r>
                      <a:endParaRPr lang="en-IN" sz="1800" b="0" strike="noStrike" spc="-1">
                        <a:latin typeface="Arial" panose="020B0604020202020204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800" b="1" strike="noStrike" spc="-1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^</a:t>
                      </a:r>
                      <a:endParaRPr lang="en-IN" sz="1800" b="0" strike="noStrike" spc="-1">
                        <a:latin typeface="Arial" panose="020B0604020202020204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800" b="1" strike="noStrike" spc="-1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XOR</a:t>
                      </a:r>
                      <a:endParaRPr lang="en-IN" sz="1800" b="0" strike="noStrike" spc="-1">
                        <a:latin typeface="Arial" panose="020B0604020202020204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800" b="1" strike="noStrike" spc="-1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x^y</a:t>
                      </a:r>
                      <a:endParaRPr lang="en-IN" sz="1800" b="0" strike="noStrike" spc="-1">
                        <a:latin typeface="Arial" panose="020B0604020202020204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1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CustomShape 1"/>
          <p:cNvSpPr/>
          <p:nvPr/>
        </p:nvSpPr>
        <p:spPr>
          <a:xfrm>
            <a:off x="335190" y="188770"/>
            <a:ext cx="7891560" cy="105732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IN" sz="5400" b="1" strike="noStrike" spc="-1">
                <a:solidFill>
                  <a:srgbClr val="ED7D31"/>
                </a:solidFill>
                <a:latin typeface="Calibri" panose="020F0502020204030204"/>
              </a:rPr>
              <a:t>IDENTITY OPERATORS</a:t>
            </a:r>
            <a:endParaRPr lang="en-IN" sz="5400" b="0" strike="noStrike" spc="-1">
              <a:latin typeface="Arial" panose="020B0604020202020204"/>
            </a:endParaRPr>
          </a:p>
        </p:txBody>
      </p:sp>
      <p:graphicFrame>
        <p:nvGraphicFramePr>
          <p:cNvPr id="119" name="Table 2"/>
          <p:cNvGraphicFramePr/>
          <p:nvPr/>
        </p:nvGraphicFramePr>
        <p:xfrm>
          <a:off x="692280" y="3034800"/>
          <a:ext cx="7873200" cy="2457720"/>
        </p:xfrm>
        <a:graphic>
          <a:graphicData uri="http://schemas.openxmlformats.org/drawingml/2006/table">
            <a:tbl>
              <a:tblPr/>
              <a:tblGrid>
                <a:gridCol w="262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64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800" b="1" strike="noStrike" spc="-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Operator</a:t>
                      </a:r>
                      <a:endParaRPr lang="en-IN" sz="1800" b="0" strike="noStrike" spc="-1">
                        <a:latin typeface="Arial" panose="020B0604020202020204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800" b="1" strike="noStrike" spc="-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Description</a:t>
                      </a:r>
                      <a:endParaRPr lang="en-IN" sz="1800" b="0" strike="noStrike" spc="-1">
                        <a:latin typeface="Arial" panose="020B0604020202020204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800" b="1" strike="noStrike" spc="-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Syntex</a:t>
                      </a:r>
                      <a:endParaRPr lang="en-IN" sz="1800" b="0" strike="noStrike" spc="-1">
                        <a:latin typeface="Arial" panose="020B0604020202020204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54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is</a:t>
                      </a:r>
                      <a:endParaRPr lang="en-IN" sz="1800" b="0" strike="noStrike" spc="-1">
                        <a:latin typeface="Arial" panose="020B0604020202020204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Returns True if both variables are the same object</a:t>
                      </a:r>
                      <a:endParaRPr lang="en-IN" sz="1800" b="0" strike="noStrike" spc="-1" dirty="0">
                        <a:latin typeface="Arial" panose="020B0604020202020204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800" b="1" strike="noStrike" spc="-1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x is y</a:t>
                      </a:r>
                      <a:endParaRPr lang="en-IN" sz="1800" b="0" strike="noStrike" spc="-1">
                        <a:latin typeface="Arial" panose="020B0604020202020204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1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5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is not</a:t>
                      </a:r>
                      <a:endParaRPr lang="en-IN" sz="1800" b="0" strike="noStrike" spc="-1">
                        <a:latin typeface="Arial" panose="020B0604020202020204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Returns True if both variables are not the same object</a:t>
                      </a:r>
                      <a:endParaRPr lang="en-IN" sz="1800" b="0" strike="noStrike" spc="-1">
                        <a:latin typeface="Arial" panose="020B0604020202020204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800" b="1" strike="noStrike" spc="-1" dirty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x is not y</a:t>
                      </a:r>
                      <a:endParaRPr lang="en-IN" sz="1800" b="0" strike="noStrike" spc="-1" dirty="0">
                        <a:latin typeface="Arial" panose="020B0604020202020204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ustomShape 1"/>
          <p:cNvSpPr/>
          <p:nvPr/>
        </p:nvSpPr>
        <p:spPr>
          <a:xfrm>
            <a:off x="233590" y="0"/>
            <a:ext cx="7891560" cy="105732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IN" sz="5400" b="1" strike="noStrike" spc="-1" dirty="0">
                <a:solidFill>
                  <a:srgbClr val="ED7D31"/>
                </a:solidFill>
                <a:latin typeface="Calibri" panose="020F0502020204030204"/>
              </a:rPr>
              <a:t>MEMBERSHIP OPERATORS</a:t>
            </a:r>
            <a:endParaRPr lang="en-IN" sz="5400" b="0" strike="noStrike" spc="-1" dirty="0">
              <a:latin typeface="Arial" panose="020B0604020202020204"/>
            </a:endParaRPr>
          </a:p>
        </p:txBody>
      </p:sp>
      <p:graphicFrame>
        <p:nvGraphicFramePr>
          <p:cNvPr id="122" name="Table 2"/>
          <p:cNvGraphicFramePr/>
          <p:nvPr>
            <p:extLst>
              <p:ext uri="{D42A27DB-BD31-4B8C-83A1-F6EECF244321}">
                <p14:modId xmlns:p14="http://schemas.microsoft.com/office/powerpoint/2010/main" val="2155057635"/>
              </p:ext>
            </p:extLst>
          </p:nvPr>
        </p:nvGraphicFramePr>
        <p:xfrm>
          <a:off x="374780" y="2641599"/>
          <a:ext cx="8172321" cy="3714521"/>
        </p:xfrm>
        <a:graphic>
          <a:graphicData uri="http://schemas.openxmlformats.org/drawingml/2006/table">
            <a:tbl>
              <a:tblPr/>
              <a:tblGrid>
                <a:gridCol w="27241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41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59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800" b="1" strike="noStrike" spc="-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Operator</a:t>
                      </a:r>
                      <a:endParaRPr lang="en-IN" sz="1800" b="0" strike="noStrike" spc="-1" dirty="0">
                        <a:latin typeface="Arial" panose="020B0604020202020204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800" b="1" strike="noStrike" spc="-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Description</a:t>
                      </a:r>
                      <a:endParaRPr lang="en-IN" sz="1800" b="0" strike="noStrike" spc="-1">
                        <a:latin typeface="Arial" panose="020B0604020202020204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800" b="1" strike="noStrike" spc="-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Syntex</a:t>
                      </a:r>
                      <a:endParaRPr lang="en-IN" sz="1800" b="0" strike="noStrike" spc="-1">
                        <a:latin typeface="Arial" panose="020B0604020202020204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40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800" b="0" strike="noStrike" spc="-1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IN</a:t>
                      </a:r>
                      <a:endParaRPr lang="en-IN" sz="1800" b="0" strike="noStrike" spc="-1">
                        <a:latin typeface="Arial" panose="020B0604020202020204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True if exist</a:t>
                      </a:r>
                      <a:endParaRPr lang="en-IN" sz="1800" b="0" strike="noStrike" spc="-1">
                        <a:latin typeface="Arial" panose="020B0604020202020204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800" b="1" strike="noStrike" spc="-1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x in y</a:t>
                      </a:r>
                      <a:endParaRPr lang="en-IN" sz="1800" b="0" strike="noStrike" spc="-1">
                        <a:latin typeface="Arial" panose="020B0604020202020204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1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456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not</a:t>
                      </a:r>
                      <a:r>
                        <a:rPr lang="en-IN" sz="1800" b="1" strike="noStrike" spc="-1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 in</a:t>
                      </a:r>
                      <a:endParaRPr lang="en-IN" sz="1800" b="0" strike="noStrike" spc="-1">
                        <a:latin typeface="Arial" panose="020B0604020202020204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strike="noStrike" spc="-1" dirty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True if not exist</a:t>
                      </a:r>
                      <a:endParaRPr lang="en-IN" sz="1800" b="0" strike="noStrike" spc="-1" dirty="0">
                        <a:latin typeface="Arial" panose="020B0604020202020204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800" b="1" strike="noStrike" spc="-1" dirty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x not in y</a:t>
                      </a:r>
                      <a:endParaRPr lang="en-IN" sz="1800" b="0" strike="noStrike" spc="-1" dirty="0">
                        <a:latin typeface="Arial" panose="020B0604020202020204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ustomShape 1"/>
          <p:cNvSpPr/>
          <p:nvPr/>
        </p:nvSpPr>
        <p:spPr>
          <a:xfrm>
            <a:off x="335280" y="0"/>
            <a:ext cx="8082280" cy="105727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altLang="en-IN" sz="5400" b="1" strike="noStrike" spc="-1" dirty="0">
                <a:solidFill>
                  <a:srgbClr val="ED7D31"/>
                </a:solidFill>
                <a:latin typeface="Calibri" panose="020F0502020204030204"/>
              </a:rPr>
              <a:t>CONDITIONAL STATEMENT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335280" y="1958742"/>
            <a:ext cx="940562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400" spc="-1" dirty="0" smtClean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conditional statement</a:t>
            </a:r>
            <a:r>
              <a:rPr lang="en-US" sz="2400" spc="-1" dirty="0" smtClean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 are used in programing to make decision based on certain condition.</a:t>
            </a:r>
            <a:endParaRPr sz="2400" spc="-1" dirty="0">
              <a:solidFill>
                <a:srgbClr val="FFFFFF"/>
              </a:solidFill>
              <a:latin typeface="Times New Roman" panose="02020603050405020304"/>
              <a:ea typeface="DejaVu Sans" panose="020B0603030804020204"/>
            </a:endParaRPr>
          </a:p>
          <a:p>
            <a:r>
              <a:rPr lang="en-US" sz="2400" spc="-1" dirty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Syntax </a:t>
            </a:r>
            <a:r>
              <a:rPr lang="en-US" sz="2400" spc="-1" dirty="0" smtClean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:-</a:t>
            </a:r>
          </a:p>
          <a:p>
            <a:endParaRPr lang="en-US" sz="2400" spc="-1" dirty="0">
              <a:solidFill>
                <a:srgbClr val="FFFFFF"/>
              </a:solidFill>
              <a:latin typeface="Times New Roman" panose="02020603050405020304"/>
              <a:ea typeface="DejaVu Sans" panose="020B0603030804020204"/>
            </a:endParaRPr>
          </a:p>
          <a:p>
            <a:endParaRPr lang="en-US" sz="2400" spc="-1" dirty="0">
              <a:solidFill>
                <a:srgbClr val="FFFFFF"/>
              </a:solidFill>
              <a:latin typeface="Times New Roman" panose="02020603050405020304"/>
              <a:ea typeface="DejaVu Sans" panose="020B0603030804020204"/>
            </a:endParaRPr>
          </a:p>
          <a:p>
            <a:r>
              <a:rPr lang="en-US" sz="2400" spc="-1" dirty="0">
                <a:solidFill>
                  <a:schemeClr val="bg2">
                    <a:lumMod val="75000"/>
                  </a:schemeClr>
                </a:solidFill>
                <a:latin typeface="Times New Roman" panose="02020603050405020304"/>
                <a:ea typeface="DejaVu Sans" panose="020B0603030804020204"/>
              </a:rPr>
              <a:t>if</a:t>
            </a:r>
            <a:r>
              <a:rPr lang="en-US" sz="2400" spc="-1" dirty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 </a:t>
            </a:r>
            <a:r>
              <a:rPr lang="en-US" sz="2400" spc="-1" dirty="0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condition1</a:t>
            </a:r>
            <a:r>
              <a:rPr lang="en-US" sz="2400" spc="-1" dirty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:</a:t>
            </a:r>
          </a:p>
          <a:p>
            <a:r>
              <a:rPr lang="en-US" sz="2400" spc="-1" dirty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    # Code to execute if condition1 is true</a:t>
            </a:r>
          </a:p>
          <a:p>
            <a:r>
              <a:rPr lang="en-US" sz="2400" spc="-1" dirty="0" err="1">
                <a:solidFill>
                  <a:schemeClr val="bg2">
                    <a:lumMod val="75000"/>
                  </a:schemeClr>
                </a:solidFill>
                <a:latin typeface="Times New Roman" panose="02020603050405020304"/>
                <a:ea typeface="DejaVu Sans" panose="020B0603030804020204"/>
              </a:rPr>
              <a:t>elif</a:t>
            </a:r>
            <a:r>
              <a:rPr lang="en-US" sz="2400" spc="-1" dirty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 </a:t>
            </a:r>
            <a:r>
              <a:rPr lang="en-US" sz="2400" spc="-1" dirty="0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condition2:</a:t>
            </a:r>
            <a:endParaRPr lang="en-US" sz="2400" spc="-1" dirty="0">
              <a:solidFill>
                <a:srgbClr val="FFFFFF"/>
              </a:solidFill>
              <a:latin typeface="Times New Roman" panose="02020603050405020304"/>
              <a:ea typeface="DejaVu Sans" panose="020B0603030804020204"/>
            </a:endParaRPr>
          </a:p>
          <a:p>
            <a:r>
              <a:rPr lang="en-US" sz="2400" spc="-1" dirty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    # Code to execute if condition2 is true</a:t>
            </a:r>
          </a:p>
          <a:p>
            <a:r>
              <a:rPr lang="en-US" sz="2400" spc="-1" dirty="0">
                <a:solidFill>
                  <a:schemeClr val="bg2">
                    <a:lumMod val="75000"/>
                  </a:schemeClr>
                </a:solidFill>
                <a:latin typeface="Times New Roman" panose="02020603050405020304"/>
                <a:ea typeface="DejaVu Sans" panose="020B0603030804020204"/>
              </a:rPr>
              <a:t>else:</a:t>
            </a:r>
          </a:p>
          <a:p>
            <a:r>
              <a:rPr lang="en-US" sz="2400" spc="-1" dirty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    # Code to execute if none of the conditions are true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ustomShape 1"/>
          <p:cNvSpPr/>
          <p:nvPr/>
        </p:nvSpPr>
        <p:spPr>
          <a:xfrm>
            <a:off x="259080" y="0"/>
            <a:ext cx="3140710" cy="105727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IN" sz="5400" b="1" strike="noStrike" spc="-1" dirty="0">
                <a:solidFill>
                  <a:srgbClr val="ED7D31"/>
                </a:solidFill>
                <a:latin typeface="Calibri" panose="020F0502020204030204"/>
              </a:rPr>
              <a:t>LOOPING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259080" y="2006600"/>
            <a:ext cx="958342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IN" sz="2400" spc="-1" dirty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In Python, loops are control structures that allow you to execute a block of code </a:t>
            </a:r>
            <a:r>
              <a:rPr lang="en-IN" sz="2400" spc="-1" dirty="0">
                <a:solidFill>
                  <a:schemeClr val="accent2">
                    <a:lumMod val="75000"/>
                  </a:schemeClr>
                </a:solidFill>
                <a:latin typeface="Times New Roman" panose="02020603050405020304"/>
                <a:ea typeface="DejaVu Sans" panose="020B0603030804020204"/>
              </a:rPr>
              <a:t>repeatedly</a:t>
            </a:r>
            <a:r>
              <a:rPr lang="en-IN" sz="2400" spc="-1" dirty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. There are two main types of loops: </a:t>
            </a:r>
            <a:r>
              <a:rPr lang="en-US" altLang="en-IN" sz="2400" spc="-1" dirty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-</a:t>
            </a:r>
          </a:p>
          <a:p>
            <a:endParaRPr lang="en-US" altLang="en-IN" sz="2400" spc="-1" dirty="0">
              <a:solidFill>
                <a:srgbClr val="FFFFFF"/>
              </a:solidFill>
              <a:latin typeface="Times New Roman" panose="02020603050405020304"/>
              <a:ea typeface="DejaVu Sans" panose="020B060303080402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IN" sz="2400" spc="-1" dirty="0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For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IN" sz="2400" spc="-1" dirty="0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While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ustomShape 1"/>
          <p:cNvSpPr/>
          <p:nvPr/>
        </p:nvSpPr>
        <p:spPr>
          <a:xfrm>
            <a:off x="407035" y="116840"/>
            <a:ext cx="3140710" cy="105727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altLang="en-IN" sz="5400" b="1" strike="noStrike" spc="-1">
                <a:solidFill>
                  <a:srgbClr val="ED7D31"/>
                </a:solidFill>
                <a:latin typeface="Calibri" panose="020F0502020204030204"/>
              </a:rPr>
              <a:t>FOR LOOP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335280" y="1268730"/>
            <a:ext cx="8947150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400" spc="-1" dirty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A for loop is used when you know in advance how many times you want to iterate over a sequence (e.g., a list, tuple, or string).</a:t>
            </a:r>
          </a:p>
          <a:p>
            <a:r>
              <a:rPr sz="2400" spc="-1" dirty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Here's the basic syntax of a for loop</a:t>
            </a:r>
            <a:r>
              <a:rPr lang="en-US" sz="2400" spc="-1" dirty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 in python </a:t>
            </a:r>
            <a:r>
              <a:rPr sz="2400" spc="-1" dirty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:</a:t>
            </a:r>
            <a:r>
              <a:rPr lang="en-US" sz="2400" spc="-1" dirty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-</a:t>
            </a:r>
          </a:p>
          <a:p>
            <a:endParaRPr lang="en-US" sz="2400" spc="-1" dirty="0">
              <a:solidFill>
                <a:srgbClr val="FFFFFF"/>
              </a:solidFill>
              <a:latin typeface="Times New Roman" panose="02020603050405020304"/>
              <a:ea typeface="DejaVu Sans" panose="020B0603030804020204"/>
            </a:endParaRPr>
          </a:p>
          <a:p>
            <a:r>
              <a:rPr lang="en-US" sz="2400" spc="-1" dirty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#Syntax in python</a:t>
            </a:r>
          </a:p>
          <a:p>
            <a:r>
              <a:rPr lang="en-US" sz="2400" spc="-1" dirty="0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for </a:t>
            </a:r>
            <a:r>
              <a:rPr lang="en-US" sz="2400" spc="-1" dirty="0" err="1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i</a:t>
            </a:r>
            <a:r>
              <a:rPr lang="en-US" sz="2400" spc="-1" dirty="0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 in range(10):</a:t>
            </a:r>
          </a:p>
          <a:p>
            <a:pPr indent="457200"/>
            <a:r>
              <a:rPr lang="en-US" sz="2400" spc="-1" dirty="0">
                <a:solidFill>
                  <a:schemeClr val="bg2"/>
                </a:solidFill>
                <a:latin typeface="Times New Roman" panose="02020603050405020304"/>
                <a:ea typeface="DejaVu Sans" panose="020B0603030804020204"/>
              </a:rPr>
              <a:t># for loop body</a:t>
            </a:r>
          </a:p>
          <a:p>
            <a:pPr indent="457200"/>
            <a:r>
              <a:rPr lang="en-US" sz="2400" spc="-1" dirty="0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print(</a:t>
            </a:r>
            <a:r>
              <a:rPr lang="en-US" sz="2400" spc="-1" dirty="0" err="1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i</a:t>
            </a:r>
            <a:r>
              <a:rPr lang="en-US" sz="2400" spc="-1" dirty="0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)</a:t>
            </a:r>
          </a:p>
          <a:p>
            <a:pPr indent="0"/>
            <a:endParaRPr lang="en-US" sz="2400" spc="-1" dirty="0">
              <a:solidFill>
                <a:schemeClr val="accent2"/>
              </a:solidFill>
              <a:latin typeface="Times New Roman" panose="02020603050405020304"/>
              <a:ea typeface="DejaVu Sans" panose="020B0603030804020204"/>
            </a:endParaRPr>
          </a:p>
          <a:p>
            <a:pPr indent="0"/>
            <a:r>
              <a:rPr lang="en-US" sz="2400" spc="-1" dirty="0">
                <a:solidFill>
                  <a:schemeClr val="bg2"/>
                </a:solidFill>
                <a:latin typeface="Times New Roman" panose="02020603050405020304"/>
                <a:ea typeface="DejaVu Sans" panose="020B0603030804020204"/>
              </a:rPr>
              <a:t># </a:t>
            </a:r>
            <a:r>
              <a:rPr lang="en-US" sz="2400" spc="-1" dirty="0" err="1">
                <a:solidFill>
                  <a:schemeClr val="bg2"/>
                </a:solidFill>
                <a:latin typeface="Times New Roman" panose="02020603050405020304"/>
                <a:ea typeface="DejaVu Sans" panose="020B0603030804020204"/>
              </a:rPr>
              <a:t>Syntaxt</a:t>
            </a:r>
            <a:r>
              <a:rPr lang="en-US" sz="2400" spc="-1" dirty="0">
                <a:solidFill>
                  <a:schemeClr val="bg2"/>
                </a:solidFill>
                <a:latin typeface="Times New Roman" panose="02020603050405020304"/>
                <a:ea typeface="DejaVu Sans" panose="020B0603030804020204"/>
              </a:rPr>
              <a:t> in c</a:t>
            </a:r>
          </a:p>
          <a:p>
            <a:pPr indent="0"/>
            <a:r>
              <a:rPr lang="en-US" sz="2400" spc="-1" dirty="0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for (</a:t>
            </a:r>
            <a:r>
              <a:rPr lang="en-US" sz="2400" spc="-1" dirty="0" err="1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i</a:t>
            </a:r>
            <a:r>
              <a:rPr lang="en-US" sz="2400" spc="-1" dirty="0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 = 0; </a:t>
            </a:r>
            <a:r>
              <a:rPr lang="en-US" sz="2400" spc="-1" dirty="0" err="1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i</a:t>
            </a:r>
            <a:r>
              <a:rPr lang="en-US" sz="2400" spc="-1" dirty="0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 &lt; 5; </a:t>
            </a:r>
            <a:r>
              <a:rPr lang="en-US" sz="2400" spc="-1" dirty="0" err="1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i</a:t>
            </a:r>
            <a:r>
              <a:rPr lang="en-US" sz="2400" spc="-1" dirty="0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++) {</a:t>
            </a:r>
          </a:p>
          <a:p>
            <a:pPr indent="0"/>
            <a:r>
              <a:rPr lang="en-US" sz="2400" spc="-1" dirty="0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      </a:t>
            </a:r>
            <a:r>
              <a:rPr lang="en-US" sz="2400" spc="-1" dirty="0">
                <a:solidFill>
                  <a:schemeClr val="bg2"/>
                </a:solidFill>
                <a:latin typeface="Times New Roman" panose="02020603050405020304"/>
                <a:ea typeface="DejaVu Sans" panose="020B0603030804020204"/>
              </a:rPr>
              <a:t># for loop body</a:t>
            </a:r>
            <a:endParaRPr lang="en-US" sz="2400" spc="-1" dirty="0">
              <a:solidFill>
                <a:schemeClr val="accent2"/>
              </a:solidFill>
              <a:latin typeface="Times New Roman" panose="02020603050405020304"/>
              <a:ea typeface="DejaVu Sans" panose="020B0603030804020204"/>
            </a:endParaRPr>
          </a:p>
          <a:p>
            <a:pPr indent="0"/>
            <a:r>
              <a:rPr lang="en-US" sz="2400" spc="-1" dirty="0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       </a:t>
            </a:r>
            <a:r>
              <a:rPr lang="en-US" sz="2400" spc="-1" dirty="0" err="1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printf</a:t>
            </a:r>
            <a:r>
              <a:rPr lang="en-US" sz="2400" spc="-1" dirty="0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("%d\n", </a:t>
            </a:r>
            <a:r>
              <a:rPr lang="en-US" sz="2400" spc="-1" dirty="0" err="1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i</a:t>
            </a:r>
            <a:r>
              <a:rPr lang="en-US" sz="2400" spc="-1" dirty="0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);</a:t>
            </a:r>
          </a:p>
          <a:p>
            <a:pPr indent="0"/>
            <a:r>
              <a:rPr lang="en-US" sz="2400" spc="-1" dirty="0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    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ustomShape 1"/>
          <p:cNvSpPr/>
          <p:nvPr/>
        </p:nvSpPr>
        <p:spPr>
          <a:xfrm>
            <a:off x="407035" y="116840"/>
            <a:ext cx="4431665" cy="105727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altLang="en-IN" sz="5400" b="1" strike="noStrike" spc="-1">
                <a:solidFill>
                  <a:srgbClr val="ED7D31"/>
                </a:solidFill>
                <a:latin typeface="Calibri" panose="020F0502020204030204"/>
              </a:rPr>
              <a:t>WHILE LOOP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335280" y="1268730"/>
            <a:ext cx="8947150" cy="52438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sz="2400" spc="-1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A while loop is used when you want to repeatedly execute a block of code as long as a specified condition is True.</a:t>
            </a:r>
          </a:p>
          <a:p>
            <a:r>
              <a:rPr sz="2400" spc="-1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Here's the basic syntax of a while loop:</a:t>
            </a:r>
          </a:p>
          <a:p>
            <a:endParaRPr sz="2400" spc="-1">
              <a:solidFill>
                <a:srgbClr val="FFFFFF"/>
              </a:solidFill>
              <a:latin typeface="Times New Roman" panose="02020603050405020304"/>
              <a:ea typeface="DejaVu Sans" panose="020B060303080402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spc="-1">
                <a:solidFill>
                  <a:schemeClr val="accent4"/>
                </a:solidFill>
                <a:latin typeface="Times New Roman" panose="02020603050405020304"/>
                <a:ea typeface="DejaVu Sans" panose="020B0603030804020204"/>
              </a:rPr>
              <a:t> initialiazation</a:t>
            </a:r>
          </a:p>
          <a:p>
            <a:pPr indent="457200"/>
            <a:r>
              <a:rPr lang="en-US" sz="2400" spc="-1">
                <a:solidFill>
                  <a:schemeClr val="accent4"/>
                </a:solidFill>
                <a:latin typeface="Times New Roman" panose="02020603050405020304"/>
                <a:ea typeface="DejaVu Sans" panose="020B0603030804020204"/>
              </a:rPr>
              <a:t>while condition:</a:t>
            </a:r>
          </a:p>
          <a:p>
            <a:pPr marL="457200" lvl="1" indent="457200"/>
            <a:r>
              <a:rPr lang="en-US" sz="2400" spc="-1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#body of while loop</a:t>
            </a:r>
          </a:p>
          <a:p>
            <a:pPr marL="457200" lvl="1" indent="457200"/>
            <a:r>
              <a:rPr lang="en-US" sz="2400" spc="-1">
                <a:solidFill>
                  <a:schemeClr val="accent4"/>
                </a:solidFill>
                <a:latin typeface="Times New Roman" panose="02020603050405020304"/>
                <a:ea typeface="DejaVu Sans" panose="020B0603030804020204"/>
              </a:rPr>
              <a:t>increament</a:t>
            </a:r>
            <a:endParaRPr sz="2400" spc="-1">
              <a:solidFill>
                <a:schemeClr val="accent4"/>
              </a:solidFill>
              <a:latin typeface="Times New Roman" panose="02020603050405020304"/>
              <a:ea typeface="DejaVu Sans" panose="020B0603030804020204"/>
            </a:endParaRPr>
          </a:p>
          <a:p>
            <a:endParaRPr sz="2400" spc="-1">
              <a:solidFill>
                <a:srgbClr val="FFFFFF"/>
              </a:solidFill>
              <a:latin typeface="Times New Roman" panose="02020603050405020304"/>
              <a:ea typeface="DejaVu Sans" panose="020B0603030804020204"/>
            </a:endParaRPr>
          </a:p>
          <a:p>
            <a:endParaRPr sz="2400" spc="-1">
              <a:solidFill>
                <a:srgbClr val="FFFFFF"/>
              </a:solidFill>
              <a:latin typeface="Times New Roman" panose="02020603050405020304"/>
              <a:ea typeface="DejaVu Sans" panose="020B060303080402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spc="-1">
                <a:solidFill>
                  <a:schemeClr val="accent4"/>
                </a:solidFill>
                <a:latin typeface="Times New Roman" panose="02020603050405020304"/>
                <a:ea typeface="DejaVu Sans" panose="020B0603030804020204"/>
              </a:rPr>
              <a:t>i = 0</a:t>
            </a:r>
            <a:endParaRPr sz="2400" spc="-1">
              <a:solidFill>
                <a:schemeClr val="accent4"/>
              </a:solidFill>
              <a:latin typeface="Times New Roman" panose="02020603050405020304"/>
              <a:ea typeface="DejaVu Sans" panose="020B0603030804020204"/>
            </a:endParaRPr>
          </a:p>
          <a:p>
            <a:pPr indent="457200"/>
            <a:r>
              <a:rPr lang="en-US" sz="2400" spc="-1">
                <a:solidFill>
                  <a:schemeClr val="accent4"/>
                </a:solidFill>
                <a:latin typeface="Times New Roman" panose="02020603050405020304"/>
                <a:ea typeface="DejaVu Sans" panose="020B0603030804020204"/>
              </a:rPr>
              <a:t>while i &lt;=5:</a:t>
            </a:r>
          </a:p>
          <a:p>
            <a:pPr marL="457200" lvl="1" indent="457200"/>
            <a:r>
              <a:rPr lang="en-US" sz="2400" spc="-1">
                <a:solidFill>
                  <a:schemeClr val="accent4"/>
                </a:solidFill>
                <a:latin typeface="Times New Roman" panose="02020603050405020304"/>
                <a:ea typeface="DejaVu Sans" panose="020B0603030804020204"/>
              </a:rPr>
              <a:t>print(‘Hello World’)</a:t>
            </a:r>
          </a:p>
          <a:p>
            <a:pPr marL="457200" lvl="1" indent="457200"/>
            <a:r>
              <a:rPr lang="en-US" sz="2400" spc="-1">
                <a:solidFill>
                  <a:schemeClr val="accent4"/>
                </a:solidFill>
                <a:latin typeface="Times New Roman" panose="02020603050405020304"/>
                <a:ea typeface="DejaVu Sans" panose="020B0603030804020204"/>
              </a:rPr>
              <a:t>i+=1</a:t>
            </a:r>
            <a:endParaRPr lang="en-US" sz="2400" spc="-1">
              <a:solidFill>
                <a:srgbClr val="FFFFFF"/>
              </a:solidFill>
              <a:latin typeface="Times New Roman" panose="02020603050405020304"/>
              <a:ea typeface="DejaVu Sans" panose="020B0603030804020204"/>
            </a:endParaRPr>
          </a:p>
          <a:p>
            <a:pPr indent="457200"/>
            <a:endParaRPr sz="2400" spc="-1">
              <a:solidFill>
                <a:srgbClr val="FFFFFF"/>
              </a:solidFill>
              <a:latin typeface="Times New Roman" panose="02020603050405020304"/>
              <a:ea typeface="DejaVu Sans" panose="020B0603030804020204"/>
            </a:endParaRPr>
          </a:p>
          <a:p>
            <a:endParaRPr sz="2400" spc="-1">
              <a:solidFill>
                <a:srgbClr val="FFFFFF"/>
              </a:solidFill>
              <a:latin typeface="Times New Roman" panose="02020603050405020304"/>
              <a:ea typeface="DejaVu Sans" panose="020B06030308040202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/>
          </p:nvPr>
        </p:nvSpPr>
        <p:spPr>
          <a:xfrm>
            <a:off x="2361006" y="1707551"/>
            <a:ext cx="7195118" cy="397728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password = ""</a:t>
            </a:r>
            <a:br>
              <a:rPr lang="en-US" sz="2800" dirty="0" smtClean="0">
                <a:solidFill>
                  <a:schemeClr val="bg1"/>
                </a:solidFill>
              </a:rPr>
            </a:br>
            <a:r>
              <a:rPr lang="en-US" sz="2800" dirty="0" smtClean="0">
                <a:solidFill>
                  <a:schemeClr val="bg1"/>
                </a:solidFill>
              </a:rPr>
              <a:t/>
            </a:r>
            <a:br>
              <a:rPr lang="en-US" sz="2800" dirty="0" smtClean="0">
                <a:solidFill>
                  <a:schemeClr val="bg1"/>
                </a:solidFill>
              </a:rPr>
            </a:br>
            <a:r>
              <a:rPr lang="en-US" sz="2800" dirty="0" smtClean="0">
                <a:solidFill>
                  <a:schemeClr val="accent2"/>
                </a:solidFill>
              </a:rPr>
              <a:t>while</a:t>
            </a:r>
            <a:r>
              <a:rPr lang="en-US" sz="2800" dirty="0" smtClean="0">
                <a:solidFill>
                  <a:schemeClr val="bg1"/>
                </a:solidFill>
              </a:rPr>
              <a:t> password != "</a:t>
            </a:r>
            <a:r>
              <a:rPr lang="en-US" sz="2800" dirty="0" smtClean="0">
                <a:solidFill>
                  <a:schemeClr val="accent6"/>
                </a:solidFill>
              </a:rPr>
              <a:t>admin123</a:t>
            </a:r>
            <a:r>
              <a:rPr lang="en-US" sz="2800" dirty="0" smtClean="0">
                <a:solidFill>
                  <a:schemeClr val="bg1"/>
                </a:solidFill>
              </a:rPr>
              <a:t>":</a:t>
            </a:r>
            <a:br>
              <a:rPr lang="en-US" sz="2800" dirty="0" smtClean="0">
                <a:solidFill>
                  <a:schemeClr val="bg1"/>
                </a:solidFill>
              </a:rPr>
            </a:br>
            <a:r>
              <a:rPr lang="en-US" sz="2800" dirty="0" smtClean="0">
                <a:solidFill>
                  <a:schemeClr val="bg1"/>
                </a:solidFill>
              </a:rPr>
              <a:t>	password = input("</a:t>
            </a:r>
            <a:r>
              <a:rPr lang="en-US" sz="2800" dirty="0" smtClean="0">
                <a:solidFill>
                  <a:schemeClr val="accent6"/>
                </a:solidFill>
              </a:rPr>
              <a:t>Enter password: </a:t>
            </a:r>
            <a:r>
              <a:rPr lang="en-US" sz="2800" dirty="0" smtClean="0">
                <a:solidFill>
                  <a:schemeClr val="bg1"/>
                </a:solidFill>
              </a:rPr>
              <a:t>")</a:t>
            </a:r>
            <a:br>
              <a:rPr lang="en-US" sz="2800" dirty="0" smtClean="0">
                <a:solidFill>
                  <a:schemeClr val="bg1"/>
                </a:solidFill>
              </a:rPr>
            </a:br>
            <a:r>
              <a:rPr lang="en-US" sz="2800" dirty="0" smtClean="0">
                <a:solidFill>
                  <a:schemeClr val="bg1"/>
                </a:solidFill>
              </a:rPr>
              <a:t/>
            </a:r>
            <a:br>
              <a:rPr lang="en-US" sz="2800" dirty="0" smtClean="0">
                <a:solidFill>
                  <a:schemeClr val="bg1"/>
                </a:solidFill>
              </a:rPr>
            </a:br>
            <a:r>
              <a:rPr lang="en-US" sz="2800" dirty="0" smtClean="0">
                <a:solidFill>
                  <a:schemeClr val="accent2"/>
                </a:solidFill>
              </a:rPr>
              <a:t>print</a:t>
            </a:r>
            <a:r>
              <a:rPr lang="en-US" sz="2800" dirty="0" smtClean="0">
                <a:solidFill>
                  <a:schemeClr val="bg1"/>
                </a:solidFill>
              </a:rPr>
              <a:t>("</a:t>
            </a:r>
            <a:r>
              <a:rPr lang="en-US" sz="2800" dirty="0" smtClean="0">
                <a:solidFill>
                  <a:schemeClr val="accent6"/>
                </a:solidFill>
              </a:rPr>
              <a:t>Access Granted</a:t>
            </a:r>
            <a:r>
              <a:rPr lang="en-US" sz="2800" dirty="0" smtClean="0">
                <a:solidFill>
                  <a:schemeClr val="bg1"/>
                </a:solidFill>
              </a:rPr>
              <a:t>")</a:t>
            </a: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08740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ustomShape 1"/>
          <p:cNvSpPr/>
          <p:nvPr/>
        </p:nvSpPr>
        <p:spPr>
          <a:xfrm>
            <a:off x="407035" y="116840"/>
            <a:ext cx="3566160" cy="106870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altLang="en-IN" sz="5400" b="1" strike="noStrike" spc="-1">
                <a:solidFill>
                  <a:srgbClr val="ED7D31"/>
                </a:solidFill>
                <a:latin typeface="Calibri" panose="020F0502020204030204"/>
              </a:rPr>
              <a:t>FUNCTION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622935" y="1844675"/>
            <a:ext cx="9188450" cy="38969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buClrTx/>
              <a:buSzTx/>
              <a:buNone/>
            </a:pPr>
            <a:r>
              <a:rPr sz="2400" spc="-1" dirty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 </a:t>
            </a:r>
            <a:r>
              <a:rPr lang="en-US" sz="2400" spc="-1" dirty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A</a:t>
            </a:r>
            <a:r>
              <a:rPr sz="2400" spc="-1" dirty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 function is a block of reusable code that performs a specific task or a set of tasks</a:t>
            </a:r>
            <a:r>
              <a:rPr lang="en-US" sz="2400" spc="-1" dirty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 and function allows </a:t>
            </a:r>
            <a:r>
              <a:rPr lang="en-US" sz="2400" spc="-1" dirty="0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modularity</a:t>
            </a:r>
            <a:r>
              <a:rPr lang="en-US" sz="2400" spc="-1" dirty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 , </a:t>
            </a:r>
            <a:r>
              <a:rPr lang="en-US" sz="2400" spc="-1" dirty="0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reusability</a:t>
            </a:r>
            <a:r>
              <a:rPr lang="en-US" sz="2400" spc="-1" dirty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 , </a:t>
            </a:r>
            <a:r>
              <a:rPr lang="en-US" sz="2400" spc="-1" dirty="0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abstraction</a:t>
            </a:r>
            <a:r>
              <a:rPr lang="en-US" sz="2400" spc="-1" dirty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.</a:t>
            </a:r>
          </a:p>
          <a:p>
            <a:pPr algn="l">
              <a:buClrTx/>
              <a:buSzTx/>
              <a:buNone/>
            </a:pPr>
            <a:endParaRPr lang="en-US" sz="2400" spc="-1" dirty="0">
              <a:solidFill>
                <a:srgbClr val="FFFFFF"/>
              </a:solidFill>
              <a:latin typeface="Times New Roman" panose="02020603050405020304"/>
              <a:ea typeface="DejaVu Sans" panose="020B0603030804020204"/>
            </a:endParaRPr>
          </a:p>
          <a:p>
            <a:pPr algn="l">
              <a:buClrTx/>
              <a:buSzTx/>
              <a:buNone/>
            </a:pPr>
            <a:r>
              <a:rPr lang="en-US" sz="2400" spc="-1" dirty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There are mainly 2 kind of functions in python:-</a:t>
            </a:r>
          </a:p>
          <a:p>
            <a:pPr algn="l">
              <a:buClrTx/>
              <a:buSzTx/>
              <a:buNone/>
            </a:pPr>
            <a:endParaRPr lang="en-US" sz="2400" spc="-1" dirty="0">
              <a:solidFill>
                <a:srgbClr val="FFFFFF"/>
              </a:solidFill>
              <a:latin typeface="Times New Roman" panose="02020603050405020304"/>
              <a:ea typeface="DejaVu Sans" panose="020B0603030804020204"/>
            </a:endParaRPr>
          </a:p>
          <a:p>
            <a:pPr algn="l">
              <a:buClrTx/>
              <a:buSzTx/>
              <a:buNone/>
            </a:pPr>
            <a:endParaRPr lang="en-US" sz="2400" spc="-1" dirty="0">
              <a:solidFill>
                <a:srgbClr val="FFFFFF"/>
              </a:solidFill>
              <a:latin typeface="Times New Roman" panose="02020603050405020304"/>
              <a:ea typeface="DejaVu Sans" panose="020B0603030804020204"/>
            </a:endParaRPr>
          </a:p>
          <a:p>
            <a:pPr algn="l">
              <a:buClrTx/>
              <a:buSzTx/>
              <a:buNone/>
            </a:pPr>
            <a:endParaRPr lang="en-US" sz="2400" spc="-1" dirty="0">
              <a:solidFill>
                <a:srgbClr val="FFFFFF"/>
              </a:solidFill>
              <a:latin typeface="Times New Roman" panose="02020603050405020304"/>
              <a:ea typeface="DejaVu Sans" panose="020B0603030804020204"/>
            </a:endParaRPr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Built-in Functions  ( </a:t>
            </a:r>
            <a:r>
              <a:rPr lang="en-US" sz="2400" spc="-1" dirty="0">
                <a:solidFill>
                  <a:schemeClr val="accent4"/>
                </a:solidFill>
                <a:latin typeface="Times New Roman" panose="02020603050405020304"/>
                <a:ea typeface="DejaVu Sans" panose="020B0603030804020204"/>
              </a:rPr>
              <a:t>print(), </a:t>
            </a:r>
            <a:r>
              <a:rPr lang="en-US" sz="2400" spc="-1" dirty="0" err="1">
                <a:solidFill>
                  <a:schemeClr val="accent4"/>
                </a:solidFill>
                <a:latin typeface="Times New Roman" panose="02020603050405020304"/>
                <a:ea typeface="DejaVu Sans" panose="020B0603030804020204"/>
              </a:rPr>
              <a:t>len</a:t>
            </a:r>
            <a:r>
              <a:rPr lang="en-US" sz="2400" spc="-1" dirty="0">
                <a:solidFill>
                  <a:schemeClr val="accent4"/>
                </a:solidFill>
                <a:latin typeface="Times New Roman" panose="02020603050405020304"/>
                <a:ea typeface="DejaVu Sans" panose="020B0603030804020204"/>
              </a:rPr>
              <a:t>(), range(), max(), min() </a:t>
            </a:r>
            <a:r>
              <a:rPr lang="en-US" sz="2400" spc="-1" dirty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).</a:t>
            </a:r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User-Defined Functions.</a:t>
            </a:r>
          </a:p>
          <a:p>
            <a:pPr algn="l">
              <a:buClrTx/>
              <a:buSzTx/>
              <a:buNone/>
            </a:pPr>
            <a:endParaRPr sz="2400" spc="-1" dirty="0">
              <a:solidFill>
                <a:srgbClr val="FFFFFF"/>
              </a:solidFill>
              <a:latin typeface="Times New Roman" panose="02020603050405020304"/>
              <a:ea typeface="DejaVu Sans" panose="020B06030308040202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ustomShape 1"/>
          <p:cNvSpPr/>
          <p:nvPr/>
        </p:nvSpPr>
        <p:spPr>
          <a:xfrm>
            <a:off x="407035" y="116840"/>
            <a:ext cx="3566160" cy="106870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endParaRPr lang="en-US" altLang="en-IN" sz="5400" b="1" strike="noStrike" spc="-1">
              <a:solidFill>
                <a:srgbClr val="ED7D31"/>
              </a:solidFill>
              <a:latin typeface="Calibri" panose="020F0502020204030204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96900" y="2004695"/>
            <a:ext cx="9188450" cy="38969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buClrTx/>
              <a:buSzTx/>
              <a:buNone/>
            </a:pPr>
            <a:r>
              <a:rPr lang="en-US" sz="2400" spc="-1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Syntax for Defining function :-</a:t>
            </a:r>
          </a:p>
          <a:p>
            <a:pPr algn="l">
              <a:buClrTx/>
              <a:buSzTx/>
              <a:buNone/>
            </a:pPr>
            <a:endParaRPr sz="2400" spc="-1">
              <a:solidFill>
                <a:srgbClr val="FFFFFF"/>
              </a:solidFill>
              <a:latin typeface="Times New Roman" panose="02020603050405020304"/>
              <a:ea typeface="DejaVu Sans" panose="020B0603030804020204"/>
            </a:endParaRPr>
          </a:p>
          <a:p>
            <a:pPr algn="l">
              <a:buClrTx/>
              <a:buSzTx/>
              <a:buNone/>
            </a:pPr>
            <a:r>
              <a:rPr sz="2400" spc="-1">
                <a:solidFill>
                  <a:schemeClr val="accent4"/>
                </a:solidFill>
                <a:latin typeface="Times New Roman" panose="02020603050405020304"/>
                <a:ea typeface="DejaVu Sans" panose="020B0603030804020204"/>
              </a:rPr>
              <a:t> def function_name(</a:t>
            </a:r>
            <a:r>
              <a:rPr lang="en-US" sz="2400" spc="-1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parameters</a:t>
            </a:r>
            <a:r>
              <a:rPr sz="2400" spc="-1">
                <a:solidFill>
                  <a:schemeClr val="accent4"/>
                </a:solidFill>
                <a:latin typeface="Times New Roman" panose="02020603050405020304"/>
                <a:ea typeface="DejaVu Sans" panose="020B0603030804020204"/>
              </a:rPr>
              <a:t>):</a:t>
            </a:r>
          </a:p>
          <a:p>
            <a:pPr algn="l">
              <a:buClrTx/>
              <a:buSzTx/>
              <a:buNone/>
            </a:pPr>
            <a:r>
              <a:rPr sz="2400" spc="-1">
                <a:solidFill>
                  <a:schemeClr val="accent4"/>
                </a:solidFill>
                <a:latin typeface="Times New Roman" panose="02020603050405020304"/>
                <a:ea typeface="DejaVu Sans" panose="020B0603030804020204"/>
              </a:rPr>
              <a:t>  </a:t>
            </a:r>
            <a:r>
              <a:rPr lang="en-US" sz="2400" spc="-1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  # Code block</a:t>
            </a:r>
          </a:p>
          <a:p>
            <a:pPr algn="l">
              <a:buClrTx/>
              <a:buSzTx/>
              <a:buNone/>
            </a:pPr>
            <a:r>
              <a:rPr lang="en-US" sz="2400" spc="-1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    # ...</a:t>
            </a:r>
          </a:p>
          <a:p>
            <a:pPr algn="l">
              <a:buClrTx/>
              <a:buSzTx/>
              <a:buNone/>
            </a:pPr>
            <a:r>
              <a:rPr sz="2400" spc="-1">
                <a:solidFill>
                  <a:schemeClr val="accent4"/>
                </a:solidFill>
                <a:latin typeface="Times New Roman" panose="02020603050405020304"/>
                <a:ea typeface="DejaVu Sans" panose="020B0603030804020204"/>
              </a:rPr>
              <a:t>    return result</a:t>
            </a:r>
          </a:p>
          <a:p>
            <a:pPr algn="l">
              <a:buClrTx/>
              <a:buSzTx/>
              <a:buNone/>
            </a:pPr>
            <a:endParaRPr sz="2400" spc="-1">
              <a:solidFill>
                <a:schemeClr val="accent4"/>
              </a:solidFill>
              <a:latin typeface="Times New Roman" panose="02020603050405020304"/>
              <a:ea typeface="DejaVu Sans" panose="020B0603030804020204"/>
            </a:endParaRPr>
          </a:p>
          <a:p>
            <a:pPr algn="l">
              <a:buClrTx/>
              <a:buSzTx/>
              <a:buNone/>
            </a:pPr>
            <a:endParaRPr sz="2400" spc="-1">
              <a:solidFill>
                <a:schemeClr val="accent4"/>
              </a:solidFill>
              <a:latin typeface="Times New Roman" panose="02020603050405020304"/>
              <a:ea typeface="DejaVu Sans" panose="020B0603030804020204"/>
            </a:endParaRPr>
          </a:p>
          <a:p>
            <a:pPr algn="l">
              <a:buClrTx/>
              <a:buSzTx/>
              <a:buNone/>
            </a:pPr>
            <a:r>
              <a:rPr lang="en-US" sz="2400" spc="-1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Calling a function</a:t>
            </a:r>
          </a:p>
          <a:p>
            <a:pPr algn="l">
              <a:buClrTx/>
              <a:buSzTx/>
              <a:buNone/>
            </a:pPr>
            <a:r>
              <a:rPr lang="en-US" sz="2400" spc="-1">
                <a:solidFill>
                  <a:schemeClr val="accent4"/>
                </a:solidFill>
                <a:latin typeface="Times New Roman" panose="02020603050405020304"/>
                <a:ea typeface="DejaVu Sans" panose="020B0603030804020204"/>
              </a:rPr>
              <a:t>function_name(</a:t>
            </a:r>
            <a:r>
              <a:rPr lang="en-US" sz="2400" spc="-1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argument</a:t>
            </a:r>
            <a:r>
              <a:rPr lang="en-US" sz="2400" spc="-1">
                <a:solidFill>
                  <a:schemeClr val="accent4"/>
                </a:solidFill>
                <a:latin typeface="Times New Roman" panose="02020603050405020304"/>
                <a:ea typeface="DejaVu Sans" panose="020B0603030804020204"/>
              </a:rPr>
              <a:t>)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473710" y="263525"/>
            <a:ext cx="70669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IN" sz="5400" b="1" spc="-1">
                <a:solidFill>
                  <a:srgbClr val="ED7D31"/>
                </a:solidFill>
                <a:latin typeface="Calibri" panose="020F0502020204030204"/>
                <a:sym typeface="+mn-ea"/>
              </a:rPr>
              <a:t>User-Defined Functions</a:t>
            </a:r>
            <a:endParaRPr lang="en-US" altLang="en-IN" sz="5400" b="1" spc="-1">
              <a:solidFill>
                <a:srgbClr val="ED7D31"/>
              </a:solidFill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ustomShape 1"/>
          <p:cNvSpPr/>
          <p:nvPr/>
        </p:nvSpPr>
        <p:spPr>
          <a:xfrm>
            <a:off x="407035" y="116840"/>
            <a:ext cx="3566160" cy="106870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endParaRPr lang="en-US" altLang="en-IN" sz="5400" b="1" strike="noStrike" spc="-1">
              <a:solidFill>
                <a:srgbClr val="ED7D31"/>
              </a:solidFill>
              <a:latin typeface="Calibri" panose="020F0502020204030204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96900" y="1701165"/>
            <a:ext cx="9188450" cy="4342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buClrTx/>
              <a:buSzTx/>
              <a:buNone/>
            </a:pPr>
            <a:r>
              <a:rPr lang="en-US" sz="2400" spc="-1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An anonymous function in Python is a function without a name. They are also known as "lambda" functions, Lambda functions are typically used for short, simple operations , They are especially useful in situations where you need to pass a function as an argument to another function.</a:t>
            </a:r>
          </a:p>
          <a:p>
            <a:pPr algn="l">
              <a:buClrTx/>
              <a:buSzTx/>
              <a:buNone/>
            </a:pPr>
            <a:endParaRPr lang="en-US" sz="2400" spc="-1">
              <a:solidFill>
                <a:srgbClr val="FFFFFF"/>
              </a:solidFill>
              <a:latin typeface="Times New Roman" panose="02020603050405020304"/>
              <a:ea typeface="DejaVu Sans" panose="020B0603030804020204"/>
            </a:endParaRPr>
          </a:p>
          <a:p>
            <a:pPr algn="l">
              <a:buClrTx/>
              <a:buSzTx/>
              <a:buNone/>
            </a:pPr>
            <a:r>
              <a:rPr lang="en-US" sz="2400" spc="-1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Syntax of Lambda Function :-</a:t>
            </a:r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sz="2400" spc="-1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Times New Roman" panose="02020603050405020304"/>
                <a:ea typeface="DejaVu Sans" panose="020B0603030804020204"/>
              </a:rPr>
              <a:t>lambda</a:t>
            </a:r>
            <a:r>
              <a:rPr lang="en-US" sz="2400" spc="-1">
                <a:solidFill>
                  <a:schemeClr val="accent4"/>
                </a:solidFill>
                <a:latin typeface="Times New Roman" panose="02020603050405020304"/>
                <a:ea typeface="DejaVu Sans" panose="020B0603030804020204"/>
              </a:rPr>
              <a:t> arguments</a:t>
            </a:r>
            <a:r>
              <a:rPr lang="en-US" sz="2400" spc="-1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:</a:t>
            </a:r>
            <a:r>
              <a:rPr lang="en-US" sz="2400" spc="-1">
                <a:solidFill>
                  <a:schemeClr val="accent4"/>
                </a:solidFill>
                <a:latin typeface="Times New Roman" panose="02020603050405020304"/>
                <a:ea typeface="DejaVu Sans" panose="020B0603030804020204"/>
              </a:rPr>
              <a:t> expression</a:t>
            </a:r>
          </a:p>
          <a:p>
            <a:pPr algn="l">
              <a:buClrTx/>
              <a:buSzTx/>
              <a:buNone/>
            </a:pPr>
            <a:endParaRPr lang="en-US" sz="2400" spc="-1">
              <a:solidFill>
                <a:schemeClr val="accent4"/>
              </a:solidFill>
              <a:latin typeface="Times New Roman" panose="02020603050405020304"/>
              <a:ea typeface="DejaVu Sans" panose="020B0603030804020204"/>
            </a:endParaRPr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sz="2400" spc="-1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Times New Roman" panose="02020603050405020304"/>
                <a:ea typeface="DejaVu Sans" panose="020B0603030804020204"/>
              </a:rPr>
              <a:t>lambda</a:t>
            </a:r>
            <a:r>
              <a:rPr lang="en-US" sz="2400" spc="-1">
                <a:solidFill>
                  <a:schemeClr val="accent4"/>
                </a:solidFill>
                <a:latin typeface="Times New Roman" panose="02020603050405020304"/>
                <a:ea typeface="DejaVu Sans" panose="020B0603030804020204"/>
              </a:rPr>
              <a:t> arguments: </a:t>
            </a:r>
            <a:r>
              <a:rPr lang="en-US" sz="2400" spc="-1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/>
                <a:ea typeface="DejaVu Sans" panose="020B0603030804020204"/>
              </a:rPr>
              <a:t>expression_if_true</a:t>
            </a:r>
            <a:r>
              <a:rPr lang="en-US" sz="2400" spc="-1">
                <a:solidFill>
                  <a:schemeClr val="accent4"/>
                </a:solidFill>
                <a:latin typeface="Times New Roman" panose="02020603050405020304"/>
                <a:ea typeface="DejaVu Sans" panose="020B0603030804020204"/>
              </a:rPr>
              <a:t> if condition else </a:t>
            </a:r>
            <a:r>
              <a:rPr lang="en-US" sz="2400" spc="-1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/>
                <a:ea typeface="DejaVu Sans" panose="020B0603030804020204"/>
              </a:rPr>
              <a:t>expression_if_false</a:t>
            </a:r>
          </a:p>
          <a:p>
            <a:pPr indent="0" algn="l">
              <a:buClrTx/>
              <a:buSzTx/>
              <a:buFont typeface="Arial" panose="020B0604020202020204" pitchFamily="34" charset="0"/>
              <a:buNone/>
            </a:pPr>
            <a:endParaRPr lang="en-US" sz="2400" spc="-1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  <a:latin typeface="Times New Roman" panose="02020603050405020304"/>
              <a:ea typeface="DejaVu Sans" panose="020B0603030804020204"/>
            </a:endParaRPr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sz="2400" spc="-1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Times New Roman" panose="02020603050405020304"/>
                <a:ea typeface="DejaVu Sans" panose="020B0603030804020204"/>
              </a:rPr>
              <a:t>check_even</a:t>
            </a:r>
            <a:r>
              <a:rPr lang="en-US" sz="2400" spc="-1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/>
                <a:ea typeface="DejaVu Sans" panose="020B0603030804020204"/>
              </a:rPr>
              <a:t> = </a:t>
            </a:r>
            <a:r>
              <a:rPr lang="en-US" sz="2400" spc="-1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Times New Roman" panose="02020603050405020304"/>
                <a:ea typeface="DejaVu Sans" panose="020B0603030804020204"/>
              </a:rPr>
              <a:t>lambda</a:t>
            </a:r>
            <a:r>
              <a:rPr lang="en-US" sz="2400" spc="-1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/>
                <a:ea typeface="DejaVu Sans" panose="020B0603030804020204"/>
              </a:rPr>
              <a:t> x: </a:t>
            </a:r>
            <a:r>
              <a:rPr lang="en-US" sz="2400" spc="-1">
                <a:solidFill>
                  <a:schemeClr val="bg2">
                    <a:lumMod val="90000"/>
                  </a:schemeClr>
                </a:solidFill>
                <a:latin typeface="Times New Roman" panose="02020603050405020304"/>
                <a:ea typeface="DejaVu Sans" panose="020B0603030804020204"/>
              </a:rPr>
              <a:t>"Even"</a:t>
            </a:r>
            <a:r>
              <a:rPr lang="en-US" sz="2400" spc="-1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/>
                <a:ea typeface="DejaVu Sans" panose="020B0603030804020204"/>
              </a:rPr>
              <a:t> </a:t>
            </a:r>
            <a:r>
              <a:rPr lang="en-US" sz="2400" spc="-1">
                <a:solidFill>
                  <a:schemeClr val="accent4"/>
                </a:solidFill>
                <a:latin typeface="Times New Roman" panose="02020603050405020304"/>
                <a:ea typeface="DejaVu Sans" panose="020B0603030804020204"/>
              </a:rPr>
              <a:t>if x % 2 == 0 else</a:t>
            </a:r>
            <a:r>
              <a:rPr lang="en-US" sz="2400" spc="-1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/>
                <a:ea typeface="DejaVu Sans" panose="020B0603030804020204"/>
              </a:rPr>
              <a:t> </a:t>
            </a:r>
            <a:r>
              <a:rPr lang="en-US" sz="2400" spc="-1">
                <a:solidFill>
                  <a:schemeClr val="bg2">
                    <a:lumMod val="90000"/>
                  </a:schemeClr>
                </a:solidFill>
                <a:latin typeface="Times New Roman" panose="02020603050405020304"/>
                <a:ea typeface="DejaVu Sans" panose="020B0603030804020204"/>
              </a:rPr>
              <a:t>"Odd"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473710" y="263525"/>
            <a:ext cx="70669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IN" sz="5400" b="1" spc="-1">
                <a:solidFill>
                  <a:srgbClr val="ED7D31"/>
                </a:solidFill>
                <a:latin typeface="Calibri" panose="020F0502020204030204"/>
                <a:sym typeface="+mn-ea"/>
              </a:rPr>
              <a:t>Anonymous Function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ustomShape 1"/>
          <p:cNvSpPr/>
          <p:nvPr/>
        </p:nvSpPr>
        <p:spPr>
          <a:xfrm>
            <a:off x="407035" y="116840"/>
            <a:ext cx="3566160" cy="106870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endParaRPr lang="en-US" altLang="en-IN" sz="5400" b="1" strike="noStrike" spc="-1">
              <a:solidFill>
                <a:srgbClr val="ED7D31"/>
              </a:solidFill>
              <a:latin typeface="Calibri" panose="020F0502020204030204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96900" y="1701165"/>
            <a:ext cx="9188450" cy="4883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buClrTx/>
              <a:buSzTx/>
              <a:buNone/>
            </a:pPr>
            <a:r>
              <a:rPr lang="en-US" sz="2400" spc="-1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The </a:t>
            </a:r>
            <a:r>
              <a:rPr lang="en-US" sz="2400" spc="-1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map()</a:t>
            </a:r>
            <a:r>
              <a:rPr lang="en-US" sz="2400" spc="-1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 function in Python is used to apply a specified function to each item in an iterable (like a list) and return an iterator of the results.</a:t>
            </a:r>
          </a:p>
          <a:p>
            <a:pPr algn="l">
              <a:buClrTx/>
              <a:buSzTx/>
              <a:buNone/>
            </a:pPr>
            <a:r>
              <a:rPr lang="en-US" sz="2400" spc="-1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Syntax of Lambda Function :-</a:t>
            </a:r>
          </a:p>
          <a:p>
            <a:pPr algn="l">
              <a:buClrTx/>
              <a:buSzTx/>
              <a:buNone/>
            </a:pPr>
            <a:endParaRPr lang="en-US" sz="2400" spc="-1">
              <a:solidFill>
                <a:srgbClr val="FFFFFF"/>
              </a:solidFill>
              <a:latin typeface="Times New Roman" panose="02020603050405020304"/>
              <a:ea typeface="DejaVu Sans" panose="020B0603030804020204"/>
            </a:endParaRPr>
          </a:p>
          <a:p>
            <a:pPr indent="0" algn="l">
              <a:buClrTx/>
              <a:buSzTx/>
              <a:buFont typeface="Arial" panose="020B0604020202020204" pitchFamily="34" charset="0"/>
              <a:buNone/>
            </a:pPr>
            <a:r>
              <a:rPr lang="en-US" sz="2400" spc="-1">
                <a:solidFill>
                  <a:schemeClr val="bg2">
                    <a:lumMod val="90000"/>
                  </a:schemeClr>
                </a:solidFill>
                <a:latin typeface="Times New Roman" panose="02020603050405020304"/>
                <a:ea typeface="DejaVu Sans" panose="020B0603030804020204"/>
              </a:rPr>
              <a:t># Define a list of numbers</a:t>
            </a:r>
          </a:p>
          <a:p>
            <a:pPr indent="0" algn="l">
              <a:buClrTx/>
              <a:buSzTx/>
              <a:buFont typeface="Arial" panose="020B0604020202020204" pitchFamily="34" charset="0"/>
              <a:buNone/>
            </a:pPr>
            <a:r>
              <a:rPr lang="en-US" sz="2400" spc="-1">
                <a:solidFill>
                  <a:schemeClr val="bg2">
                    <a:lumMod val="90000"/>
                  </a:schemeClr>
                </a:solidFill>
                <a:latin typeface="Times New Roman" panose="02020603050405020304"/>
                <a:ea typeface="DejaVu Sans" panose="020B0603030804020204"/>
              </a:rPr>
              <a:t>numbers = </a:t>
            </a:r>
            <a:r>
              <a:rPr lang="en-US" sz="2400" spc="-1">
                <a:solidFill>
                  <a:srgbClr val="FF0000"/>
                </a:solidFill>
                <a:latin typeface="Times New Roman" panose="02020603050405020304"/>
                <a:ea typeface="DejaVu Sans" panose="020B0603030804020204"/>
              </a:rPr>
              <a:t>[</a:t>
            </a:r>
            <a:r>
              <a:rPr lang="en-US" sz="2400" spc="-1">
                <a:solidFill>
                  <a:schemeClr val="bg2">
                    <a:lumMod val="90000"/>
                  </a:schemeClr>
                </a:solidFill>
                <a:latin typeface="Times New Roman" panose="02020603050405020304"/>
                <a:ea typeface="DejaVu Sans" panose="020B0603030804020204"/>
              </a:rPr>
              <a:t>1, 2, 3, 4, 5</a:t>
            </a:r>
            <a:r>
              <a:rPr lang="en-US" sz="2400" spc="-1">
                <a:solidFill>
                  <a:srgbClr val="FF0000"/>
                </a:solidFill>
                <a:latin typeface="Times New Roman" panose="02020603050405020304"/>
                <a:ea typeface="DejaVu Sans" panose="020B0603030804020204"/>
              </a:rPr>
              <a:t>]</a:t>
            </a:r>
            <a:endParaRPr lang="en-US" sz="2400" spc="-1">
              <a:solidFill>
                <a:schemeClr val="bg2">
                  <a:lumMod val="90000"/>
                </a:schemeClr>
              </a:solidFill>
              <a:latin typeface="Times New Roman" panose="02020603050405020304"/>
              <a:ea typeface="DejaVu Sans" panose="020B0603030804020204"/>
            </a:endParaRPr>
          </a:p>
          <a:p>
            <a:pPr indent="0" algn="l">
              <a:buClrTx/>
              <a:buSzTx/>
              <a:buFont typeface="Arial" panose="020B0604020202020204" pitchFamily="34" charset="0"/>
              <a:buNone/>
            </a:pPr>
            <a:endParaRPr lang="en-US" sz="2400" spc="-1">
              <a:solidFill>
                <a:schemeClr val="bg2">
                  <a:lumMod val="90000"/>
                </a:schemeClr>
              </a:solidFill>
              <a:latin typeface="Times New Roman" panose="02020603050405020304"/>
              <a:ea typeface="DejaVu Sans" panose="020B0603030804020204"/>
            </a:endParaRPr>
          </a:p>
          <a:p>
            <a:pPr indent="0" algn="l">
              <a:buClrTx/>
              <a:buSzTx/>
              <a:buFont typeface="Arial" panose="020B0604020202020204" pitchFamily="34" charset="0"/>
              <a:buNone/>
            </a:pPr>
            <a:r>
              <a:rPr lang="en-US" sz="2400" spc="-1">
                <a:solidFill>
                  <a:schemeClr val="bg2">
                    <a:lumMod val="90000"/>
                  </a:schemeClr>
                </a:solidFill>
                <a:latin typeface="Times New Roman" panose="02020603050405020304"/>
                <a:ea typeface="DejaVu Sans" panose="020B0603030804020204"/>
              </a:rPr>
              <a:t># Define a function that squares a number</a:t>
            </a:r>
          </a:p>
          <a:p>
            <a:pPr indent="0" algn="l">
              <a:buClrTx/>
              <a:buSzTx/>
              <a:buFont typeface="Arial" panose="020B0604020202020204" pitchFamily="34" charset="0"/>
              <a:buNone/>
            </a:pPr>
            <a:r>
              <a:rPr lang="en-US" sz="2400" spc="-1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def </a:t>
            </a:r>
            <a:r>
              <a:rPr lang="en-US" sz="2400" spc="-1">
                <a:solidFill>
                  <a:schemeClr val="bg2">
                    <a:lumMod val="90000"/>
                  </a:schemeClr>
                </a:solidFill>
                <a:latin typeface="Times New Roman" panose="02020603050405020304"/>
                <a:ea typeface="DejaVu Sans" panose="020B0603030804020204"/>
              </a:rPr>
              <a:t>square(x):</a:t>
            </a:r>
          </a:p>
          <a:p>
            <a:pPr indent="0" algn="l">
              <a:buClrTx/>
              <a:buSzTx/>
              <a:buFont typeface="Arial" panose="020B0604020202020204" pitchFamily="34" charset="0"/>
              <a:buNone/>
            </a:pPr>
            <a:r>
              <a:rPr lang="en-US" sz="2400" spc="-1">
                <a:solidFill>
                  <a:schemeClr val="bg2">
                    <a:lumMod val="90000"/>
                  </a:schemeClr>
                </a:solidFill>
                <a:latin typeface="Times New Roman" panose="02020603050405020304"/>
                <a:ea typeface="DejaVu Sans" panose="020B0603030804020204"/>
              </a:rPr>
              <a:t>    </a:t>
            </a:r>
            <a:r>
              <a:rPr lang="en-US" sz="2400" spc="-1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return</a:t>
            </a:r>
            <a:r>
              <a:rPr lang="en-US" sz="2400" spc="-1">
                <a:solidFill>
                  <a:schemeClr val="bg2">
                    <a:lumMod val="90000"/>
                  </a:schemeClr>
                </a:solidFill>
                <a:latin typeface="Times New Roman" panose="02020603050405020304"/>
                <a:ea typeface="DejaVu Sans" panose="020B0603030804020204"/>
              </a:rPr>
              <a:t> x ** 2</a:t>
            </a:r>
          </a:p>
          <a:p>
            <a:pPr indent="0" algn="l">
              <a:buClrTx/>
              <a:buSzTx/>
              <a:buFont typeface="Arial" panose="020B0604020202020204" pitchFamily="34" charset="0"/>
              <a:buNone/>
            </a:pPr>
            <a:endParaRPr lang="en-US" sz="2400" spc="-1">
              <a:solidFill>
                <a:schemeClr val="bg2">
                  <a:lumMod val="90000"/>
                </a:schemeClr>
              </a:solidFill>
              <a:latin typeface="Times New Roman" panose="02020603050405020304"/>
              <a:ea typeface="DejaVu Sans" panose="020B0603030804020204"/>
            </a:endParaRPr>
          </a:p>
          <a:p>
            <a:pPr indent="0" algn="l">
              <a:buClrTx/>
              <a:buSzTx/>
              <a:buFont typeface="Arial" panose="020B0604020202020204" pitchFamily="34" charset="0"/>
              <a:buNone/>
            </a:pPr>
            <a:r>
              <a:rPr lang="en-US" sz="2400" spc="-1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squared_numbers</a:t>
            </a:r>
            <a:r>
              <a:rPr lang="en-US" sz="2400" spc="-1">
                <a:solidFill>
                  <a:schemeClr val="bg2">
                    <a:lumMod val="90000"/>
                  </a:schemeClr>
                </a:solidFill>
                <a:latin typeface="Times New Roman" panose="02020603050405020304"/>
                <a:ea typeface="DejaVu Sans" panose="020B0603030804020204"/>
              </a:rPr>
              <a:t> = </a:t>
            </a:r>
            <a:r>
              <a:rPr lang="en-US" sz="2400" spc="-1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map</a:t>
            </a:r>
            <a:r>
              <a:rPr lang="en-US" sz="2400" spc="-1">
                <a:solidFill>
                  <a:schemeClr val="bg2">
                    <a:lumMod val="90000"/>
                  </a:schemeClr>
                </a:solidFill>
                <a:latin typeface="Times New Roman" panose="02020603050405020304"/>
                <a:ea typeface="DejaVu Sans" panose="020B0603030804020204"/>
              </a:rPr>
              <a:t>(square, numbers)</a:t>
            </a:r>
          </a:p>
          <a:p>
            <a:pPr indent="0" algn="l">
              <a:buClrTx/>
              <a:buSzTx/>
              <a:buFont typeface="Arial" panose="020B0604020202020204" pitchFamily="34" charset="0"/>
              <a:buNone/>
            </a:pPr>
            <a:r>
              <a:rPr lang="en-US" sz="2400" spc="-1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squared_numbers_list</a:t>
            </a:r>
            <a:r>
              <a:rPr lang="en-US" sz="2400" spc="-1">
                <a:solidFill>
                  <a:schemeClr val="bg2">
                    <a:lumMod val="90000"/>
                  </a:schemeClr>
                </a:solidFill>
                <a:latin typeface="Times New Roman" panose="02020603050405020304"/>
                <a:ea typeface="DejaVu Sans" panose="020B0603030804020204"/>
              </a:rPr>
              <a:t> = </a:t>
            </a:r>
            <a:r>
              <a:rPr lang="en-US" sz="2400" spc="-1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list</a:t>
            </a:r>
            <a:r>
              <a:rPr lang="en-US" sz="2400" spc="-1">
                <a:solidFill>
                  <a:schemeClr val="bg2">
                    <a:lumMod val="90000"/>
                  </a:schemeClr>
                </a:solidFill>
                <a:latin typeface="Times New Roman" panose="02020603050405020304"/>
                <a:ea typeface="DejaVu Sans" panose="020B0603030804020204"/>
              </a:rPr>
              <a:t>(squared_numbers)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473710" y="263525"/>
            <a:ext cx="25253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IN" sz="5400" b="1" spc="-1">
                <a:solidFill>
                  <a:srgbClr val="ED7D31"/>
                </a:solidFill>
                <a:latin typeface="Calibri" panose="020F0502020204030204"/>
                <a:sym typeface="+mn-ea"/>
              </a:rPr>
              <a:t>Map()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ustomShape 1"/>
          <p:cNvSpPr/>
          <p:nvPr/>
        </p:nvSpPr>
        <p:spPr>
          <a:xfrm>
            <a:off x="407035" y="116840"/>
            <a:ext cx="3566160" cy="106870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endParaRPr lang="en-US" altLang="en-IN" sz="5400" b="1" strike="noStrike" spc="-1">
              <a:solidFill>
                <a:srgbClr val="ED7D31"/>
              </a:solidFill>
              <a:latin typeface="Calibri" panose="020F0502020204030204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96900" y="1557020"/>
            <a:ext cx="9188450" cy="4883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buClrTx/>
              <a:buSzTx/>
              <a:buNone/>
            </a:pPr>
            <a:r>
              <a:rPr lang="en-US" sz="2400" spc="-1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The filter() function in Python is used to construct an iterator from elements of an iterable for which a function returns true. :-</a:t>
            </a:r>
          </a:p>
          <a:p>
            <a:pPr algn="l">
              <a:buClrTx/>
              <a:buSzTx/>
              <a:buNone/>
            </a:pPr>
            <a:endParaRPr lang="en-US" sz="2400" spc="-1">
              <a:solidFill>
                <a:srgbClr val="FFFFFF"/>
              </a:solidFill>
              <a:latin typeface="Times New Roman" panose="02020603050405020304"/>
              <a:ea typeface="DejaVu Sans" panose="020B0603030804020204"/>
            </a:endParaRPr>
          </a:p>
          <a:p>
            <a:pPr indent="0" algn="l">
              <a:buClrTx/>
              <a:buSzTx/>
              <a:buFont typeface="Arial" panose="020B0604020202020204" pitchFamily="34" charset="0"/>
              <a:buNone/>
            </a:pPr>
            <a:r>
              <a:rPr lang="en-US" sz="2400" spc="-1">
                <a:solidFill>
                  <a:schemeClr val="bg2">
                    <a:lumMod val="90000"/>
                  </a:schemeClr>
                </a:solidFill>
                <a:latin typeface="Times New Roman" panose="02020603050405020304"/>
                <a:ea typeface="DejaVu Sans" panose="020B0603030804020204"/>
              </a:rPr>
              <a:t># Define a list of numbers</a:t>
            </a:r>
          </a:p>
          <a:p>
            <a:pPr indent="0" algn="l">
              <a:buClrTx/>
              <a:buSzTx/>
              <a:buFont typeface="Arial" panose="020B0604020202020204" pitchFamily="34" charset="0"/>
              <a:buNone/>
            </a:pPr>
            <a:r>
              <a:rPr lang="en-US" sz="2400" spc="-1">
                <a:solidFill>
                  <a:schemeClr val="bg2">
                    <a:lumMod val="90000"/>
                  </a:schemeClr>
                </a:solidFill>
                <a:latin typeface="Times New Roman" panose="02020603050405020304"/>
                <a:ea typeface="DejaVu Sans" panose="020B0603030804020204"/>
              </a:rPr>
              <a:t>numbers = </a:t>
            </a:r>
            <a:r>
              <a:rPr lang="en-US" sz="2400" spc="-1">
                <a:solidFill>
                  <a:srgbClr val="FF0000"/>
                </a:solidFill>
                <a:latin typeface="Times New Roman" panose="02020603050405020304"/>
                <a:ea typeface="DejaVu Sans" panose="020B0603030804020204"/>
              </a:rPr>
              <a:t>[</a:t>
            </a:r>
            <a:r>
              <a:rPr lang="en-US" sz="2400" spc="-1">
                <a:solidFill>
                  <a:schemeClr val="bg2">
                    <a:lumMod val="90000"/>
                  </a:schemeClr>
                </a:solidFill>
                <a:latin typeface="Times New Roman" panose="02020603050405020304"/>
                <a:ea typeface="DejaVu Sans" panose="020B0603030804020204"/>
              </a:rPr>
              <a:t>1, 2, 3, 4, 5</a:t>
            </a:r>
            <a:r>
              <a:rPr lang="en-US" sz="2400" spc="-1">
                <a:solidFill>
                  <a:srgbClr val="FF0000"/>
                </a:solidFill>
                <a:latin typeface="Times New Roman" panose="02020603050405020304"/>
                <a:ea typeface="DejaVu Sans" panose="020B0603030804020204"/>
              </a:rPr>
              <a:t>]</a:t>
            </a:r>
            <a:endParaRPr lang="en-US" sz="2400" spc="-1">
              <a:solidFill>
                <a:schemeClr val="bg2">
                  <a:lumMod val="90000"/>
                </a:schemeClr>
              </a:solidFill>
              <a:latin typeface="Times New Roman" panose="02020603050405020304"/>
              <a:ea typeface="DejaVu Sans" panose="020B0603030804020204"/>
            </a:endParaRPr>
          </a:p>
          <a:p>
            <a:pPr indent="0" algn="l">
              <a:buClrTx/>
              <a:buSzTx/>
              <a:buFont typeface="Arial" panose="020B0604020202020204" pitchFamily="34" charset="0"/>
              <a:buNone/>
            </a:pPr>
            <a:endParaRPr lang="en-US" sz="2400" spc="-1">
              <a:solidFill>
                <a:schemeClr val="bg2">
                  <a:lumMod val="90000"/>
                </a:schemeClr>
              </a:solidFill>
              <a:latin typeface="Times New Roman" panose="02020603050405020304"/>
              <a:ea typeface="DejaVu Sans" panose="020B0603030804020204"/>
            </a:endParaRPr>
          </a:p>
          <a:p>
            <a:pPr indent="0" algn="l">
              <a:buClrTx/>
              <a:buSzTx/>
              <a:buFont typeface="Arial" panose="020B0604020202020204" pitchFamily="34" charset="0"/>
              <a:buNone/>
            </a:pPr>
            <a:r>
              <a:rPr lang="en-US" sz="2400" spc="-1">
                <a:solidFill>
                  <a:schemeClr val="bg2">
                    <a:lumMod val="90000"/>
                  </a:schemeClr>
                </a:solidFill>
                <a:latin typeface="Times New Roman" panose="02020603050405020304"/>
                <a:ea typeface="DejaVu Sans" panose="020B0603030804020204"/>
              </a:rPr>
              <a:t># Define a function that squares a number</a:t>
            </a:r>
          </a:p>
          <a:p>
            <a:pPr indent="0" algn="l">
              <a:buClrTx/>
              <a:buSzTx/>
              <a:buFont typeface="Arial" panose="020B0604020202020204" pitchFamily="34" charset="0"/>
              <a:buNone/>
            </a:pPr>
            <a:endParaRPr lang="en-US" sz="2400" spc="-1">
              <a:solidFill>
                <a:schemeClr val="bg2">
                  <a:lumMod val="90000"/>
                </a:schemeClr>
              </a:solidFill>
              <a:latin typeface="Times New Roman" panose="02020603050405020304"/>
              <a:ea typeface="DejaVu Sans" panose="020B0603030804020204"/>
            </a:endParaRPr>
          </a:p>
          <a:p>
            <a:pPr indent="0" algn="l">
              <a:buClrTx/>
              <a:buSzTx/>
              <a:buFont typeface="Arial" panose="020B0604020202020204" pitchFamily="34" charset="0"/>
              <a:buNone/>
            </a:pPr>
            <a:r>
              <a:rPr lang="en-US" sz="2400" spc="-1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def </a:t>
            </a:r>
            <a:r>
              <a:rPr lang="en-US" sz="2400" spc="-1">
                <a:solidFill>
                  <a:schemeClr val="bg2">
                    <a:lumMod val="90000"/>
                  </a:schemeClr>
                </a:solidFill>
                <a:latin typeface="Times New Roman" panose="02020603050405020304"/>
                <a:ea typeface="DejaVu Sans" panose="020B0603030804020204"/>
              </a:rPr>
              <a:t>even(x):</a:t>
            </a:r>
          </a:p>
          <a:p>
            <a:pPr indent="0" algn="l">
              <a:buClrTx/>
              <a:buSzTx/>
              <a:buFont typeface="Arial" panose="020B0604020202020204" pitchFamily="34" charset="0"/>
              <a:buNone/>
            </a:pPr>
            <a:r>
              <a:rPr lang="en-US" sz="2400" spc="-1">
                <a:solidFill>
                  <a:schemeClr val="bg2">
                    <a:lumMod val="90000"/>
                  </a:schemeClr>
                </a:solidFill>
                <a:latin typeface="Times New Roman" panose="02020603050405020304"/>
                <a:ea typeface="DejaVu Sans" panose="020B0603030804020204"/>
              </a:rPr>
              <a:t>    </a:t>
            </a:r>
            <a:r>
              <a:rPr lang="en-US" sz="2400" spc="-1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return</a:t>
            </a:r>
            <a:r>
              <a:rPr lang="en-US" sz="2400" spc="-1">
                <a:solidFill>
                  <a:schemeClr val="bg2">
                    <a:lumMod val="90000"/>
                  </a:schemeClr>
                </a:solidFill>
                <a:latin typeface="Times New Roman" panose="02020603050405020304"/>
                <a:ea typeface="DejaVu Sans" panose="020B0603030804020204"/>
              </a:rPr>
              <a:t> x%2==0</a:t>
            </a:r>
          </a:p>
          <a:p>
            <a:pPr indent="0" algn="l">
              <a:buClrTx/>
              <a:buSzTx/>
              <a:buFont typeface="Arial" panose="020B0604020202020204" pitchFamily="34" charset="0"/>
              <a:buNone/>
            </a:pPr>
            <a:r>
              <a:rPr lang="en-US" sz="2400" spc="-1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filter_numbers</a:t>
            </a:r>
            <a:r>
              <a:rPr lang="en-US" sz="2400" spc="-1">
                <a:solidFill>
                  <a:schemeClr val="bg2">
                    <a:lumMod val="90000"/>
                  </a:schemeClr>
                </a:solidFill>
                <a:latin typeface="Times New Roman" panose="02020603050405020304"/>
                <a:ea typeface="DejaVu Sans" panose="020B0603030804020204"/>
              </a:rPr>
              <a:t> = filter(even, numbers)</a:t>
            </a:r>
          </a:p>
          <a:p>
            <a:pPr indent="0" algn="l">
              <a:buClrTx/>
              <a:buSzTx/>
              <a:buFont typeface="Arial" panose="020B0604020202020204" pitchFamily="34" charset="0"/>
              <a:buNone/>
            </a:pPr>
            <a:r>
              <a:rPr lang="en-US" sz="2400" spc="-1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filter_numbers_list</a:t>
            </a:r>
            <a:r>
              <a:rPr lang="en-US" sz="2400" spc="-1">
                <a:solidFill>
                  <a:schemeClr val="bg2">
                    <a:lumMod val="90000"/>
                  </a:schemeClr>
                </a:solidFill>
                <a:latin typeface="Times New Roman" panose="02020603050405020304"/>
                <a:ea typeface="DejaVu Sans" panose="020B0603030804020204"/>
              </a:rPr>
              <a:t> = </a:t>
            </a:r>
            <a:r>
              <a:rPr lang="en-US" sz="2400" spc="-1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list</a:t>
            </a:r>
            <a:r>
              <a:rPr lang="en-US" sz="2400" spc="-1">
                <a:solidFill>
                  <a:schemeClr val="bg2">
                    <a:lumMod val="90000"/>
                  </a:schemeClr>
                </a:solidFill>
                <a:latin typeface="Times New Roman" panose="02020603050405020304"/>
                <a:ea typeface="DejaVu Sans" panose="020B0603030804020204"/>
              </a:rPr>
              <a:t>(filter_numbers)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473710" y="263525"/>
            <a:ext cx="25253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IN" sz="5400" b="1" spc="-1">
                <a:solidFill>
                  <a:srgbClr val="ED7D31"/>
                </a:solidFill>
                <a:latin typeface="Calibri" panose="020F0502020204030204"/>
                <a:sym typeface="+mn-ea"/>
              </a:rPr>
              <a:t>Filter()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ustomShape 1"/>
          <p:cNvSpPr/>
          <p:nvPr/>
        </p:nvSpPr>
        <p:spPr>
          <a:xfrm>
            <a:off x="407035" y="116840"/>
            <a:ext cx="3566160" cy="106870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endParaRPr lang="en-US" altLang="en-IN" sz="5400" b="1" strike="noStrike" spc="-1">
              <a:solidFill>
                <a:srgbClr val="ED7D31"/>
              </a:solidFill>
              <a:latin typeface="Calibri" panose="020F0502020204030204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96900" y="1557020"/>
            <a:ext cx="9188450" cy="4883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buClrTx/>
              <a:buSzTx/>
              <a:buNone/>
            </a:pPr>
            <a:r>
              <a:rPr lang="en-US" sz="2400" spc="-1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The filter() function in Python is used to construct an iterator from elements of an iterable for which a function returns true. :-</a:t>
            </a:r>
          </a:p>
          <a:p>
            <a:pPr algn="l">
              <a:buClrTx/>
              <a:buSzTx/>
              <a:buNone/>
            </a:pPr>
            <a:endParaRPr lang="en-US" sz="2400" spc="-1">
              <a:solidFill>
                <a:srgbClr val="FFFFFF"/>
              </a:solidFill>
              <a:latin typeface="Times New Roman" panose="02020603050405020304"/>
              <a:ea typeface="DejaVu Sans" panose="020B0603030804020204"/>
            </a:endParaRPr>
          </a:p>
          <a:p>
            <a:pPr indent="0" algn="l">
              <a:buClrTx/>
              <a:buSzTx/>
              <a:buFont typeface="Arial" panose="020B0604020202020204" pitchFamily="34" charset="0"/>
              <a:buNone/>
            </a:pPr>
            <a:r>
              <a:rPr lang="en-US" sz="2400" spc="-1">
                <a:solidFill>
                  <a:schemeClr val="bg2">
                    <a:lumMod val="90000"/>
                  </a:schemeClr>
                </a:solidFill>
                <a:latin typeface="Times New Roman" panose="02020603050405020304"/>
                <a:ea typeface="DejaVu Sans" panose="020B0603030804020204"/>
              </a:rPr>
              <a:t># Define a list of numbers</a:t>
            </a:r>
          </a:p>
          <a:p>
            <a:pPr indent="0" algn="l">
              <a:buClrTx/>
              <a:buSzTx/>
              <a:buFont typeface="Arial" panose="020B0604020202020204" pitchFamily="34" charset="0"/>
              <a:buNone/>
            </a:pPr>
            <a:r>
              <a:rPr lang="en-US" sz="2400" spc="-1">
                <a:solidFill>
                  <a:schemeClr val="bg2">
                    <a:lumMod val="90000"/>
                  </a:schemeClr>
                </a:solidFill>
                <a:latin typeface="Times New Roman" panose="02020603050405020304"/>
                <a:ea typeface="DejaVu Sans" panose="020B0603030804020204"/>
              </a:rPr>
              <a:t>numbers = </a:t>
            </a:r>
            <a:r>
              <a:rPr lang="en-US" sz="2400" spc="-1">
                <a:solidFill>
                  <a:srgbClr val="FF0000"/>
                </a:solidFill>
                <a:latin typeface="Times New Roman" panose="02020603050405020304"/>
                <a:ea typeface="DejaVu Sans" panose="020B0603030804020204"/>
              </a:rPr>
              <a:t>[</a:t>
            </a:r>
            <a:r>
              <a:rPr lang="en-US" sz="2400" spc="-1">
                <a:solidFill>
                  <a:schemeClr val="bg2">
                    <a:lumMod val="90000"/>
                  </a:schemeClr>
                </a:solidFill>
                <a:latin typeface="Times New Roman" panose="02020603050405020304"/>
                <a:ea typeface="DejaVu Sans" panose="020B0603030804020204"/>
              </a:rPr>
              <a:t>1, 2, 3, 4, 5</a:t>
            </a:r>
            <a:r>
              <a:rPr lang="en-US" sz="2400" spc="-1">
                <a:solidFill>
                  <a:srgbClr val="FF0000"/>
                </a:solidFill>
                <a:latin typeface="Times New Roman" panose="02020603050405020304"/>
                <a:ea typeface="DejaVu Sans" panose="020B0603030804020204"/>
              </a:rPr>
              <a:t>]</a:t>
            </a:r>
            <a:endParaRPr lang="en-US" sz="2400" spc="-1">
              <a:solidFill>
                <a:schemeClr val="bg2">
                  <a:lumMod val="90000"/>
                </a:schemeClr>
              </a:solidFill>
              <a:latin typeface="Times New Roman" panose="02020603050405020304"/>
              <a:ea typeface="DejaVu Sans" panose="020B0603030804020204"/>
            </a:endParaRPr>
          </a:p>
          <a:p>
            <a:pPr indent="0" algn="l">
              <a:buClrTx/>
              <a:buSzTx/>
              <a:buFont typeface="Arial" panose="020B0604020202020204" pitchFamily="34" charset="0"/>
              <a:buNone/>
            </a:pPr>
            <a:endParaRPr lang="en-US" sz="2400" spc="-1">
              <a:solidFill>
                <a:schemeClr val="bg2">
                  <a:lumMod val="90000"/>
                </a:schemeClr>
              </a:solidFill>
              <a:latin typeface="Times New Roman" panose="02020603050405020304"/>
              <a:ea typeface="DejaVu Sans" panose="020B0603030804020204"/>
            </a:endParaRPr>
          </a:p>
          <a:p>
            <a:pPr indent="0" algn="l">
              <a:buClrTx/>
              <a:buSzTx/>
              <a:buFont typeface="Arial" panose="020B0604020202020204" pitchFamily="34" charset="0"/>
              <a:buNone/>
            </a:pPr>
            <a:r>
              <a:rPr lang="en-US" sz="2400" spc="-1">
                <a:solidFill>
                  <a:schemeClr val="bg2">
                    <a:lumMod val="90000"/>
                  </a:schemeClr>
                </a:solidFill>
                <a:latin typeface="Times New Roman" panose="02020603050405020304"/>
                <a:ea typeface="DejaVu Sans" panose="020B0603030804020204"/>
              </a:rPr>
              <a:t># Define a function that squares a number</a:t>
            </a:r>
          </a:p>
          <a:p>
            <a:pPr indent="0" algn="l">
              <a:buClrTx/>
              <a:buSzTx/>
              <a:buFont typeface="Arial" panose="020B0604020202020204" pitchFamily="34" charset="0"/>
              <a:buNone/>
            </a:pPr>
            <a:endParaRPr lang="en-US" sz="2400" spc="-1">
              <a:solidFill>
                <a:schemeClr val="bg2">
                  <a:lumMod val="90000"/>
                </a:schemeClr>
              </a:solidFill>
              <a:latin typeface="Times New Roman" panose="02020603050405020304"/>
              <a:ea typeface="DejaVu Sans" panose="020B0603030804020204"/>
            </a:endParaRPr>
          </a:p>
          <a:p>
            <a:pPr indent="0" algn="l">
              <a:buClrTx/>
              <a:buSzTx/>
              <a:buFont typeface="Arial" panose="020B0604020202020204" pitchFamily="34" charset="0"/>
              <a:buNone/>
            </a:pPr>
            <a:r>
              <a:rPr lang="en-US" sz="2400" spc="-1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def </a:t>
            </a:r>
            <a:r>
              <a:rPr lang="en-US" sz="2400" spc="-1">
                <a:solidFill>
                  <a:schemeClr val="bg2">
                    <a:lumMod val="90000"/>
                  </a:schemeClr>
                </a:solidFill>
                <a:latin typeface="Times New Roman" panose="02020603050405020304"/>
                <a:ea typeface="DejaVu Sans" panose="020B0603030804020204"/>
              </a:rPr>
              <a:t>even(x):</a:t>
            </a:r>
          </a:p>
          <a:p>
            <a:pPr indent="0" algn="l">
              <a:buClrTx/>
              <a:buSzTx/>
              <a:buFont typeface="Arial" panose="020B0604020202020204" pitchFamily="34" charset="0"/>
              <a:buNone/>
            </a:pPr>
            <a:r>
              <a:rPr lang="en-US" sz="2400" spc="-1">
                <a:solidFill>
                  <a:schemeClr val="bg2">
                    <a:lumMod val="90000"/>
                  </a:schemeClr>
                </a:solidFill>
                <a:latin typeface="Times New Roman" panose="02020603050405020304"/>
                <a:ea typeface="DejaVu Sans" panose="020B0603030804020204"/>
              </a:rPr>
              <a:t>    </a:t>
            </a:r>
            <a:r>
              <a:rPr lang="en-US" sz="2400" spc="-1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return</a:t>
            </a:r>
            <a:r>
              <a:rPr lang="en-US" sz="2400" spc="-1">
                <a:solidFill>
                  <a:schemeClr val="bg2">
                    <a:lumMod val="90000"/>
                  </a:schemeClr>
                </a:solidFill>
                <a:latin typeface="Times New Roman" panose="02020603050405020304"/>
                <a:ea typeface="DejaVu Sans" panose="020B0603030804020204"/>
              </a:rPr>
              <a:t> x%2==0</a:t>
            </a:r>
          </a:p>
          <a:p>
            <a:pPr indent="0" algn="l">
              <a:buClrTx/>
              <a:buSzTx/>
              <a:buFont typeface="Arial" panose="020B0604020202020204" pitchFamily="34" charset="0"/>
              <a:buNone/>
            </a:pPr>
            <a:r>
              <a:rPr lang="en-US" sz="2400" spc="-1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filter_numbers</a:t>
            </a:r>
            <a:r>
              <a:rPr lang="en-US" sz="2400" spc="-1">
                <a:solidFill>
                  <a:schemeClr val="bg2">
                    <a:lumMod val="90000"/>
                  </a:schemeClr>
                </a:solidFill>
                <a:latin typeface="Times New Roman" panose="02020603050405020304"/>
                <a:ea typeface="DejaVu Sans" panose="020B0603030804020204"/>
              </a:rPr>
              <a:t> = filter(even, numbers)</a:t>
            </a:r>
          </a:p>
          <a:p>
            <a:pPr indent="0" algn="l">
              <a:buClrTx/>
              <a:buSzTx/>
              <a:buFont typeface="Arial" panose="020B0604020202020204" pitchFamily="34" charset="0"/>
              <a:buNone/>
            </a:pPr>
            <a:r>
              <a:rPr lang="en-US" sz="2400" spc="-1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filter_numbers_list</a:t>
            </a:r>
            <a:r>
              <a:rPr lang="en-US" sz="2400" spc="-1">
                <a:solidFill>
                  <a:schemeClr val="bg2">
                    <a:lumMod val="90000"/>
                  </a:schemeClr>
                </a:solidFill>
                <a:latin typeface="Times New Roman" panose="02020603050405020304"/>
                <a:ea typeface="DejaVu Sans" panose="020B0603030804020204"/>
              </a:rPr>
              <a:t> = </a:t>
            </a:r>
            <a:r>
              <a:rPr lang="en-US" sz="2400" spc="-1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list</a:t>
            </a:r>
            <a:r>
              <a:rPr lang="en-US" sz="2400" spc="-1">
                <a:solidFill>
                  <a:schemeClr val="bg2">
                    <a:lumMod val="90000"/>
                  </a:schemeClr>
                </a:solidFill>
                <a:latin typeface="Times New Roman" panose="02020603050405020304"/>
                <a:ea typeface="DejaVu Sans" panose="020B0603030804020204"/>
              </a:rPr>
              <a:t>(filter_numbers)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473710" y="263525"/>
            <a:ext cx="25253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IN" sz="5400" b="1" spc="-1">
                <a:solidFill>
                  <a:srgbClr val="ED7D31"/>
                </a:solidFill>
                <a:latin typeface="Calibri" panose="020F0502020204030204"/>
                <a:sym typeface="+mn-ea"/>
              </a:rPr>
              <a:t>Filter()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ustomShape 1"/>
          <p:cNvSpPr/>
          <p:nvPr/>
        </p:nvSpPr>
        <p:spPr>
          <a:xfrm>
            <a:off x="407035" y="116840"/>
            <a:ext cx="3566160" cy="106870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endParaRPr lang="en-US" altLang="en-IN" sz="5400" b="1" strike="noStrike" spc="-1">
              <a:solidFill>
                <a:srgbClr val="ED7D31"/>
              </a:solidFill>
              <a:latin typeface="Calibri" panose="020F0502020204030204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07035" y="1643790"/>
            <a:ext cx="9154160" cy="45332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buClrTx/>
              <a:buSzTx/>
              <a:buNone/>
            </a:pPr>
            <a:r>
              <a:rPr lang="en-US" sz="2400" spc="-1" dirty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Exception handling in Python allows you to handle errors or exceptional situations that may occur during the execution of a program. It prevents your program from crashing and provides a way to gracefully recover from errors .</a:t>
            </a:r>
          </a:p>
          <a:p>
            <a:pPr algn="l">
              <a:buClrTx/>
              <a:buSzTx/>
              <a:buNone/>
            </a:pPr>
            <a:r>
              <a:rPr lang="en-US" sz="2400" spc="-1" dirty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The key components of exception handling in Python are :</a:t>
            </a:r>
          </a:p>
          <a:p>
            <a:pPr algn="l">
              <a:buClrTx/>
              <a:buSzTx/>
              <a:buNone/>
            </a:pPr>
            <a:endParaRPr lang="en-US" sz="2400" spc="-1" dirty="0">
              <a:solidFill>
                <a:srgbClr val="FFFFFF"/>
              </a:solidFill>
              <a:latin typeface="Times New Roman" panose="02020603050405020304"/>
              <a:ea typeface="DejaVu Sans" panose="020B0603030804020204"/>
            </a:endParaRPr>
          </a:p>
          <a:p>
            <a:pPr algn="l">
              <a:buClrTx/>
              <a:buSzTx/>
              <a:buNone/>
            </a:pPr>
            <a:endParaRPr lang="en-US" sz="2400" spc="-1" dirty="0">
              <a:solidFill>
                <a:srgbClr val="FFFFFF"/>
              </a:solidFill>
              <a:latin typeface="Times New Roman" panose="02020603050405020304"/>
              <a:ea typeface="DejaVu Sans" panose="020B0603030804020204"/>
            </a:endParaRPr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try</a:t>
            </a:r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except</a:t>
            </a:r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else</a:t>
            </a:r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finally </a:t>
            </a:r>
          </a:p>
          <a:p>
            <a:pPr algn="l">
              <a:buClrTx/>
              <a:buSzTx/>
              <a:buNone/>
            </a:pPr>
            <a:endParaRPr lang="en-US" sz="2400" spc="-1" dirty="0">
              <a:solidFill>
                <a:srgbClr val="FFFFFF"/>
              </a:solidFill>
              <a:latin typeface="Times New Roman" panose="02020603050405020304"/>
              <a:ea typeface="DejaVu Sans" panose="020B0603030804020204"/>
            </a:endParaRPr>
          </a:p>
          <a:p>
            <a:pPr indent="0" algn="l">
              <a:buClrTx/>
              <a:buSzTx/>
              <a:buFont typeface="Arial" panose="020B0604020202020204" pitchFamily="34" charset="0"/>
              <a:buNone/>
            </a:pPr>
            <a:endParaRPr lang="en-US" sz="2400" spc="-1" dirty="0">
              <a:solidFill>
                <a:schemeClr val="bg2">
                  <a:lumMod val="90000"/>
                </a:schemeClr>
              </a:solidFill>
              <a:latin typeface="Times New Roman" panose="02020603050405020304"/>
              <a:ea typeface="DejaVu Sans" panose="020B06030308040202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00342" y="42545"/>
            <a:ext cx="75457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IN" sz="5400" b="1" spc="-1" dirty="0">
                <a:solidFill>
                  <a:srgbClr val="ED7D31"/>
                </a:solidFill>
                <a:latin typeface="Calibri" panose="020F0502020204030204"/>
                <a:sym typeface="+mn-ea"/>
              </a:rPr>
              <a:t>EXCEPTIONAL HANDLING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ustomShape 1"/>
          <p:cNvSpPr/>
          <p:nvPr/>
        </p:nvSpPr>
        <p:spPr>
          <a:xfrm>
            <a:off x="407035" y="116840"/>
            <a:ext cx="3566160" cy="106870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endParaRPr lang="en-US" altLang="en-IN" sz="5400" b="1" strike="noStrike" spc="-1">
              <a:solidFill>
                <a:srgbClr val="ED7D31"/>
              </a:solidFill>
              <a:latin typeface="Calibri" panose="020F0502020204030204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07035" y="1634377"/>
            <a:ext cx="8204200" cy="47002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sz="2400" spc="-1" dirty="0" err="1">
                <a:solidFill>
                  <a:schemeClr val="bg1"/>
                </a:solidFill>
                <a:latin typeface="Times New Roman" panose="02020603050405020304"/>
                <a:ea typeface="DejaVu Sans" panose="020B0603030804020204"/>
              </a:rPr>
              <a:t>SyntaxError</a:t>
            </a:r>
            <a:endParaRPr lang="en-US" sz="2400" spc="-1" dirty="0">
              <a:solidFill>
                <a:schemeClr val="bg1"/>
              </a:solidFill>
              <a:latin typeface="Times New Roman" panose="02020603050405020304"/>
              <a:ea typeface="DejaVu Sans" panose="020B0603030804020204"/>
            </a:endParaRPr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sz="2400" spc="-1" dirty="0" err="1">
                <a:solidFill>
                  <a:schemeClr val="bg1"/>
                </a:solidFill>
                <a:latin typeface="Times New Roman" panose="02020603050405020304"/>
                <a:ea typeface="DejaVu Sans" panose="020B0603030804020204"/>
              </a:rPr>
              <a:t>TypeError</a:t>
            </a:r>
            <a:endParaRPr lang="en-US" sz="2400" spc="-1" dirty="0">
              <a:solidFill>
                <a:schemeClr val="bg1"/>
              </a:solidFill>
              <a:latin typeface="Times New Roman" panose="02020603050405020304"/>
              <a:ea typeface="DejaVu Sans" panose="020B0603030804020204"/>
            </a:endParaRPr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sz="2400" spc="-1" dirty="0" err="1">
                <a:solidFill>
                  <a:schemeClr val="bg1"/>
                </a:solidFill>
                <a:latin typeface="Times New Roman" panose="02020603050405020304"/>
                <a:ea typeface="DejaVu Sans" panose="020B0603030804020204"/>
              </a:rPr>
              <a:t>NameError</a:t>
            </a:r>
            <a:endParaRPr lang="en-US" sz="2400" spc="-1" dirty="0">
              <a:solidFill>
                <a:schemeClr val="bg1"/>
              </a:solidFill>
              <a:latin typeface="Times New Roman" panose="02020603050405020304"/>
              <a:ea typeface="DejaVu Sans" panose="020B0603030804020204"/>
            </a:endParaRPr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sz="2400" spc="-1" dirty="0" err="1">
                <a:solidFill>
                  <a:schemeClr val="bg1"/>
                </a:solidFill>
                <a:latin typeface="Times New Roman" panose="02020603050405020304"/>
                <a:ea typeface="DejaVu Sans" panose="020B0603030804020204"/>
              </a:rPr>
              <a:t>IndexError</a:t>
            </a:r>
            <a:endParaRPr lang="en-US" sz="2400" spc="-1" dirty="0">
              <a:solidFill>
                <a:schemeClr val="bg1"/>
              </a:solidFill>
              <a:latin typeface="Times New Roman" panose="02020603050405020304"/>
              <a:ea typeface="DejaVu Sans" panose="020B0603030804020204"/>
            </a:endParaRPr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sz="2400" spc="-1" dirty="0" err="1">
                <a:solidFill>
                  <a:schemeClr val="bg1"/>
                </a:solidFill>
                <a:latin typeface="Times New Roman" panose="02020603050405020304"/>
                <a:ea typeface="DejaVu Sans" panose="020B0603030804020204"/>
              </a:rPr>
              <a:t>KeyError</a:t>
            </a:r>
            <a:endParaRPr lang="en-US" sz="2400" spc="-1" dirty="0">
              <a:solidFill>
                <a:schemeClr val="bg1"/>
              </a:solidFill>
              <a:latin typeface="Times New Roman" panose="02020603050405020304"/>
              <a:ea typeface="DejaVu Sans" panose="020B0603030804020204"/>
            </a:endParaRPr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sz="2400" spc="-1" dirty="0" err="1">
                <a:solidFill>
                  <a:schemeClr val="bg1"/>
                </a:solidFill>
                <a:latin typeface="Times New Roman" panose="02020603050405020304"/>
                <a:ea typeface="DejaVu Sans" panose="020B0603030804020204"/>
              </a:rPr>
              <a:t>ValueError</a:t>
            </a:r>
            <a:endParaRPr lang="en-US" sz="2400" spc="-1" dirty="0">
              <a:solidFill>
                <a:schemeClr val="bg1"/>
              </a:solidFill>
              <a:latin typeface="Times New Roman" panose="02020603050405020304"/>
              <a:ea typeface="DejaVu Sans" panose="020B0603030804020204"/>
            </a:endParaRPr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sz="2400" spc="-1" dirty="0" err="1">
                <a:solidFill>
                  <a:schemeClr val="bg1"/>
                </a:solidFill>
                <a:latin typeface="Times New Roman" panose="02020603050405020304"/>
                <a:ea typeface="DejaVu Sans" panose="020B0603030804020204"/>
              </a:rPr>
              <a:t>AttributeError</a:t>
            </a:r>
            <a:endParaRPr lang="en-US" sz="2400" spc="-1" dirty="0">
              <a:solidFill>
                <a:schemeClr val="bg1"/>
              </a:solidFill>
              <a:latin typeface="Times New Roman" panose="02020603050405020304"/>
              <a:ea typeface="DejaVu Sans" panose="020B0603030804020204"/>
            </a:endParaRPr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sz="2400" spc="-1" dirty="0" err="1">
                <a:solidFill>
                  <a:schemeClr val="bg1"/>
                </a:solidFill>
                <a:latin typeface="Times New Roman" panose="02020603050405020304"/>
                <a:ea typeface="DejaVu Sans" panose="020B0603030804020204"/>
              </a:rPr>
              <a:t>ZeroDivisionError</a:t>
            </a:r>
            <a:endParaRPr lang="en-US" sz="2400" spc="-1" dirty="0">
              <a:solidFill>
                <a:schemeClr val="bg1"/>
              </a:solidFill>
              <a:latin typeface="Times New Roman" panose="02020603050405020304"/>
              <a:ea typeface="DejaVu Sans" panose="020B0603030804020204"/>
            </a:endParaRPr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chemeClr val="bg1"/>
                </a:solidFill>
                <a:latin typeface="Times New Roman" panose="02020603050405020304"/>
                <a:ea typeface="DejaVu Sans" panose="020B0603030804020204"/>
              </a:rPr>
              <a:t>Indentation Error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spc="-1" dirty="0" err="1" smtClean="0">
                <a:solidFill>
                  <a:schemeClr val="bg1"/>
                </a:solidFill>
                <a:latin typeface="Times New Roman" panose="02020603050405020304"/>
                <a:ea typeface="DejaVu Sans" panose="020B0603030804020204"/>
              </a:rPr>
              <a:t>ModuleNotFoundError</a:t>
            </a:r>
            <a:endParaRPr lang="en-IN" sz="2400" spc="-1" dirty="0" smtClean="0">
              <a:solidFill>
                <a:schemeClr val="bg1"/>
              </a:solidFill>
              <a:latin typeface="Times New Roman" panose="02020603050405020304"/>
              <a:ea typeface="DejaVu Sans" panose="020B060303080402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spc="-1" dirty="0" err="1" smtClean="0">
                <a:solidFill>
                  <a:schemeClr val="bg1"/>
                </a:solidFill>
                <a:latin typeface="Times New Roman" panose="02020603050405020304"/>
                <a:ea typeface="DejaVu Sans" panose="020B0603030804020204"/>
              </a:rPr>
              <a:t>FileExistsError</a:t>
            </a:r>
            <a:endParaRPr lang="en-IN" sz="2400" spc="-1" dirty="0" smtClean="0">
              <a:solidFill>
                <a:schemeClr val="bg1"/>
              </a:solidFill>
              <a:latin typeface="Times New Roman" panose="02020603050405020304"/>
              <a:ea typeface="DejaVu Sans" panose="020B060303080402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spc="-1" dirty="0" err="1">
                <a:solidFill>
                  <a:schemeClr val="bg1"/>
                </a:solidFill>
                <a:latin typeface="Times New Roman" panose="02020603050405020304"/>
                <a:ea typeface="DejaVu Sans" panose="020B0603030804020204"/>
              </a:rPr>
              <a:t>FileNotFoundError</a:t>
            </a:r>
            <a:endParaRPr lang="en-US" sz="2400" spc="-1" dirty="0">
              <a:solidFill>
                <a:schemeClr val="bg1"/>
              </a:solidFill>
              <a:latin typeface="Times New Roman" panose="02020603050405020304"/>
              <a:ea typeface="DejaVu Sans" panose="020B06030308040202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00342" y="83184"/>
            <a:ext cx="75457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IN" sz="5400" b="1" spc="-1" dirty="0">
                <a:solidFill>
                  <a:srgbClr val="ED7D31"/>
                </a:solidFill>
                <a:latin typeface="Calibri" panose="020F0502020204030204"/>
                <a:sym typeface="+mn-ea"/>
              </a:rPr>
              <a:t>TYPE OF EXCEPTIONS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ustomShape 1"/>
          <p:cNvSpPr/>
          <p:nvPr/>
        </p:nvSpPr>
        <p:spPr>
          <a:xfrm>
            <a:off x="407035" y="116840"/>
            <a:ext cx="3566160" cy="106870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endParaRPr lang="en-US" altLang="en-IN" sz="5400" b="1" strike="noStrike" spc="-1">
              <a:solidFill>
                <a:srgbClr val="ED7D31"/>
              </a:solidFill>
              <a:latin typeface="Calibri" panose="020F05020202040302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00342" y="287178"/>
            <a:ext cx="86007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IN" sz="5400" b="1" spc="-1" dirty="0" smtClean="0">
                <a:solidFill>
                  <a:srgbClr val="ED7D31"/>
                </a:solidFill>
                <a:latin typeface="Calibri" panose="020F0502020204030204"/>
                <a:sym typeface="+mn-ea"/>
              </a:rPr>
              <a:t>Object Oriented Programing</a:t>
            </a:r>
            <a:endParaRPr lang="en-US" altLang="en-IN" sz="5400" b="1" spc="-1" dirty="0">
              <a:solidFill>
                <a:srgbClr val="ED7D31"/>
              </a:solidFill>
              <a:latin typeface="Calibri" panose="020F0502020204030204"/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07035" y="1971726"/>
            <a:ext cx="79375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spc="-1" dirty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Object-oriented programming (OOP) is a way of writing computer programs using objects that represent real-world entities.</a:t>
            </a:r>
            <a:endParaRPr lang="en-IN" sz="2400" spc="-1" dirty="0">
              <a:solidFill>
                <a:srgbClr val="FFFFFF"/>
              </a:solidFill>
              <a:latin typeface="Times New Roman" panose="02020603050405020304"/>
              <a:ea typeface="DejaVu Sans" panose="020B0603030804020204"/>
            </a:endParaRPr>
          </a:p>
        </p:txBody>
      </p:sp>
      <p:pic>
        <p:nvPicPr>
          <p:cNvPr id="3076" name="Picture 4" descr="Oop Images – Browse 58,468 Stock Photos, Vectors, and Video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778" y="3933274"/>
            <a:ext cx="4864622" cy="2339252"/>
          </a:xfrm>
          <a:prstGeom prst="rect">
            <a:avLst/>
          </a:prstGeom>
          <a:ln w="38100">
            <a:solidFill>
              <a:schemeClr val="accent2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8648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ustomShape 1"/>
          <p:cNvSpPr/>
          <p:nvPr/>
        </p:nvSpPr>
        <p:spPr>
          <a:xfrm>
            <a:off x="407035" y="116840"/>
            <a:ext cx="3566160" cy="106870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endParaRPr lang="en-US" altLang="en-IN" sz="5400" b="1" strike="noStrike" spc="-1">
              <a:solidFill>
                <a:srgbClr val="ED7D31"/>
              </a:solidFill>
              <a:latin typeface="Calibri" panose="020F05020202040302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73710" y="263525"/>
            <a:ext cx="75457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IN" sz="5400" b="1" spc="-1" dirty="0" smtClean="0">
                <a:solidFill>
                  <a:srgbClr val="ED7D31"/>
                </a:solidFill>
                <a:latin typeface="Calibri" panose="020F0502020204030204"/>
                <a:sym typeface="+mn-ea"/>
              </a:rPr>
              <a:t>Class</a:t>
            </a:r>
            <a:endParaRPr lang="en-US" altLang="en-IN" sz="5400" b="1" spc="-1" dirty="0">
              <a:solidFill>
                <a:srgbClr val="ED7D31"/>
              </a:solidFill>
              <a:latin typeface="Calibri" panose="020F0502020204030204"/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07035" y="1681516"/>
            <a:ext cx="90989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spc="-1" dirty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a class is a blueprint or template for creating objects (</a:t>
            </a:r>
            <a:r>
              <a:rPr lang="en-US" sz="2400" spc="-1" dirty="0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instances</a:t>
            </a:r>
            <a:r>
              <a:rPr lang="en-US" sz="2400" spc="-1" dirty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). </a:t>
            </a:r>
            <a:endParaRPr lang="en-US" dirty="0" smtClean="0"/>
          </a:p>
          <a:p>
            <a:r>
              <a:rPr lang="en-US" sz="2400" spc="-1" dirty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It defines the </a:t>
            </a:r>
            <a:r>
              <a:rPr lang="en-US" sz="2400" spc="-1" dirty="0">
                <a:solidFill>
                  <a:srgbClr val="FFFFFF"/>
                </a:solidFill>
                <a:latin typeface="Times New Roman" panose="02020603050405020304"/>
              </a:rPr>
              <a:t>structure</a:t>
            </a:r>
            <a:r>
              <a:rPr lang="en-US" sz="2400" spc="-1" dirty="0" smtClean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 </a:t>
            </a:r>
            <a:r>
              <a:rPr lang="en-US" sz="2400" spc="-1" dirty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and behaviors that objects, </a:t>
            </a:r>
            <a:r>
              <a:rPr lang="en-US" sz="2400" spc="-1" dirty="0" smtClean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it </a:t>
            </a:r>
            <a:r>
              <a:rPr lang="en-US" sz="2400" spc="-1" dirty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has attributes </a:t>
            </a:r>
            <a:endParaRPr lang="en-US" sz="2400" spc="-1" dirty="0" smtClean="0">
              <a:solidFill>
                <a:srgbClr val="FFFFFF"/>
              </a:solidFill>
              <a:latin typeface="Times New Roman" panose="02020603050405020304"/>
              <a:ea typeface="DejaVu Sans" panose="020B0603030804020204"/>
            </a:endParaRPr>
          </a:p>
          <a:p>
            <a:r>
              <a:rPr lang="en-US" sz="2400" spc="-1" dirty="0" smtClean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(</a:t>
            </a:r>
            <a:r>
              <a:rPr lang="en-US" sz="2400" spc="-1" dirty="0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data members</a:t>
            </a:r>
            <a:r>
              <a:rPr lang="en-US" sz="2400" spc="-1" dirty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) and methods (</a:t>
            </a:r>
            <a:r>
              <a:rPr lang="en-US" sz="2400" spc="-1" dirty="0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functions</a:t>
            </a:r>
            <a:r>
              <a:rPr lang="en-US" sz="2400" spc="-1" dirty="0" smtClean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).</a:t>
            </a:r>
            <a:endParaRPr lang="en-IN" sz="2400" spc="-1" dirty="0">
              <a:solidFill>
                <a:srgbClr val="FFFFFF"/>
              </a:solidFill>
              <a:latin typeface="Times New Roman" panose="02020603050405020304"/>
              <a:ea typeface="DejaVu Sans" panose="020B0603030804020204"/>
            </a:endParaRPr>
          </a:p>
        </p:txBody>
      </p:sp>
      <p:pic>
        <p:nvPicPr>
          <p:cNvPr id="2050" name="Picture 2" descr="The Big Picture of OO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767" y="3555616"/>
            <a:ext cx="7387590" cy="2942834"/>
          </a:xfrm>
          <a:prstGeom prst="rect">
            <a:avLst/>
          </a:prstGeom>
          <a:ln w="38100">
            <a:solidFill>
              <a:schemeClr val="accent2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8746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ustomShape 1"/>
          <p:cNvSpPr/>
          <p:nvPr/>
        </p:nvSpPr>
        <p:spPr>
          <a:xfrm>
            <a:off x="407035" y="116840"/>
            <a:ext cx="3566160" cy="106870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endParaRPr lang="en-US" altLang="en-IN" sz="5400" b="1" strike="noStrike" spc="-1">
              <a:solidFill>
                <a:srgbClr val="ED7D31"/>
              </a:solidFill>
              <a:latin typeface="Calibri" panose="020F05020202040302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07010" y="161925"/>
            <a:ext cx="75457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IN" sz="5400" b="1" spc="-1" dirty="0" smtClean="0">
                <a:solidFill>
                  <a:srgbClr val="ED7D31"/>
                </a:solidFill>
                <a:latin typeface="Calibri" panose="020F0502020204030204"/>
                <a:sym typeface="+mn-ea"/>
              </a:rPr>
              <a:t>INHERITANCE</a:t>
            </a:r>
            <a:endParaRPr lang="en-US" altLang="en-IN" sz="5400" b="1" spc="-1" dirty="0">
              <a:solidFill>
                <a:srgbClr val="ED7D31"/>
              </a:solidFill>
              <a:latin typeface="Calibri" panose="020F0502020204030204"/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6004" y="1391840"/>
            <a:ext cx="909891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spc="-1" dirty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Inheritance is a concept in object-oriented programming where a new class (</a:t>
            </a:r>
            <a:r>
              <a:rPr lang="en-US" sz="2400" spc="-1" dirty="0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subclass</a:t>
            </a:r>
            <a:r>
              <a:rPr lang="en-US" sz="2400" spc="-1" dirty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 or </a:t>
            </a:r>
            <a:r>
              <a:rPr lang="en-US" sz="2400" spc="-1" dirty="0">
                <a:solidFill>
                  <a:schemeClr val="accent2"/>
                </a:solidFill>
                <a:latin typeface="Times New Roman" panose="02020603050405020304"/>
                <a:ea typeface="DejaVu Sans" panose="020B0603030804020204"/>
              </a:rPr>
              <a:t>derived class</a:t>
            </a:r>
            <a:r>
              <a:rPr lang="en-US" sz="2400" spc="-1" dirty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) can inherit attributes and methods from an existing class (superclass or base class</a:t>
            </a:r>
            <a:r>
              <a:rPr lang="en-US" sz="2400" spc="-1" dirty="0" smtClean="0">
                <a:solidFill>
                  <a:srgbClr val="FFFFFF"/>
                </a:solidFill>
                <a:latin typeface="Times New Roman" panose="02020603050405020304"/>
                <a:ea typeface="DejaVu Sans" panose="020B0603030804020204"/>
              </a:rPr>
              <a:t>).</a:t>
            </a:r>
          </a:p>
          <a:p>
            <a:endParaRPr lang="en-US" sz="2400" spc="-1" dirty="0">
              <a:solidFill>
                <a:srgbClr val="FFFFFF"/>
              </a:solidFill>
              <a:latin typeface="Times New Roman" panose="02020603050405020304"/>
              <a:ea typeface="DejaVu Sans" panose="020B0603030804020204"/>
            </a:endParaRPr>
          </a:p>
          <a:p>
            <a:r>
              <a:rPr lang="en-US" sz="2400" spc="-1" dirty="0">
                <a:solidFill>
                  <a:srgbClr val="FFC000"/>
                </a:solidFill>
                <a:latin typeface="Times New Roman" panose="02020603050405020304"/>
                <a:ea typeface="DejaVu Sans" panose="020B0603030804020204"/>
              </a:rPr>
              <a:t>it's like a parent passing down traits to their </a:t>
            </a:r>
            <a:r>
              <a:rPr lang="en-US" sz="2400" spc="-1" dirty="0" smtClean="0">
                <a:solidFill>
                  <a:srgbClr val="FFC000"/>
                </a:solidFill>
                <a:latin typeface="Times New Roman" panose="02020603050405020304"/>
                <a:ea typeface="DejaVu Sans" panose="020B0603030804020204"/>
              </a:rPr>
              <a:t>child</a:t>
            </a:r>
          </a:p>
          <a:p>
            <a:r>
              <a:rPr lang="en-US" sz="2400" spc="-1" dirty="0" smtClean="0">
                <a:solidFill>
                  <a:schemeClr val="bg1"/>
                </a:solidFill>
                <a:latin typeface="Times New Roman" panose="02020603050405020304"/>
                <a:ea typeface="DejaVu Sans" panose="020B0603030804020204"/>
              </a:rPr>
              <a:t>Types of Inheritance:</a:t>
            </a:r>
          </a:p>
          <a:p>
            <a:endParaRPr lang="en-US" sz="2400" spc="-1" dirty="0" smtClean="0">
              <a:solidFill>
                <a:schemeClr val="bg1"/>
              </a:solidFill>
              <a:latin typeface="Times New Roman" panose="02020603050405020304"/>
              <a:ea typeface="DejaVu Sans" panose="020B060303080402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spc="-1" dirty="0">
                <a:solidFill>
                  <a:schemeClr val="accent2"/>
                </a:solidFill>
                <a:latin typeface="Times New Roman" panose="02020603050405020304"/>
              </a:rPr>
              <a:t>Single Inheritance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spc="-1" dirty="0">
                <a:solidFill>
                  <a:schemeClr val="accent2"/>
                </a:solidFill>
                <a:latin typeface="Times New Roman" panose="02020603050405020304"/>
              </a:rPr>
              <a:t>Multiple Inheritance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spc="-1" dirty="0">
                <a:solidFill>
                  <a:schemeClr val="accent2"/>
                </a:solidFill>
                <a:latin typeface="Times New Roman" panose="02020603050405020304"/>
              </a:rPr>
              <a:t>Multilevel Inheritance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spc="-1" dirty="0">
                <a:solidFill>
                  <a:schemeClr val="accent2"/>
                </a:solidFill>
                <a:latin typeface="Times New Roman" panose="02020603050405020304"/>
              </a:rPr>
              <a:t>Hierarchical Inheritance</a:t>
            </a:r>
          </a:p>
          <a:p>
            <a:endParaRPr lang="en-IN" sz="2400" spc="-1" dirty="0">
              <a:solidFill>
                <a:schemeClr val="accent2"/>
              </a:solidFill>
              <a:latin typeface="Times New Roman" panose="02020603050405020304"/>
              <a:ea typeface="DejaVu Sans" panose="020B06030308040202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0101" y="2499136"/>
            <a:ext cx="3779982" cy="4086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721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ustomShape 1"/>
          <p:cNvSpPr/>
          <p:nvPr/>
        </p:nvSpPr>
        <p:spPr>
          <a:xfrm>
            <a:off x="407035" y="116840"/>
            <a:ext cx="3566160" cy="106870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endParaRPr lang="en-US" altLang="en-IN" sz="5400" b="1" strike="noStrike" spc="-1">
              <a:solidFill>
                <a:srgbClr val="ED7D31"/>
              </a:solidFill>
              <a:latin typeface="Calibri" panose="020F05020202040302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07011" y="161925"/>
            <a:ext cx="64731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spc="-1" dirty="0" smtClean="0">
                <a:solidFill>
                  <a:srgbClr val="ED7D31"/>
                </a:solidFill>
                <a:latin typeface="Calibri" panose="020F0502020204030204"/>
              </a:rPr>
              <a:t>CHAT APPLICATION</a:t>
            </a:r>
            <a:endParaRPr lang="en-IN" sz="5400" b="1" spc="-1" dirty="0">
              <a:solidFill>
                <a:srgbClr val="ED7D31"/>
              </a:solidFill>
              <a:latin typeface="Calibri" panose="020F05020202040302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15" y="1997054"/>
            <a:ext cx="6483985" cy="387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323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ustomShape 1"/>
          <p:cNvSpPr/>
          <p:nvPr/>
        </p:nvSpPr>
        <p:spPr>
          <a:xfrm>
            <a:off x="407035" y="116840"/>
            <a:ext cx="3566160" cy="106870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endParaRPr lang="en-US" altLang="en-IN" sz="5400" b="1" strike="noStrike" spc="-1">
              <a:solidFill>
                <a:srgbClr val="ED7D31"/>
              </a:solidFill>
              <a:latin typeface="Calibri" panose="020F05020202040302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70511" y="263525"/>
            <a:ext cx="4237989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IN" sz="5400" b="1" spc="-1" dirty="0" smtClean="0">
                <a:solidFill>
                  <a:srgbClr val="ED7D31"/>
                </a:solidFill>
                <a:latin typeface="Calibri" panose="020F0502020204030204"/>
                <a:sym typeface="+mn-ea"/>
              </a:rPr>
              <a:t>NETWORK</a:t>
            </a:r>
            <a:endParaRPr lang="en-US" altLang="en-IN" sz="5400" b="1" spc="-1" dirty="0">
              <a:solidFill>
                <a:srgbClr val="ED7D31"/>
              </a:solidFill>
              <a:latin typeface="Calibri" panose="020F0502020204030204"/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068" y="2090737"/>
            <a:ext cx="6627176" cy="404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874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ustomShape 1"/>
          <p:cNvSpPr/>
          <p:nvPr/>
        </p:nvSpPr>
        <p:spPr>
          <a:xfrm>
            <a:off x="407035" y="116840"/>
            <a:ext cx="3566160" cy="106870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endParaRPr lang="en-US" altLang="en-IN" sz="5400" b="1" strike="noStrike" spc="-1">
              <a:solidFill>
                <a:srgbClr val="ED7D31"/>
              </a:solidFill>
              <a:latin typeface="Calibri" panose="020F05020202040302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73711" y="263525"/>
            <a:ext cx="3399789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IN" sz="5400" b="1" spc="-1" dirty="0" smtClean="0">
                <a:solidFill>
                  <a:srgbClr val="ED7D31"/>
                </a:solidFill>
                <a:latin typeface="Calibri" panose="020F0502020204030204"/>
                <a:sym typeface="+mn-ea"/>
              </a:rPr>
              <a:t>NETWORK</a:t>
            </a:r>
            <a:endParaRPr lang="en-US" altLang="en-IN" sz="5400" b="1" spc="-1" dirty="0">
              <a:solidFill>
                <a:srgbClr val="ED7D31"/>
              </a:solidFill>
              <a:latin typeface="Calibri" panose="020F0502020204030204"/>
              <a:sym typeface="+mn-ea"/>
            </a:endParaRPr>
          </a:p>
        </p:txBody>
      </p:sp>
      <p:pic>
        <p:nvPicPr>
          <p:cNvPr id="1026" name="Picture 2" descr="How to connect to wifi | Digital Uni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V="1">
            <a:off x="1819274" y="1926683"/>
            <a:ext cx="6194425" cy="4475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6064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3541</TotalTime>
  <Words>1176</Words>
  <Application>Microsoft Office PowerPoint</Application>
  <PresentationFormat>Widescreen</PresentationFormat>
  <Paragraphs>268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40</vt:i4>
      </vt:variant>
    </vt:vector>
  </HeadingPairs>
  <TitlesOfParts>
    <vt:vector size="48" baseType="lpstr">
      <vt:lpstr>Arial</vt:lpstr>
      <vt:lpstr>Calibri</vt:lpstr>
      <vt:lpstr>DejaVu Sans</vt:lpstr>
      <vt:lpstr>Symbol</vt:lpstr>
      <vt:lpstr>Times New Roman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Ranjit</dc:creator>
  <cp:lastModifiedBy>Ranjit</cp:lastModifiedBy>
  <cp:revision>142</cp:revision>
  <dcterms:created xsi:type="dcterms:W3CDTF">2023-09-26T16:47:00Z</dcterms:created>
  <dcterms:modified xsi:type="dcterms:W3CDTF">2026-03-02T14:18:51Z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ICV">
    <vt:lpwstr>729F85F998B24BD2BCE9919EB22C64B2_13</vt:lpwstr>
  </property>
  <property fmtid="{D5CDD505-2E9C-101B-9397-08002B2CF9AE}" pid="6" name="KSOProductBuildVer">
    <vt:lpwstr>1033-12.2.0.13266</vt:lpwstr>
  </property>
  <property fmtid="{D5CDD505-2E9C-101B-9397-08002B2CF9AE}" pid="7" name="LinksUpToDate">
    <vt:bool>false</vt:bool>
  </property>
  <property fmtid="{D5CDD505-2E9C-101B-9397-08002B2CF9AE}" pid="8" name="MMClips">
    <vt:i4>0</vt:i4>
  </property>
  <property fmtid="{D5CDD505-2E9C-101B-9397-08002B2CF9AE}" pid="9" name="Notes">
    <vt:i4>0</vt:i4>
  </property>
  <property fmtid="{D5CDD505-2E9C-101B-9397-08002B2CF9AE}" pid="10" name="PresentationFormat">
    <vt:lpwstr>Widescreen</vt:lpwstr>
  </property>
  <property fmtid="{D5CDD505-2E9C-101B-9397-08002B2CF9AE}" pid="11" name="ScaleCrop">
    <vt:bool>false</vt:bool>
  </property>
  <property fmtid="{D5CDD505-2E9C-101B-9397-08002B2CF9AE}" pid="12" name="ShareDoc">
    <vt:bool>false</vt:bool>
  </property>
  <property fmtid="{D5CDD505-2E9C-101B-9397-08002B2CF9AE}" pid="13" name="Slides">
    <vt:i4>15</vt:i4>
  </property>
</Properties>
</file>