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handoutMasterIdLst>
    <p:handoutMasterId r:id="rId30"/>
  </p:handoutMasterIdLst>
  <p:sldIdLst>
    <p:sldId id="257" r:id="rId2"/>
    <p:sldId id="258" r:id="rId3"/>
    <p:sldId id="259" r:id="rId4"/>
    <p:sldId id="318" r:id="rId5"/>
    <p:sldId id="357" r:id="rId6"/>
    <p:sldId id="327" r:id="rId7"/>
    <p:sldId id="263" r:id="rId8"/>
    <p:sldId id="326" r:id="rId9"/>
    <p:sldId id="260" r:id="rId10"/>
    <p:sldId id="261" r:id="rId11"/>
    <p:sldId id="270" r:id="rId12"/>
    <p:sldId id="330" r:id="rId13"/>
    <p:sldId id="342" r:id="rId14"/>
    <p:sldId id="331" r:id="rId15"/>
    <p:sldId id="354" r:id="rId16"/>
    <p:sldId id="332" r:id="rId17"/>
    <p:sldId id="355" r:id="rId18"/>
    <p:sldId id="356" r:id="rId19"/>
    <p:sldId id="337" r:id="rId20"/>
    <p:sldId id="339" r:id="rId21"/>
    <p:sldId id="338" r:id="rId22"/>
    <p:sldId id="344" r:id="rId23"/>
    <p:sldId id="345" r:id="rId24"/>
    <p:sldId id="341" r:id="rId25"/>
    <p:sldId id="340" r:id="rId26"/>
    <p:sldId id="343" r:id="rId27"/>
    <p:sldId id="353" r:id="rId28"/>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a:srgbClr val="CC0000"/>
    <a:srgbClr val="B2B2B2"/>
    <a:srgbClr val="202020"/>
    <a:srgbClr val="323232"/>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8" autoAdjust="0"/>
    <p:restoredTop sz="94660"/>
  </p:normalViewPr>
  <p:slideViewPr>
    <p:cSldViewPr snapToGrid="0" showGuides="1">
      <p:cViewPr varScale="1">
        <p:scale>
          <a:sx n="79" d="100"/>
          <a:sy n="79" d="100"/>
        </p:scale>
        <p:origin x="300" y="78"/>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68FBB7B-694A-47BF-865D-2F44C1051453}" type="doc">
      <dgm:prSet loTypeId="urn:microsoft.com/office/officeart/2005/8/layout/hList1" loCatId="list" qsTypeId="urn:microsoft.com/office/officeart/2005/8/quickstyle/simple1#1" qsCatId="simple" csTypeId="urn:microsoft.com/office/officeart/2005/8/colors/accent1_2#1" csCatId="accent1" phldr="0"/>
      <dgm:spPr/>
      <dgm:t>
        <a:bodyPr/>
        <a:lstStyle/>
        <a:p>
          <a:endParaRPr lang="en-US"/>
        </a:p>
      </dgm:t>
    </dgm:pt>
    <dgm:pt modelId="{BD5427FF-4EB1-4006-BF7F-42158E0C5129}">
      <dgm:prSet phldrT="[Text]" phldr="0" custT="0"/>
      <dgm:spPr/>
      <dgm:t>
        <a:bodyPr vert="horz" wrap="square"/>
        <a:lstStyle/>
        <a:p>
          <a:pPr>
            <a:lnSpc>
              <a:spcPct val="100000"/>
            </a:lnSpc>
            <a:spcBef>
              <a:spcPct val="0"/>
            </a:spcBef>
            <a:spcAft>
              <a:spcPct val="35000"/>
            </a:spcAft>
          </a:pPr>
          <a:r>
            <a:rPr lang="en-US">
              <a:solidFill>
                <a:schemeClr val="accent2">
                  <a:lumMod val="50000"/>
                </a:schemeClr>
              </a:solidFill>
            </a:rPr>
            <a:t>INPUT</a:t>
          </a:r>
        </a:p>
      </dgm:t>
    </dgm:pt>
    <dgm:pt modelId="{A2F6D805-3B53-408A-A2A3-20BC3BF0D242}" type="parTrans" cxnId="{53EFA37C-826B-4B62-BCDB-B79EF990C8FA}">
      <dgm:prSet/>
      <dgm:spPr/>
      <dgm:t>
        <a:bodyPr/>
        <a:lstStyle/>
        <a:p>
          <a:endParaRPr lang="en-US"/>
        </a:p>
      </dgm:t>
    </dgm:pt>
    <dgm:pt modelId="{D47F9812-1256-4E44-A6BE-BEC559BE8FF3}" type="sibTrans" cxnId="{53EFA37C-826B-4B62-BCDB-B79EF990C8FA}">
      <dgm:prSet/>
      <dgm:spPr/>
      <dgm:t>
        <a:bodyPr/>
        <a:lstStyle/>
        <a:p>
          <a:endParaRPr lang="en-US"/>
        </a:p>
      </dgm:t>
    </dgm:pt>
    <dgm:pt modelId="{3A7B819B-DBE9-4610-B22A-5573EA6D532D}">
      <dgm:prSet phldrT="[Text]" phldr="0" custT="1"/>
      <dgm:spPr/>
      <dgm:t>
        <a:bodyPr vert="horz" wrap="square"/>
        <a:lstStyle/>
        <a:p>
          <a:pPr>
            <a:lnSpc>
              <a:spcPct val="100000"/>
            </a:lnSpc>
            <a:spcBef>
              <a:spcPct val="0"/>
            </a:spcBef>
            <a:spcAft>
              <a:spcPct val="15000"/>
            </a:spcAft>
          </a:pPr>
          <a:r>
            <a:rPr lang="en-US" sz="2400"/>
            <a:t>Gathers and feeds raw data into the network</a:t>
          </a:r>
          <a:r>
            <a:rPr lang="en-US" sz="2800"/>
            <a:t>.</a:t>
          </a:r>
        </a:p>
      </dgm:t>
    </dgm:pt>
    <dgm:pt modelId="{DC4BEA23-BF6E-42AD-9BF0-CFBDE86A80F1}" type="parTrans" cxnId="{5657C986-7FE7-43E3-9117-76D1CB3E2B8E}">
      <dgm:prSet/>
      <dgm:spPr/>
      <dgm:t>
        <a:bodyPr/>
        <a:lstStyle/>
        <a:p>
          <a:endParaRPr lang="en-US"/>
        </a:p>
      </dgm:t>
    </dgm:pt>
    <dgm:pt modelId="{0BF6ACD3-AE1A-4691-8CBE-DBE77AB8A685}" type="sibTrans" cxnId="{5657C986-7FE7-43E3-9117-76D1CB3E2B8E}">
      <dgm:prSet/>
      <dgm:spPr/>
      <dgm:t>
        <a:bodyPr/>
        <a:lstStyle/>
        <a:p>
          <a:endParaRPr lang="en-US"/>
        </a:p>
      </dgm:t>
    </dgm:pt>
    <dgm:pt modelId="{FE969E54-0D5D-4815-BDC4-3309E2F7325D}">
      <dgm:prSet phldrT="[Text]" phldr="0" custT="0"/>
      <dgm:spPr/>
      <dgm:t>
        <a:bodyPr vert="horz" wrap="square"/>
        <a:lstStyle/>
        <a:p>
          <a:pPr>
            <a:lnSpc>
              <a:spcPct val="100000"/>
            </a:lnSpc>
            <a:spcBef>
              <a:spcPct val="0"/>
            </a:spcBef>
            <a:spcAft>
              <a:spcPct val="35000"/>
            </a:spcAft>
          </a:pPr>
          <a:r>
            <a:rPr lang="en-US">
              <a:solidFill>
                <a:schemeClr val="accent2">
                  <a:lumMod val="50000"/>
                </a:schemeClr>
              </a:solidFill>
            </a:rPr>
            <a:t>HIDDEN</a:t>
          </a:r>
        </a:p>
      </dgm:t>
    </dgm:pt>
    <dgm:pt modelId="{B5D9FB86-EEBE-488F-B7DE-B7CF5C9166C5}" type="parTrans" cxnId="{E38A91A6-4B9C-4F6F-B579-7BFC1157B40D}">
      <dgm:prSet/>
      <dgm:spPr/>
      <dgm:t>
        <a:bodyPr/>
        <a:lstStyle/>
        <a:p>
          <a:endParaRPr lang="en-US"/>
        </a:p>
      </dgm:t>
    </dgm:pt>
    <dgm:pt modelId="{D7D19B67-C01A-45D3-B5C7-B7E1B18A9F62}" type="sibTrans" cxnId="{E38A91A6-4B9C-4F6F-B579-7BFC1157B40D}">
      <dgm:prSet/>
      <dgm:spPr/>
      <dgm:t>
        <a:bodyPr/>
        <a:lstStyle/>
        <a:p>
          <a:endParaRPr lang="en-US"/>
        </a:p>
      </dgm:t>
    </dgm:pt>
    <dgm:pt modelId="{35600F67-42C2-4D1B-B072-DC2A36FCB136}">
      <dgm:prSet phldrT="[Text]" phldr="0" custT="1"/>
      <dgm:spPr/>
      <dgm:t>
        <a:bodyPr vert="horz" wrap="square"/>
        <a:lstStyle/>
        <a:p>
          <a:pPr>
            <a:lnSpc>
              <a:spcPct val="100000"/>
            </a:lnSpc>
            <a:spcBef>
              <a:spcPct val="0"/>
            </a:spcBef>
            <a:spcAft>
              <a:spcPct val="15000"/>
            </a:spcAft>
          </a:pPr>
          <a:r>
            <a:rPr lang="en-US" sz="2400"/>
            <a:t>Responsible to process the input Data.</a:t>
          </a:r>
        </a:p>
      </dgm:t>
    </dgm:pt>
    <dgm:pt modelId="{B4BC79E1-FDBA-43D1-A988-1BE8090EDA7A}" type="parTrans" cxnId="{A91BFFA3-350A-4166-B348-C3381ECBFEC9}">
      <dgm:prSet/>
      <dgm:spPr/>
      <dgm:t>
        <a:bodyPr/>
        <a:lstStyle/>
        <a:p>
          <a:endParaRPr lang="en-US"/>
        </a:p>
      </dgm:t>
    </dgm:pt>
    <dgm:pt modelId="{AD46A0AA-C45A-46D2-89AF-28390F99F9D0}" type="sibTrans" cxnId="{A91BFFA3-350A-4166-B348-C3381ECBFEC9}">
      <dgm:prSet/>
      <dgm:spPr/>
      <dgm:t>
        <a:bodyPr/>
        <a:lstStyle/>
        <a:p>
          <a:endParaRPr lang="en-US"/>
        </a:p>
      </dgm:t>
    </dgm:pt>
    <dgm:pt modelId="{61F0DC84-7FFF-4FDD-9B5D-40960093AE83}">
      <dgm:prSet phldrT="[Text]" phldr="0" custT="0"/>
      <dgm:spPr/>
      <dgm:t>
        <a:bodyPr vert="horz" wrap="square"/>
        <a:lstStyle/>
        <a:p>
          <a:pPr>
            <a:lnSpc>
              <a:spcPct val="100000"/>
            </a:lnSpc>
            <a:spcBef>
              <a:spcPct val="0"/>
            </a:spcBef>
            <a:spcAft>
              <a:spcPct val="35000"/>
            </a:spcAft>
          </a:pPr>
          <a:r>
            <a:rPr lang="en-US">
              <a:solidFill>
                <a:schemeClr val="accent2">
                  <a:lumMod val="50000"/>
                </a:schemeClr>
              </a:solidFill>
            </a:rPr>
            <a:t>OUTPUT</a:t>
          </a:r>
        </a:p>
      </dgm:t>
    </dgm:pt>
    <dgm:pt modelId="{2CB3CEFC-83E6-4DB9-B636-5287ACC11553}" type="parTrans" cxnId="{625BB80A-7CE8-42B6-907D-1A8F15B0749A}">
      <dgm:prSet/>
      <dgm:spPr/>
      <dgm:t>
        <a:bodyPr/>
        <a:lstStyle/>
        <a:p>
          <a:endParaRPr lang="en-US"/>
        </a:p>
      </dgm:t>
    </dgm:pt>
    <dgm:pt modelId="{1FAE29ED-22A2-40FA-904A-0706E8542FE7}" type="sibTrans" cxnId="{625BB80A-7CE8-42B6-907D-1A8F15B0749A}">
      <dgm:prSet/>
      <dgm:spPr/>
      <dgm:t>
        <a:bodyPr/>
        <a:lstStyle/>
        <a:p>
          <a:endParaRPr lang="en-US"/>
        </a:p>
      </dgm:t>
    </dgm:pt>
    <dgm:pt modelId="{2C0D9F89-7CE9-4195-96AC-FB27D6AA2EF6}">
      <dgm:prSet phldrT="[Text]" phldr="0" custT="1"/>
      <dgm:spPr/>
      <dgm:t>
        <a:bodyPr vert="horz" wrap="square"/>
        <a:lstStyle/>
        <a:p>
          <a:pPr>
            <a:lnSpc>
              <a:spcPct val="100000"/>
            </a:lnSpc>
            <a:spcBef>
              <a:spcPct val="0"/>
            </a:spcBef>
            <a:spcAft>
              <a:spcPct val="15000"/>
            </a:spcAft>
          </a:pPr>
          <a:r>
            <a:rPr lang="en-US" sz="2000"/>
            <a:t>Produces the network's final prediction or outcome based on the processed input</a:t>
          </a:r>
          <a:r>
            <a:rPr lang="en-US" sz="2400"/>
            <a:t>.</a:t>
          </a:r>
        </a:p>
      </dgm:t>
    </dgm:pt>
    <dgm:pt modelId="{24D9371C-2787-474E-A690-5A09190A9707}" type="parTrans" cxnId="{C45A4729-ACA2-40B5-885D-F25A52374F15}">
      <dgm:prSet/>
      <dgm:spPr/>
      <dgm:t>
        <a:bodyPr/>
        <a:lstStyle/>
        <a:p>
          <a:endParaRPr lang="en-US"/>
        </a:p>
      </dgm:t>
    </dgm:pt>
    <dgm:pt modelId="{39E6AF7E-E529-4319-B552-AB363EF4CE26}" type="sibTrans" cxnId="{C45A4729-ACA2-40B5-885D-F25A52374F15}">
      <dgm:prSet/>
      <dgm:spPr/>
      <dgm:t>
        <a:bodyPr/>
        <a:lstStyle/>
        <a:p>
          <a:endParaRPr lang="en-US"/>
        </a:p>
      </dgm:t>
    </dgm:pt>
    <dgm:pt modelId="{D5FB6A06-3991-4223-AD64-C4F7F6F4DF69}" type="pres">
      <dgm:prSet presAssocID="{468FBB7B-694A-47BF-865D-2F44C1051453}" presName="Name0" presStyleCnt="0">
        <dgm:presLayoutVars>
          <dgm:dir/>
          <dgm:animLvl val="lvl"/>
          <dgm:resizeHandles val="exact"/>
        </dgm:presLayoutVars>
      </dgm:prSet>
      <dgm:spPr/>
      <dgm:t>
        <a:bodyPr/>
        <a:lstStyle/>
        <a:p>
          <a:endParaRPr lang="en-US"/>
        </a:p>
      </dgm:t>
    </dgm:pt>
    <dgm:pt modelId="{5EB24CCF-928A-4018-A934-89F31F564A83}" type="pres">
      <dgm:prSet presAssocID="{BD5427FF-4EB1-4006-BF7F-42158E0C5129}" presName="composite" presStyleCnt="0"/>
      <dgm:spPr/>
    </dgm:pt>
    <dgm:pt modelId="{5D9704F8-5A95-419F-B794-1E2F82666BDB}" type="pres">
      <dgm:prSet presAssocID="{BD5427FF-4EB1-4006-BF7F-42158E0C5129}" presName="parTx" presStyleLbl="alignNode1" presStyleIdx="0" presStyleCnt="3">
        <dgm:presLayoutVars>
          <dgm:chMax val="0"/>
          <dgm:chPref val="0"/>
          <dgm:bulletEnabled val="1"/>
        </dgm:presLayoutVars>
      </dgm:prSet>
      <dgm:spPr/>
      <dgm:t>
        <a:bodyPr/>
        <a:lstStyle/>
        <a:p>
          <a:endParaRPr lang="en-US"/>
        </a:p>
      </dgm:t>
    </dgm:pt>
    <dgm:pt modelId="{C0A6D3D8-DBC2-45B6-8DEF-789A72552BB4}" type="pres">
      <dgm:prSet presAssocID="{BD5427FF-4EB1-4006-BF7F-42158E0C5129}" presName="desTx" presStyleLbl="alignAccFollowNode1" presStyleIdx="0" presStyleCnt="3">
        <dgm:presLayoutVars>
          <dgm:bulletEnabled val="1"/>
        </dgm:presLayoutVars>
      </dgm:prSet>
      <dgm:spPr/>
      <dgm:t>
        <a:bodyPr/>
        <a:lstStyle/>
        <a:p>
          <a:endParaRPr lang="en-US"/>
        </a:p>
      </dgm:t>
    </dgm:pt>
    <dgm:pt modelId="{C4F6D2AE-A2A5-43DC-B705-8E8ECE0E1613}" type="pres">
      <dgm:prSet presAssocID="{D47F9812-1256-4E44-A6BE-BEC559BE8FF3}" presName="space" presStyleCnt="0"/>
      <dgm:spPr/>
    </dgm:pt>
    <dgm:pt modelId="{C1832C44-4F6B-4ABA-88DC-7D5A80779E4B}" type="pres">
      <dgm:prSet presAssocID="{FE969E54-0D5D-4815-BDC4-3309E2F7325D}" presName="composite" presStyleCnt="0"/>
      <dgm:spPr/>
    </dgm:pt>
    <dgm:pt modelId="{3E0BA246-3456-471B-AD87-1436FD251DD8}" type="pres">
      <dgm:prSet presAssocID="{FE969E54-0D5D-4815-BDC4-3309E2F7325D}" presName="parTx" presStyleLbl="alignNode1" presStyleIdx="1" presStyleCnt="3">
        <dgm:presLayoutVars>
          <dgm:chMax val="0"/>
          <dgm:chPref val="0"/>
          <dgm:bulletEnabled val="1"/>
        </dgm:presLayoutVars>
      </dgm:prSet>
      <dgm:spPr/>
      <dgm:t>
        <a:bodyPr/>
        <a:lstStyle/>
        <a:p>
          <a:endParaRPr lang="en-US"/>
        </a:p>
      </dgm:t>
    </dgm:pt>
    <dgm:pt modelId="{33CF15AD-8A19-4E9A-9BED-239A79CAF737}" type="pres">
      <dgm:prSet presAssocID="{FE969E54-0D5D-4815-BDC4-3309E2F7325D}" presName="desTx" presStyleLbl="alignAccFollowNode1" presStyleIdx="1" presStyleCnt="3">
        <dgm:presLayoutVars>
          <dgm:bulletEnabled val="1"/>
        </dgm:presLayoutVars>
      </dgm:prSet>
      <dgm:spPr/>
      <dgm:t>
        <a:bodyPr/>
        <a:lstStyle/>
        <a:p>
          <a:endParaRPr lang="en-US"/>
        </a:p>
      </dgm:t>
    </dgm:pt>
    <dgm:pt modelId="{F4639A07-76C8-4329-80D5-712628979A9A}" type="pres">
      <dgm:prSet presAssocID="{D7D19B67-C01A-45D3-B5C7-B7E1B18A9F62}" presName="space" presStyleCnt="0"/>
      <dgm:spPr/>
    </dgm:pt>
    <dgm:pt modelId="{7F710124-E259-48A5-9895-471DE20AF50E}" type="pres">
      <dgm:prSet presAssocID="{61F0DC84-7FFF-4FDD-9B5D-40960093AE83}" presName="composite" presStyleCnt="0"/>
      <dgm:spPr/>
    </dgm:pt>
    <dgm:pt modelId="{FC453BFD-315B-4968-86FA-B7D3125F3320}" type="pres">
      <dgm:prSet presAssocID="{61F0DC84-7FFF-4FDD-9B5D-40960093AE83}" presName="parTx" presStyleLbl="alignNode1" presStyleIdx="2" presStyleCnt="3">
        <dgm:presLayoutVars>
          <dgm:chMax val="0"/>
          <dgm:chPref val="0"/>
          <dgm:bulletEnabled val="1"/>
        </dgm:presLayoutVars>
      </dgm:prSet>
      <dgm:spPr/>
      <dgm:t>
        <a:bodyPr/>
        <a:lstStyle/>
        <a:p>
          <a:endParaRPr lang="en-US"/>
        </a:p>
      </dgm:t>
    </dgm:pt>
    <dgm:pt modelId="{B357C82A-FE93-416B-AFBF-A74F9E99C4E4}" type="pres">
      <dgm:prSet presAssocID="{61F0DC84-7FFF-4FDD-9B5D-40960093AE83}" presName="desTx" presStyleLbl="alignAccFollowNode1" presStyleIdx="2" presStyleCnt="3">
        <dgm:presLayoutVars>
          <dgm:bulletEnabled val="1"/>
        </dgm:presLayoutVars>
      </dgm:prSet>
      <dgm:spPr/>
      <dgm:t>
        <a:bodyPr/>
        <a:lstStyle/>
        <a:p>
          <a:endParaRPr lang="en-US"/>
        </a:p>
      </dgm:t>
    </dgm:pt>
  </dgm:ptLst>
  <dgm:cxnLst>
    <dgm:cxn modelId="{A91BFFA3-350A-4166-B348-C3381ECBFEC9}" srcId="{FE969E54-0D5D-4815-BDC4-3309E2F7325D}" destId="{35600F67-42C2-4D1B-B072-DC2A36FCB136}" srcOrd="0" destOrd="0" parTransId="{B4BC79E1-FDBA-43D1-A988-1BE8090EDA7A}" sibTransId="{AD46A0AA-C45A-46D2-89AF-28390F99F9D0}"/>
    <dgm:cxn modelId="{68126B1C-273A-4C2A-9B18-546973E16EB0}" type="presOf" srcId="{FE969E54-0D5D-4815-BDC4-3309E2F7325D}" destId="{3E0BA246-3456-471B-AD87-1436FD251DD8}" srcOrd="0" destOrd="0" presId="urn:microsoft.com/office/officeart/2005/8/layout/hList1"/>
    <dgm:cxn modelId="{53EFA37C-826B-4B62-BCDB-B79EF990C8FA}" srcId="{468FBB7B-694A-47BF-865D-2F44C1051453}" destId="{BD5427FF-4EB1-4006-BF7F-42158E0C5129}" srcOrd="0" destOrd="0" parTransId="{A2F6D805-3B53-408A-A2A3-20BC3BF0D242}" sibTransId="{D47F9812-1256-4E44-A6BE-BEC559BE8FF3}"/>
    <dgm:cxn modelId="{EFF54F6A-0695-468F-B27B-FB993126333E}" type="presOf" srcId="{BD5427FF-4EB1-4006-BF7F-42158E0C5129}" destId="{5D9704F8-5A95-419F-B794-1E2F82666BDB}" srcOrd="0" destOrd="0" presId="urn:microsoft.com/office/officeart/2005/8/layout/hList1"/>
    <dgm:cxn modelId="{812D66A4-BE8D-4465-ACD1-99DC611B001C}" type="presOf" srcId="{2C0D9F89-7CE9-4195-96AC-FB27D6AA2EF6}" destId="{B357C82A-FE93-416B-AFBF-A74F9E99C4E4}" srcOrd="0" destOrd="0" presId="urn:microsoft.com/office/officeart/2005/8/layout/hList1"/>
    <dgm:cxn modelId="{550226CA-472C-49F1-B25B-1CEE1018899A}" type="presOf" srcId="{61F0DC84-7FFF-4FDD-9B5D-40960093AE83}" destId="{FC453BFD-315B-4968-86FA-B7D3125F3320}" srcOrd="0" destOrd="0" presId="urn:microsoft.com/office/officeart/2005/8/layout/hList1"/>
    <dgm:cxn modelId="{A1854A65-B666-4ACB-BBB5-7D11D971C78E}" type="presOf" srcId="{3A7B819B-DBE9-4610-B22A-5573EA6D532D}" destId="{C0A6D3D8-DBC2-45B6-8DEF-789A72552BB4}" srcOrd="0" destOrd="0" presId="urn:microsoft.com/office/officeart/2005/8/layout/hList1"/>
    <dgm:cxn modelId="{C45A4729-ACA2-40B5-885D-F25A52374F15}" srcId="{61F0DC84-7FFF-4FDD-9B5D-40960093AE83}" destId="{2C0D9F89-7CE9-4195-96AC-FB27D6AA2EF6}" srcOrd="0" destOrd="0" parTransId="{24D9371C-2787-474E-A690-5A09190A9707}" sibTransId="{39E6AF7E-E529-4319-B552-AB363EF4CE26}"/>
    <dgm:cxn modelId="{DB6B6C14-115D-41D1-8635-BC01AFDB922D}" type="presOf" srcId="{35600F67-42C2-4D1B-B072-DC2A36FCB136}" destId="{33CF15AD-8A19-4E9A-9BED-239A79CAF737}" srcOrd="0" destOrd="0" presId="urn:microsoft.com/office/officeart/2005/8/layout/hList1"/>
    <dgm:cxn modelId="{85983A82-A412-4D28-B4B3-AEEE1A08B42E}" type="presOf" srcId="{468FBB7B-694A-47BF-865D-2F44C1051453}" destId="{D5FB6A06-3991-4223-AD64-C4F7F6F4DF69}" srcOrd="0" destOrd="0" presId="urn:microsoft.com/office/officeart/2005/8/layout/hList1"/>
    <dgm:cxn modelId="{E38A91A6-4B9C-4F6F-B579-7BFC1157B40D}" srcId="{468FBB7B-694A-47BF-865D-2F44C1051453}" destId="{FE969E54-0D5D-4815-BDC4-3309E2F7325D}" srcOrd="1" destOrd="0" parTransId="{B5D9FB86-EEBE-488F-B7DE-B7CF5C9166C5}" sibTransId="{D7D19B67-C01A-45D3-B5C7-B7E1B18A9F62}"/>
    <dgm:cxn modelId="{5657C986-7FE7-43E3-9117-76D1CB3E2B8E}" srcId="{BD5427FF-4EB1-4006-BF7F-42158E0C5129}" destId="{3A7B819B-DBE9-4610-B22A-5573EA6D532D}" srcOrd="0" destOrd="0" parTransId="{DC4BEA23-BF6E-42AD-9BF0-CFBDE86A80F1}" sibTransId="{0BF6ACD3-AE1A-4691-8CBE-DBE77AB8A685}"/>
    <dgm:cxn modelId="{625BB80A-7CE8-42B6-907D-1A8F15B0749A}" srcId="{468FBB7B-694A-47BF-865D-2F44C1051453}" destId="{61F0DC84-7FFF-4FDD-9B5D-40960093AE83}" srcOrd="2" destOrd="0" parTransId="{2CB3CEFC-83E6-4DB9-B636-5287ACC11553}" sibTransId="{1FAE29ED-22A2-40FA-904A-0706E8542FE7}"/>
    <dgm:cxn modelId="{2116C4BB-A6FC-4239-9C99-2F110CA9352A}" type="presParOf" srcId="{D5FB6A06-3991-4223-AD64-C4F7F6F4DF69}" destId="{5EB24CCF-928A-4018-A934-89F31F564A83}" srcOrd="0" destOrd="0" presId="urn:microsoft.com/office/officeart/2005/8/layout/hList1"/>
    <dgm:cxn modelId="{677F68D5-8FFE-4148-BDE5-A4F608A79D21}" type="presParOf" srcId="{5EB24CCF-928A-4018-A934-89F31F564A83}" destId="{5D9704F8-5A95-419F-B794-1E2F82666BDB}" srcOrd="0" destOrd="0" presId="urn:microsoft.com/office/officeart/2005/8/layout/hList1"/>
    <dgm:cxn modelId="{29EEE1AD-D722-40EA-8018-44A3C62EDB0A}" type="presParOf" srcId="{5EB24CCF-928A-4018-A934-89F31F564A83}" destId="{C0A6D3D8-DBC2-45B6-8DEF-789A72552BB4}" srcOrd="1" destOrd="0" presId="urn:microsoft.com/office/officeart/2005/8/layout/hList1"/>
    <dgm:cxn modelId="{F85EEBD6-A476-4277-8250-5B551A1E93E1}" type="presParOf" srcId="{D5FB6A06-3991-4223-AD64-C4F7F6F4DF69}" destId="{C4F6D2AE-A2A5-43DC-B705-8E8ECE0E1613}" srcOrd="1" destOrd="0" presId="urn:microsoft.com/office/officeart/2005/8/layout/hList1"/>
    <dgm:cxn modelId="{6948EE5B-09D1-4934-B3BB-EBDC558D3E36}" type="presParOf" srcId="{D5FB6A06-3991-4223-AD64-C4F7F6F4DF69}" destId="{C1832C44-4F6B-4ABA-88DC-7D5A80779E4B}" srcOrd="2" destOrd="0" presId="urn:microsoft.com/office/officeart/2005/8/layout/hList1"/>
    <dgm:cxn modelId="{8E5B9195-39F6-43EA-B0ED-3D77EFD7D124}" type="presParOf" srcId="{C1832C44-4F6B-4ABA-88DC-7D5A80779E4B}" destId="{3E0BA246-3456-471B-AD87-1436FD251DD8}" srcOrd="0" destOrd="0" presId="urn:microsoft.com/office/officeart/2005/8/layout/hList1"/>
    <dgm:cxn modelId="{F3E7BAFA-4317-4A03-8A0A-229EA2B4530C}" type="presParOf" srcId="{C1832C44-4F6B-4ABA-88DC-7D5A80779E4B}" destId="{33CF15AD-8A19-4E9A-9BED-239A79CAF737}" srcOrd="1" destOrd="0" presId="urn:microsoft.com/office/officeart/2005/8/layout/hList1"/>
    <dgm:cxn modelId="{CD98328A-D065-4337-97F9-84D5AD2E00BD}" type="presParOf" srcId="{D5FB6A06-3991-4223-AD64-C4F7F6F4DF69}" destId="{F4639A07-76C8-4329-80D5-712628979A9A}" srcOrd="3" destOrd="0" presId="urn:microsoft.com/office/officeart/2005/8/layout/hList1"/>
    <dgm:cxn modelId="{132589AB-DA60-42FC-8DEC-276F604214BB}" type="presParOf" srcId="{D5FB6A06-3991-4223-AD64-C4F7F6F4DF69}" destId="{7F710124-E259-48A5-9895-471DE20AF50E}" srcOrd="4" destOrd="0" presId="urn:microsoft.com/office/officeart/2005/8/layout/hList1"/>
    <dgm:cxn modelId="{51C70FFF-DAA2-4783-9264-D507453DB169}" type="presParOf" srcId="{7F710124-E259-48A5-9895-471DE20AF50E}" destId="{FC453BFD-315B-4968-86FA-B7D3125F3320}" srcOrd="0" destOrd="0" presId="urn:microsoft.com/office/officeart/2005/8/layout/hList1"/>
    <dgm:cxn modelId="{3C37E7C4-5ACA-42B5-AC77-462062F1BEBE}" type="presParOf" srcId="{7F710124-E259-48A5-9895-471DE20AF50E}" destId="{B357C82A-FE93-416B-AFBF-A74F9E99C4E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9704F8-5A95-419F-B794-1E2F82666BDB}">
      <dsp:nvSpPr>
        <dsp:cNvPr id="0" name=""/>
        <dsp:cNvSpPr/>
      </dsp:nvSpPr>
      <dsp:spPr bwMode="white">
        <a:xfrm>
          <a:off x="2540" y="1157016"/>
          <a:ext cx="2476500" cy="990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150368" rIns="263144" bIns="150368" numCol="1" spcCol="1270" anchor="ctr" anchorCtr="0">
          <a:noAutofit/>
        </a:bodyPr>
        <a:lstStyle/>
        <a:p>
          <a:pPr lvl="0" algn="ctr" defTabSz="1644650">
            <a:lnSpc>
              <a:spcPct val="100000"/>
            </a:lnSpc>
            <a:spcBef>
              <a:spcPct val="0"/>
            </a:spcBef>
            <a:spcAft>
              <a:spcPct val="35000"/>
            </a:spcAft>
          </a:pPr>
          <a:r>
            <a:rPr lang="en-US" sz="3700" kern="1200">
              <a:solidFill>
                <a:schemeClr val="accent2">
                  <a:lumMod val="50000"/>
                </a:schemeClr>
              </a:solidFill>
            </a:rPr>
            <a:t>INPUT</a:t>
          </a:r>
        </a:p>
      </dsp:txBody>
      <dsp:txXfrm>
        <a:off x="2540" y="1157016"/>
        <a:ext cx="2476500" cy="990600"/>
      </dsp:txXfrm>
    </dsp:sp>
    <dsp:sp modelId="{C0A6D3D8-DBC2-45B6-8DEF-789A72552BB4}">
      <dsp:nvSpPr>
        <dsp:cNvPr id="0" name=""/>
        <dsp:cNvSpPr/>
      </dsp:nvSpPr>
      <dsp:spPr bwMode="white">
        <a:xfrm>
          <a:off x="2540" y="2147616"/>
          <a:ext cx="2476500" cy="211382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100000"/>
            </a:lnSpc>
            <a:spcBef>
              <a:spcPct val="0"/>
            </a:spcBef>
            <a:spcAft>
              <a:spcPct val="15000"/>
            </a:spcAft>
            <a:buChar char="••"/>
          </a:pPr>
          <a:r>
            <a:rPr lang="en-US" sz="2400" kern="1200"/>
            <a:t>Gathers and feeds raw data into the network</a:t>
          </a:r>
          <a:r>
            <a:rPr lang="en-US" sz="2800" kern="1200"/>
            <a:t>.</a:t>
          </a:r>
        </a:p>
      </dsp:txBody>
      <dsp:txXfrm>
        <a:off x="2540" y="2147616"/>
        <a:ext cx="2476500" cy="2113821"/>
      </dsp:txXfrm>
    </dsp:sp>
    <dsp:sp modelId="{3E0BA246-3456-471B-AD87-1436FD251DD8}">
      <dsp:nvSpPr>
        <dsp:cNvPr id="0" name=""/>
        <dsp:cNvSpPr/>
      </dsp:nvSpPr>
      <dsp:spPr bwMode="white">
        <a:xfrm>
          <a:off x="2825750" y="1157016"/>
          <a:ext cx="2476500" cy="990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150368" rIns="263144" bIns="150368" numCol="1" spcCol="1270" anchor="ctr" anchorCtr="0">
          <a:noAutofit/>
        </a:bodyPr>
        <a:lstStyle/>
        <a:p>
          <a:pPr lvl="0" algn="ctr" defTabSz="1644650">
            <a:lnSpc>
              <a:spcPct val="100000"/>
            </a:lnSpc>
            <a:spcBef>
              <a:spcPct val="0"/>
            </a:spcBef>
            <a:spcAft>
              <a:spcPct val="35000"/>
            </a:spcAft>
          </a:pPr>
          <a:r>
            <a:rPr lang="en-US" sz="3700" kern="1200">
              <a:solidFill>
                <a:schemeClr val="accent2">
                  <a:lumMod val="50000"/>
                </a:schemeClr>
              </a:solidFill>
            </a:rPr>
            <a:t>HIDDEN</a:t>
          </a:r>
        </a:p>
      </dsp:txBody>
      <dsp:txXfrm>
        <a:off x="2825750" y="1157016"/>
        <a:ext cx="2476500" cy="990600"/>
      </dsp:txXfrm>
    </dsp:sp>
    <dsp:sp modelId="{33CF15AD-8A19-4E9A-9BED-239A79CAF737}">
      <dsp:nvSpPr>
        <dsp:cNvPr id="0" name=""/>
        <dsp:cNvSpPr/>
      </dsp:nvSpPr>
      <dsp:spPr bwMode="white">
        <a:xfrm>
          <a:off x="2825750" y="2147616"/>
          <a:ext cx="2476500" cy="211382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100000"/>
            </a:lnSpc>
            <a:spcBef>
              <a:spcPct val="0"/>
            </a:spcBef>
            <a:spcAft>
              <a:spcPct val="15000"/>
            </a:spcAft>
            <a:buChar char="••"/>
          </a:pPr>
          <a:r>
            <a:rPr lang="en-US" sz="2400" kern="1200"/>
            <a:t>Responsible to process the input Data.</a:t>
          </a:r>
        </a:p>
      </dsp:txBody>
      <dsp:txXfrm>
        <a:off x="2825750" y="2147616"/>
        <a:ext cx="2476500" cy="2113821"/>
      </dsp:txXfrm>
    </dsp:sp>
    <dsp:sp modelId="{FC453BFD-315B-4968-86FA-B7D3125F3320}">
      <dsp:nvSpPr>
        <dsp:cNvPr id="0" name=""/>
        <dsp:cNvSpPr/>
      </dsp:nvSpPr>
      <dsp:spPr bwMode="white">
        <a:xfrm>
          <a:off x="5648960" y="1157016"/>
          <a:ext cx="2476500" cy="990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150368" rIns="263144" bIns="150368" numCol="1" spcCol="1270" anchor="ctr" anchorCtr="0">
          <a:noAutofit/>
        </a:bodyPr>
        <a:lstStyle/>
        <a:p>
          <a:pPr lvl="0" algn="ctr" defTabSz="1644650">
            <a:lnSpc>
              <a:spcPct val="100000"/>
            </a:lnSpc>
            <a:spcBef>
              <a:spcPct val="0"/>
            </a:spcBef>
            <a:spcAft>
              <a:spcPct val="35000"/>
            </a:spcAft>
          </a:pPr>
          <a:r>
            <a:rPr lang="en-US" sz="3700" kern="1200">
              <a:solidFill>
                <a:schemeClr val="accent2">
                  <a:lumMod val="50000"/>
                </a:schemeClr>
              </a:solidFill>
            </a:rPr>
            <a:t>OUTPUT</a:t>
          </a:r>
        </a:p>
      </dsp:txBody>
      <dsp:txXfrm>
        <a:off x="5648960" y="1157016"/>
        <a:ext cx="2476500" cy="990600"/>
      </dsp:txXfrm>
    </dsp:sp>
    <dsp:sp modelId="{B357C82A-FE93-416B-AFBF-A74F9E99C4E4}">
      <dsp:nvSpPr>
        <dsp:cNvPr id="0" name=""/>
        <dsp:cNvSpPr/>
      </dsp:nvSpPr>
      <dsp:spPr bwMode="white">
        <a:xfrm>
          <a:off x="5648960" y="2147616"/>
          <a:ext cx="2476500" cy="211382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100000"/>
            </a:lnSpc>
            <a:spcBef>
              <a:spcPct val="0"/>
            </a:spcBef>
            <a:spcAft>
              <a:spcPct val="15000"/>
            </a:spcAft>
            <a:buChar char="••"/>
          </a:pPr>
          <a:r>
            <a:rPr lang="en-US" sz="2000" kern="1200"/>
            <a:t>Produces the network's final prediction or outcome based on the processed input</a:t>
          </a:r>
          <a:r>
            <a:rPr lang="en-US" sz="2400" kern="1200"/>
            <a:t>.</a:t>
          </a:r>
        </a:p>
      </dsp:txBody>
      <dsp:txXfrm>
        <a:off x="5648960" y="2147616"/>
        <a:ext cx="2476500" cy="2113821"/>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2026/3/3</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2026/3/3</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2026/3/3</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2026/3/3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2026/3/3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372890" y="3089235"/>
            <a:ext cx="8915400" cy="923330"/>
          </a:xfrm>
          <a:prstGeom prst="rect">
            <a:avLst/>
          </a:prstGeom>
          <a:noFill/>
        </p:spPr>
        <p:txBody>
          <a:bodyPr wrap="square" rtlCol="0">
            <a:spAutoFit/>
          </a:bodyPr>
          <a:lstStyle/>
          <a:p>
            <a:r>
              <a:rPr lang="en-US" altLang="en-IN" sz="5400" b="1" spc="-1" dirty="0" smtClean="0">
                <a:solidFill>
                  <a:srgbClr val="ED7D31"/>
                </a:solidFill>
                <a:latin typeface="Calibri" panose="020F0502020204030204"/>
              </a:rPr>
              <a:t>Python &amp; Artificial intelligence</a:t>
            </a:r>
            <a:endParaRPr lang="en-US" altLang="en-IN" sz="5400" b="1" spc="-1" dirty="0">
              <a:solidFill>
                <a:srgbClr val="ED7D31"/>
              </a:solidFill>
              <a:latin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96875" y="269875"/>
            <a:ext cx="3173730" cy="922020"/>
          </a:xfrm>
          <a:prstGeom prst="rect">
            <a:avLst/>
          </a:prstGeom>
          <a:noFill/>
        </p:spPr>
        <p:txBody>
          <a:bodyPr wrap="square" rtlCol="0">
            <a:spAutoFit/>
          </a:bodyPr>
          <a:lstStyle/>
          <a:p>
            <a:r>
              <a:rPr lang="en-US" altLang="en-IN" sz="5400" b="1" spc="-1">
                <a:solidFill>
                  <a:srgbClr val="ED7D31"/>
                </a:solidFill>
                <a:latin typeface="Calibri" panose="020F0502020204030204"/>
              </a:rPr>
              <a:t>AGENDA</a:t>
            </a:r>
          </a:p>
        </p:txBody>
      </p:sp>
      <p:sp>
        <p:nvSpPr>
          <p:cNvPr id="4" name="Text Box 3"/>
          <p:cNvSpPr txBox="1"/>
          <p:nvPr/>
        </p:nvSpPr>
        <p:spPr>
          <a:xfrm>
            <a:off x="302895" y="1778000"/>
            <a:ext cx="7480300" cy="4154170"/>
          </a:xfrm>
          <a:prstGeom prst="rect">
            <a:avLst/>
          </a:prstGeom>
          <a:noFill/>
        </p:spPr>
        <p:txBody>
          <a:bodyPr wrap="square" rtlCol="0">
            <a:noAutofit/>
          </a:bodyPr>
          <a:lstStyle/>
          <a:p>
            <a:pPr marL="635" indent="0" algn="l">
              <a:lnSpc>
                <a:spcPct val="90000"/>
              </a:lnSpc>
              <a:spcBef>
                <a:spcPts val="1000"/>
              </a:spcBef>
              <a:buClr>
                <a:srgbClr val="FFFFFF"/>
              </a:buClr>
              <a:buSzTx/>
              <a:buFont typeface="Arial" panose="020B0604020202020204"/>
              <a:buNone/>
            </a:pPr>
            <a:endParaRPr lang="en-US" altLang="en-IN" sz="2400" spc="-1" dirty="0">
              <a:solidFill>
                <a:srgbClr val="FFFFFF"/>
              </a:solidFill>
              <a:latin typeface="Times New Roman" panose="02020603050405020304"/>
              <a:sym typeface="+mn-ea"/>
            </a:endParaRPr>
          </a:p>
          <a:p>
            <a:pPr marL="457200" indent="-456565" algn="l">
              <a:lnSpc>
                <a:spcPct val="90000"/>
              </a:lnSpc>
              <a:spcBef>
                <a:spcPts val="1000"/>
              </a:spcBef>
              <a:buClr>
                <a:srgbClr val="FFFFFF"/>
              </a:buClr>
              <a:buSzTx/>
              <a:buFont typeface="Arial" panose="020B0604020202020204"/>
              <a:buChar char="•"/>
            </a:pPr>
            <a:r>
              <a:rPr lang="en-US" altLang="en-IN" sz="2400" spc="-1" dirty="0" smtClean="0">
                <a:solidFill>
                  <a:srgbClr val="FFFFFF"/>
                </a:solidFill>
                <a:latin typeface="Times New Roman" panose="02020603050405020304"/>
              </a:rPr>
              <a:t>Introduction of Ai and Python.</a:t>
            </a:r>
            <a:endParaRPr lang="en-US" altLang="en-IN" sz="2400" spc="-1" dirty="0">
              <a:solidFill>
                <a:srgbClr val="FFFFFF"/>
              </a:solidFill>
              <a:latin typeface="Times New Roman" panose="02020603050405020304"/>
            </a:endParaRPr>
          </a:p>
          <a:p>
            <a:pPr marL="457200" indent="-456565" algn="l">
              <a:lnSpc>
                <a:spcPct val="90000"/>
              </a:lnSpc>
              <a:spcBef>
                <a:spcPts val="1000"/>
              </a:spcBef>
              <a:buClr>
                <a:srgbClr val="FFFFFF"/>
              </a:buClr>
              <a:buSzTx/>
              <a:buFont typeface="Arial" panose="020B0604020202020204"/>
              <a:buChar char="•"/>
            </a:pPr>
            <a:r>
              <a:rPr lang="en-US" altLang="en-IN" sz="2400" spc="-1" dirty="0" smtClean="0">
                <a:solidFill>
                  <a:srgbClr val="FFFFFF"/>
                </a:solidFill>
                <a:latin typeface="Times New Roman" panose="02020603050405020304"/>
              </a:rPr>
              <a:t>Setup Python </a:t>
            </a:r>
            <a:r>
              <a:rPr lang="en-US" altLang="en-IN" sz="2400" spc="-1" dirty="0" err="1" smtClean="0">
                <a:solidFill>
                  <a:srgbClr val="FFFFFF"/>
                </a:solidFill>
                <a:latin typeface="Times New Roman" panose="02020603050405020304"/>
              </a:rPr>
              <a:t>Enviromet</a:t>
            </a:r>
            <a:r>
              <a:rPr lang="en-US" altLang="en-IN" sz="2400" spc="-1" dirty="0" smtClean="0">
                <a:solidFill>
                  <a:srgbClr val="FFFFFF"/>
                </a:solidFill>
                <a:latin typeface="Times New Roman" panose="02020603050405020304"/>
              </a:rPr>
              <a:t> in System.</a:t>
            </a:r>
          </a:p>
          <a:p>
            <a:pPr marL="457200" indent="-456565" algn="l">
              <a:lnSpc>
                <a:spcPct val="90000"/>
              </a:lnSpc>
              <a:spcBef>
                <a:spcPts val="1000"/>
              </a:spcBef>
              <a:buClr>
                <a:srgbClr val="FFFFFF"/>
              </a:buClr>
              <a:buSzTx/>
              <a:buFont typeface="Arial" panose="020B0604020202020204"/>
              <a:buChar char="•"/>
            </a:pPr>
            <a:r>
              <a:rPr lang="en-US" altLang="en-IN" sz="2400" spc="-1" dirty="0" smtClean="0">
                <a:solidFill>
                  <a:srgbClr val="FFFFFF"/>
                </a:solidFill>
                <a:latin typeface="Times New Roman" panose="02020603050405020304"/>
              </a:rPr>
              <a:t>Basic Python variable and data type</a:t>
            </a:r>
          </a:p>
          <a:p>
            <a:pPr marL="457200" indent="-456565" algn="l">
              <a:lnSpc>
                <a:spcPct val="90000"/>
              </a:lnSpc>
              <a:spcBef>
                <a:spcPts val="1000"/>
              </a:spcBef>
              <a:buClr>
                <a:srgbClr val="FFFFFF"/>
              </a:buClr>
              <a:buSzTx/>
              <a:buFont typeface="Arial" panose="020B0604020202020204"/>
              <a:buChar char="•"/>
            </a:pPr>
            <a:r>
              <a:rPr lang="en-US" altLang="en-IN" sz="2400" spc="-1" dirty="0" smtClean="0">
                <a:solidFill>
                  <a:srgbClr val="FFFFFF"/>
                </a:solidFill>
                <a:latin typeface="Times New Roman" panose="02020603050405020304"/>
              </a:rPr>
              <a:t>ML life cycle with </a:t>
            </a:r>
            <a:r>
              <a:rPr lang="en-US" altLang="en-IN" sz="2400" spc="-1" dirty="0" err="1" smtClean="0">
                <a:solidFill>
                  <a:srgbClr val="FFFFFF"/>
                </a:solidFill>
                <a:latin typeface="Times New Roman" panose="02020603050405020304"/>
              </a:rPr>
              <a:t>Usecase</a:t>
            </a:r>
            <a:r>
              <a:rPr lang="en-US" altLang="en-IN" sz="2400" spc="-1" dirty="0" smtClean="0">
                <a:solidFill>
                  <a:srgbClr val="FFFFFF"/>
                </a:solidFill>
                <a:latin typeface="Times New Roman" panose="02020603050405020304"/>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59410" y="288671"/>
            <a:ext cx="8352790" cy="904875"/>
          </a:xfrm>
          <a:prstGeom prst="rect">
            <a:avLst/>
          </a:prstGeom>
          <a:noFill/>
        </p:spPr>
        <p:txBody>
          <a:bodyPr wrap="square" rtlCol="0">
            <a:noAutofit/>
          </a:bodyPr>
          <a:lstStyle/>
          <a:p>
            <a:r>
              <a:rPr lang="en-IN" sz="5400" b="1" spc="-1">
                <a:solidFill>
                  <a:srgbClr val="ED7D31"/>
                </a:solidFill>
                <a:latin typeface="Calibri" panose="020F0502020204030204"/>
                <a:sym typeface="+mn-ea"/>
              </a:rPr>
              <a:t>AI </a:t>
            </a:r>
            <a:r>
              <a:rPr lang="en-IN" sz="3600" b="1" spc="-1">
                <a:solidFill>
                  <a:srgbClr val="C00000"/>
                </a:solidFill>
                <a:latin typeface="Calibri" panose="020F0502020204030204"/>
                <a:sym typeface="+mn-ea"/>
              </a:rPr>
              <a:t>Vs</a:t>
            </a:r>
            <a:r>
              <a:rPr lang="en-IN" sz="5400" b="1" spc="-1">
                <a:solidFill>
                  <a:srgbClr val="ED7D31"/>
                </a:solidFill>
                <a:latin typeface="Calibri" panose="020F0502020204030204"/>
                <a:sym typeface="+mn-ea"/>
              </a:rPr>
              <a:t> ML </a:t>
            </a:r>
            <a:r>
              <a:rPr lang="en-IN" sz="3600" b="1" spc="-1">
                <a:solidFill>
                  <a:srgbClr val="C00000"/>
                </a:solidFill>
                <a:latin typeface="Calibri" panose="020F0502020204030204"/>
                <a:sym typeface="+mn-ea"/>
              </a:rPr>
              <a:t>Vs</a:t>
            </a:r>
            <a:r>
              <a:rPr lang="en-IN" sz="5400" b="1" spc="-1">
                <a:solidFill>
                  <a:srgbClr val="ED7D31"/>
                </a:solidFill>
                <a:latin typeface="Calibri" panose="020F0502020204030204"/>
                <a:sym typeface="+mn-ea"/>
              </a:rPr>
              <a:t> DL </a:t>
            </a:r>
            <a:r>
              <a:rPr lang="en-IN" sz="3600" b="1" spc="-1">
                <a:solidFill>
                  <a:srgbClr val="C00000"/>
                </a:solidFill>
                <a:latin typeface="Calibri" panose="020F0502020204030204"/>
                <a:sym typeface="+mn-ea"/>
              </a:rPr>
              <a:t>Vs</a:t>
            </a:r>
            <a:r>
              <a:rPr lang="en-IN" sz="5400" b="1" spc="-1">
                <a:solidFill>
                  <a:srgbClr val="C00000"/>
                </a:solidFill>
                <a:latin typeface="Calibri" panose="020F0502020204030204"/>
                <a:sym typeface="+mn-ea"/>
              </a:rPr>
              <a:t> </a:t>
            </a:r>
            <a:r>
              <a:rPr lang="en-IN" sz="5400" b="1" spc="-1">
                <a:solidFill>
                  <a:srgbClr val="ED7D31"/>
                </a:solidFill>
                <a:latin typeface="Calibri" panose="020F0502020204030204"/>
                <a:sym typeface="+mn-ea"/>
              </a:rPr>
              <a:t>DS</a:t>
            </a:r>
            <a:endParaRPr lang="en-IN" sz="5400" b="1" spc="-1">
              <a:solidFill>
                <a:srgbClr val="ED7D31"/>
              </a:solidFill>
              <a:latin typeface="Calibri" panose="020F0502020204030204"/>
            </a:endParaRPr>
          </a:p>
          <a:p>
            <a:endParaRPr lang="en-US" altLang="en-IN" sz="5400" b="1" spc="-1">
              <a:solidFill>
                <a:srgbClr val="ED7D31"/>
              </a:solidFill>
              <a:latin typeface="Calibri" panose="020F0502020204030204"/>
            </a:endParaRPr>
          </a:p>
        </p:txBody>
      </p:sp>
      <p:pic>
        <p:nvPicPr>
          <p:cNvPr id="4" name="Picture 3" descr="Untitled design"/>
          <p:cNvPicPr>
            <a:picLocks noChangeAspect="1"/>
          </p:cNvPicPr>
          <p:nvPr/>
        </p:nvPicPr>
        <p:blipFill>
          <a:blip r:embed="rId2"/>
          <a:stretch>
            <a:fillRect/>
          </a:stretch>
        </p:blipFill>
        <p:spPr>
          <a:xfrm>
            <a:off x="288404" y="1474839"/>
            <a:ext cx="10005970" cy="5167224"/>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96875" y="127000"/>
            <a:ext cx="8358505" cy="1106805"/>
          </a:xfrm>
          <a:prstGeom prst="rect">
            <a:avLst/>
          </a:prstGeom>
          <a:noFill/>
        </p:spPr>
        <p:txBody>
          <a:bodyPr wrap="square" rtlCol="0">
            <a:spAutoFit/>
          </a:bodyPr>
          <a:lstStyle/>
          <a:p>
            <a:r>
              <a:rPr lang="en-US" altLang="en-IN" sz="5400" b="1" spc="-1">
                <a:solidFill>
                  <a:srgbClr val="ED7D31"/>
                </a:solidFill>
                <a:latin typeface="Calibri" panose="020F0502020204030204"/>
              </a:rPr>
              <a:t>Artificial Intelligence  -  </a:t>
            </a:r>
            <a:r>
              <a:rPr lang="en-US" altLang="en-IN" sz="6600" b="1" spc="-1">
                <a:solidFill>
                  <a:srgbClr val="ED7D31"/>
                </a:solidFill>
                <a:latin typeface="Calibri" panose="020F0502020204030204"/>
              </a:rPr>
              <a:t>Ai</a:t>
            </a:r>
            <a:r>
              <a:rPr lang="en-US" altLang="en-IN" sz="5400" b="1" spc="-1">
                <a:solidFill>
                  <a:srgbClr val="ED7D31"/>
                </a:solidFill>
                <a:latin typeface="Calibri" panose="020F0502020204030204"/>
              </a:rPr>
              <a:t> </a:t>
            </a:r>
          </a:p>
        </p:txBody>
      </p:sp>
      <p:sp>
        <p:nvSpPr>
          <p:cNvPr id="4" name="Text Box 3"/>
          <p:cNvSpPr txBox="1"/>
          <p:nvPr/>
        </p:nvSpPr>
        <p:spPr>
          <a:xfrm>
            <a:off x="396875" y="1362710"/>
            <a:ext cx="9491345" cy="5251450"/>
          </a:xfrm>
          <a:prstGeom prst="rect">
            <a:avLst/>
          </a:prstGeom>
          <a:noFill/>
        </p:spPr>
        <p:txBody>
          <a:bodyPr wrap="square" rtlCol="0">
            <a:spAutoFit/>
          </a:bodyPr>
          <a:lstStyle/>
          <a:p>
            <a:pPr marL="457835" indent="-457200" algn="l">
              <a:lnSpc>
                <a:spcPct val="90000"/>
              </a:lnSpc>
              <a:spcBef>
                <a:spcPts val="1000"/>
              </a:spcBef>
              <a:buClr>
                <a:srgbClr val="FFFFFF"/>
              </a:buClr>
              <a:buSzTx/>
              <a:buFont typeface="Arial" panose="020B0604020202020204" pitchFamily="34" charset="0"/>
              <a:buChar char="•"/>
            </a:pPr>
            <a:r>
              <a:rPr sz="2800" spc="-1">
                <a:solidFill>
                  <a:schemeClr val="bg1"/>
                </a:solidFill>
                <a:latin typeface="Times New Roman" panose="02020603050405020304"/>
              </a:rPr>
              <a:t>Artificial Intelligence (AI) is the science of making computers smart by enabling them to learn,  and solve problems. It mimics human intelligence, allowing machines to understand, adapt, and make decisions.</a:t>
            </a:r>
          </a:p>
          <a:p>
            <a:pPr marL="635" indent="0" algn="l">
              <a:lnSpc>
                <a:spcPct val="90000"/>
              </a:lnSpc>
              <a:spcBef>
                <a:spcPts val="1000"/>
              </a:spcBef>
              <a:buClr>
                <a:srgbClr val="FFFFFF"/>
              </a:buClr>
              <a:buSzTx/>
              <a:buFont typeface="Arial" panose="020B0604020202020204"/>
              <a:buNone/>
            </a:pPr>
            <a:endParaRPr sz="2800" spc="-1">
              <a:solidFill>
                <a:schemeClr val="bg1"/>
              </a:solidFill>
              <a:latin typeface="Times New Roman" panose="02020603050405020304"/>
            </a:endParaRPr>
          </a:p>
          <a:p>
            <a:pPr marL="457835" indent="-457200" algn="l">
              <a:lnSpc>
                <a:spcPct val="90000"/>
              </a:lnSpc>
              <a:spcBef>
                <a:spcPts val="1000"/>
              </a:spcBef>
              <a:buClr>
                <a:srgbClr val="FFFFFF"/>
              </a:buClr>
              <a:buSzTx/>
              <a:buFont typeface="Arial" panose="020B0604020202020204" pitchFamily="34" charset="0"/>
              <a:buChar char="•"/>
            </a:pPr>
            <a:r>
              <a:rPr sz="2800" spc="-1">
                <a:solidFill>
                  <a:schemeClr val="bg1"/>
                </a:solidFill>
                <a:latin typeface="Times New Roman" panose="02020603050405020304"/>
              </a:rPr>
              <a:t>Artificial intelligence leverages computers and machines to mimic</a:t>
            </a:r>
            <a:r>
              <a:rPr lang="en-US" sz="2800" spc="-1">
                <a:solidFill>
                  <a:schemeClr val="bg1"/>
                </a:solidFill>
                <a:latin typeface="Times New Roman" panose="02020603050405020304"/>
              </a:rPr>
              <a:t> The </a:t>
            </a:r>
            <a:r>
              <a:rPr sz="2800" spc="-1">
                <a:solidFill>
                  <a:schemeClr val="bg1"/>
                </a:solidFill>
                <a:latin typeface="Times New Roman" panose="02020603050405020304"/>
                <a:sym typeface="+mn-ea"/>
              </a:rPr>
              <a:t>human mind</a:t>
            </a:r>
            <a:r>
              <a:rPr sz="2800" spc="-1">
                <a:solidFill>
                  <a:schemeClr val="bg1"/>
                </a:solidFill>
                <a:latin typeface="Times New Roman" panose="02020603050405020304"/>
              </a:rPr>
              <a:t> </a:t>
            </a:r>
            <a:r>
              <a:rPr lang="en-US" sz="2800" spc="-1">
                <a:solidFill>
                  <a:schemeClr val="bg1"/>
                </a:solidFill>
                <a:latin typeface="Times New Roman" panose="02020603050405020304"/>
              </a:rPr>
              <a:t>to </a:t>
            </a:r>
            <a:r>
              <a:rPr sz="2800" spc="-1">
                <a:solidFill>
                  <a:schemeClr val="bg1"/>
                </a:solidFill>
                <a:latin typeface="Times New Roman" panose="02020603050405020304"/>
              </a:rPr>
              <a:t>problem-solving and decision-making capabilities of the</a:t>
            </a:r>
            <a:r>
              <a:rPr lang="en-US" sz="2800" spc="-1">
                <a:solidFill>
                  <a:schemeClr val="bg1"/>
                </a:solidFill>
                <a:latin typeface="Times New Roman" panose="02020603050405020304"/>
              </a:rPr>
              <a:t> System.</a:t>
            </a:r>
          </a:p>
          <a:p>
            <a:pPr marL="635" indent="0" algn="l">
              <a:lnSpc>
                <a:spcPct val="90000"/>
              </a:lnSpc>
              <a:spcBef>
                <a:spcPts val="1000"/>
              </a:spcBef>
              <a:buClr>
                <a:srgbClr val="FFFFFF"/>
              </a:buClr>
              <a:buSzTx/>
              <a:buFont typeface="Arial" panose="020B0604020202020204"/>
              <a:buNone/>
            </a:pPr>
            <a:endParaRPr lang="en-US" sz="2800" spc="-1">
              <a:solidFill>
                <a:schemeClr val="bg1"/>
              </a:solidFill>
              <a:latin typeface="Times New Roman" panose="02020603050405020304"/>
            </a:endParaRPr>
          </a:p>
          <a:p>
            <a:pPr marL="457835" indent="-457200" algn="l">
              <a:lnSpc>
                <a:spcPct val="90000"/>
              </a:lnSpc>
              <a:spcBef>
                <a:spcPts val="1000"/>
              </a:spcBef>
              <a:buClr>
                <a:srgbClr val="FFFFFF"/>
              </a:buClr>
              <a:buSzTx/>
              <a:buFont typeface="Arial" panose="020B0604020202020204" pitchFamily="34" charset="0"/>
              <a:buChar char="•"/>
            </a:pPr>
            <a:r>
              <a:rPr lang="en-US" sz="2800" spc="-1">
                <a:solidFill>
                  <a:schemeClr val="bg1"/>
                </a:solidFill>
                <a:latin typeface="Times New Roman" panose="02020603050405020304"/>
              </a:rPr>
              <a:t>Ai build the intelligent  program that can mimic the human intelligence. eg. Smart home , Autonomous Vehicles ,Recommendation Systems ,Voice Assistants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523651" y="1787529"/>
            <a:ext cx="1024722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bg1"/>
                </a:solidFill>
              </a:rPr>
              <a:t>Artificial Intelligence (AI)</a:t>
            </a:r>
            <a:r>
              <a:rPr lang="en-US" dirty="0">
                <a:solidFill>
                  <a:schemeClr val="bg1"/>
                </a:solidFill>
              </a:rPr>
              <a:t> is the ability of a computer or machine to think, learn</a:t>
            </a:r>
            <a:r>
              <a:rPr lang="en-US" dirty="0" smtClean="0">
                <a:solidFill>
                  <a:schemeClr val="bg1"/>
                </a:solidFill>
              </a:rPr>
              <a:t>,</a:t>
            </a:r>
          </a:p>
          <a:p>
            <a:pPr lvl="0" eaLnBrk="0" fontAlgn="base" hangingPunct="0">
              <a:spcBef>
                <a:spcPct val="0"/>
              </a:spcBef>
              <a:spcAft>
                <a:spcPct val="0"/>
              </a:spcAft>
            </a:pPr>
            <a:r>
              <a:rPr lang="en-US" dirty="0" smtClean="0">
                <a:solidFill>
                  <a:schemeClr val="bg1"/>
                </a:solidFill>
              </a:rPr>
              <a:t> </a:t>
            </a:r>
            <a:r>
              <a:rPr lang="en-US" dirty="0">
                <a:solidFill>
                  <a:schemeClr val="bg1"/>
                </a:solidFill>
              </a:rPr>
              <a:t>and make decisions like a human</a:t>
            </a:r>
            <a:r>
              <a:rPr lang="en-US" dirty="0" smtClean="0">
                <a:solidFill>
                  <a:schemeClr val="bg1"/>
                </a:solidFill>
              </a:rPr>
              <a:t>.</a:t>
            </a:r>
          </a:p>
          <a:p>
            <a:pPr lvl="0" eaLnBrk="0" fontAlgn="base" hangingPunct="0">
              <a:spcBef>
                <a:spcPct val="0"/>
              </a:spcBef>
              <a:spcAft>
                <a:spcPct val="0"/>
              </a:spcAft>
            </a:pPr>
            <a:endParaRPr kumimoji="0" lang="en-US" altLang="en-US" sz="1800" b="1" i="0" u="none" strike="noStrike" cap="none" normalizeH="0" baseline="0" dirty="0">
              <a:ln>
                <a:noFill/>
              </a:ln>
              <a:solidFill>
                <a:schemeClr val="bg1"/>
              </a:solidFill>
              <a:effectLst/>
              <a:latin typeface="Arial" panose="020B0604020202020204" pitchFamily="34" charset="0"/>
            </a:endParaRPr>
          </a:p>
          <a:p>
            <a:pPr lvl="0" eaLnBrk="0" fontAlgn="base" hangingPunct="0">
              <a:spcBef>
                <a:spcPct val="0"/>
              </a:spcBef>
              <a:spcAft>
                <a:spcPct val="0"/>
              </a:spcAft>
            </a:pPr>
            <a:endParaRPr kumimoji="0" lang="en-US" altLang="en-US" sz="1800" b="1"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rgbClr val="FF3300"/>
                </a:solidFill>
                <a:effectLst/>
                <a:latin typeface="Arial" panose="020B0604020202020204" pitchFamily="34" charset="0"/>
              </a:rPr>
              <a:t>Face Recognition</a:t>
            </a:r>
            <a:r>
              <a:rPr kumimoji="0" lang="en-US" altLang="en-US" sz="1800" b="0" i="0" u="none" strike="noStrike" cap="none" normalizeH="0" baseline="0" dirty="0" smtClean="0">
                <a:ln>
                  <a:noFill/>
                </a:ln>
                <a:solidFill>
                  <a:schemeClr val="bg1"/>
                </a:solidFill>
                <a:effectLst/>
                <a:latin typeface="Arial" panose="020B0604020202020204" pitchFamily="34" charset="0"/>
              </a:rPr>
              <a:t/>
            </a:r>
            <a:br>
              <a:rPr kumimoji="0" lang="en-US" altLang="en-US" sz="1800" b="0" i="0" u="none" strike="noStrike" cap="none" normalizeH="0" baseline="0" dirty="0" smtClean="0">
                <a:ln>
                  <a:noFill/>
                </a:ln>
                <a:solidFill>
                  <a:schemeClr val="bg1"/>
                </a:solidFill>
                <a:effectLst/>
                <a:latin typeface="Arial" panose="020B0604020202020204" pitchFamily="34" charset="0"/>
              </a:rPr>
            </a:br>
            <a:r>
              <a:rPr kumimoji="0" lang="en-US" altLang="en-US" sz="1800" b="0" i="0" u="none" strike="noStrike" cap="none" normalizeH="0" baseline="0" dirty="0" smtClean="0">
                <a:ln>
                  <a:noFill/>
                </a:ln>
                <a:solidFill>
                  <a:schemeClr val="bg1"/>
                </a:solidFill>
                <a:effectLst/>
                <a:latin typeface="Arial" panose="020B0604020202020204" pitchFamily="34" charset="0"/>
              </a:rPr>
              <a:t>When your phone unlocks by recognizing your face — that is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rgbClr val="FF3300"/>
                </a:solidFill>
                <a:effectLst/>
                <a:latin typeface="Arial" panose="020B0604020202020204" pitchFamily="34" charset="0"/>
              </a:rPr>
              <a:t>Voice Assistant</a:t>
            </a:r>
            <a:r>
              <a:rPr kumimoji="0" lang="en-US" altLang="en-US" sz="1800" b="0" i="0" u="none" strike="noStrike" cap="none" normalizeH="0" baseline="0" dirty="0" smtClean="0">
                <a:ln>
                  <a:noFill/>
                </a:ln>
                <a:solidFill>
                  <a:schemeClr val="bg1"/>
                </a:solidFill>
                <a:effectLst/>
                <a:latin typeface="Arial" panose="020B0604020202020204" pitchFamily="34" charset="0"/>
              </a:rPr>
              <a:t/>
            </a:r>
            <a:br>
              <a:rPr kumimoji="0" lang="en-US" altLang="en-US" sz="1800" b="0" i="0" u="none" strike="noStrike" cap="none" normalizeH="0" baseline="0" dirty="0" smtClean="0">
                <a:ln>
                  <a:noFill/>
                </a:ln>
                <a:solidFill>
                  <a:schemeClr val="bg1"/>
                </a:solidFill>
                <a:effectLst/>
                <a:latin typeface="Arial" panose="020B0604020202020204" pitchFamily="34" charset="0"/>
              </a:rPr>
            </a:br>
            <a:r>
              <a:rPr kumimoji="0" lang="en-US" altLang="en-US" sz="1800" b="0" i="0" u="none" strike="noStrike" cap="none" normalizeH="0" baseline="0" dirty="0" smtClean="0">
                <a:ln>
                  <a:noFill/>
                </a:ln>
                <a:solidFill>
                  <a:schemeClr val="bg1"/>
                </a:solidFill>
                <a:effectLst/>
                <a:latin typeface="Arial" panose="020B0604020202020204" pitchFamily="34" charset="0"/>
              </a:rPr>
              <a:t>When you talk to </a:t>
            </a:r>
            <a:r>
              <a:rPr kumimoji="0" lang="en-US" altLang="en-US" sz="1800" b="1" i="0" u="none" strike="noStrike" cap="none" normalizeH="0" baseline="0" dirty="0" smtClean="0">
                <a:ln>
                  <a:noFill/>
                </a:ln>
                <a:solidFill>
                  <a:schemeClr val="bg1"/>
                </a:solidFill>
                <a:effectLst/>
                <a:latin typeface="Arial" panose="020B0604020202020204" pitchFamily="34" charset="0"/>
              </a:rPr>
              <a:t>Google Assistant</a:t>
            </a:r>
            <a:r>
              <a:rPr kumimoji="0" lang="en-US" altLang="en-US" sz="1800" b="0" i="0" u="none" strike="noStrike" cap="none" normalizeH="0" baseline="0" dirty="0" smtClean="0">
                <a:ln>
                  <a:noFill/>
                </a:ln>
                <a:solidFill>
                  <a:schemeClr val="bg1"/>
                </a:solidFill>
                <a:effectLst/>
                <a:latin typeface="Arial" panose="020B0604020202020204" pitchFamily="34" charset="0"/>
              </a:rPr>
              <a:t> or </a:t>
            </a:r>
            <a:r>
              <a:rPr kumimoji="0" lang="en-US" altLang="en-US" sz="1800" b="1" i="0" u="none" strike="noStrike" cap="none" normalizeH="0" baseline="0" dirty="0" smtClean="0">
                <a:ln>
                  <a:noFill/>
                </a:ln>
                <a:solidFill>
                  <a:schemeClr val="bg1"/>
                </a:solidFill>
                <a:effectLst/>
                <a:latin typeface="Arial" panose="020B0604020202020204" pitchFamily="34" charset="0"/>
              </a:rPr>
              <a:t>Amazon Alexa</a:t>
            </a:r>
            <a:r>
              <a:rPr kumimoji="0" lang="en-US" altLang="en-US" sz="1800" b="0" i="0" u="none" strike="noStrike" cap="none" normalizeH="0" baseline="0" dirty="0" smtClean="0">
                <a:ln>
                  <a:noFill/>
                </a:ln>
                <a:solidFill>
                  <a:schemeClr val="bg1"/>
                </a:solidFill>
                <a:effectLst/>
                <a:latin typeface="Arial" panose="020B0604020202020204" pitchFamily="34" charset="0"/>
              </a:rPr>
              <a:t> and they understand and reply — that is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rgbClr val="FF3300"/>
                </a:solidFill>
                <a:effectLst/>
                <a:latin typeface="Arial" panose="020B0604020202020204" pitchFamily="34" charset="0"/>
              </a:rPr>
              <a:t>YouTube Recommendations</a:t>
            </a:r>
            <a:r>
              <a:rPr kumimoji="0" lang="en-US" altLang="en-US" sz="1800" b="0" i="0" u="none" strike="noStrike" cap="none" normalizeH="0" baseline="0" dirty="0" smtClean="0">
                <a:ln>
                  <a:noFill/>
                </a:ln>
                <a:solidFill>
                  <a:schemeClr val="bg1"/>
                </a:solidFill>
                <a:effectLst/>
                <a:latin typeface="Arial" panose="020B0604020202020204" pitchFamily="34" charset="0"/>
              </a:rPr>
              <a:t/>
            </a:r>
            <a:br>
              <a:rPr kumimoji="0" lang="en-US" altLang="en-US" sz="1800" b="0" i="0" u="none" strike="noStrike" cap="none" normalizeH="0" baseline="0" dirty="0" smtClean="0">
                <a:ln>
                  <a:noFill/>
                </a:ln>
                <a:solidFill>
                  <a:schemeClr val="bg1"/>
                </a:solidFill>
                <a:effectLst/>
                <a:latin typeface="Arial" panose="020B0604020202020204" pitchFamily="34" charset="0"/>
              </a:rPr>
            </a:br>
            <a:r>
              <a:rPr kumimoji="0" lang="en-US" altLang="en-US" sz="1800" b="0" i="0" u="none" strike="noStrike" cap="none" normalizeH="0" baseline="0" dirty="0" smtClean="0">
                <a:ln>
                  <a:noFill/>
                </a:ln>
                <a:solidFill>
                  <a:schemeClr val="bg1"/>
                </a:solidFill>
                <a:effectLst/>
                <a:latin typeface="Arial" panose="020B0604020202020204" pitchFamily="34" charset="0"/>
              </a:rPr>
              <a:t>When </a:t>
            </a:r>
            <a:r>
              <a:rPr kumimoji="0" lang="en-US" altLang="en-US" sz="1800" b="1" i="0" u="none" strike="noStrike" cap="none" normalizeH="0" baseline="0" dirty="0" smtClean="0">
                <a:ln>
                  <a:noFill/>
                </a:ln>
                <a:solidFill>
                  <a:schemeClr val="bg1"/>
                </a:solidFill>
                <a:effectLst/>
                <a:latin typeface="Arial" panose="020B0604020202020204" pitchFamily="34" charset="0"/>
              </a:rPr>
              <a:t>YouTube</a:t>
            </a:r>
            <a:r>
              <a:rPr kumimoji="0" lang="en-US" altLang="en-US" sz="1800" b="0" i="0" u="none" strike="noStrike" cap="none" normalizeH="0" baseline="0" dirty="0" smtClean="0">
                <a:ln>
                  <a:noFill/>
                </a:ln>
                <a:solidFill>
                  <a:schemeClr val="bg1"/>
                </a:solidFill>
                <a:effectLst/>
                <a:latin typeface="Arial" panose="020B0604020202020204" pitchFamily="34" charset="0"/>
              </a:rPr>
              <a:t> suggests videos based on what you watch — that is AI.</a:t>
            </a:r>
          </a:p>
        </p:txBody>
      </p:sp>
    </p:spTree>
    <p:extLst>
      <p:ext uri="{BB962C8B-B14F-4D97-AF65-F5344CB8AC3E}">
        <p14:creationId xmlns:p14="http://schemas.microsoft.com/office/powerpoint/2010/main" val="43970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83845"/>
            <a:ext cx="8409305" cy="922020"/>
          </a:xfrm>
          <a:prstGeom prst="rect">
            <a:avLst/>
          </a:prstGeom>
          <a:noFill/>
        </p:spPr>
        <p:txBody>
          <a:bodyPr wrap="square" rtlCol="0">
            <a:spAutoFit/>
          </a:bodyPr>
          <a:lstStyle/>
          <a:p>
            <a:r>
              <a:rPr lang="en-US" altLang="en-IN" sz="5400" b="1" spc="-1">
                <a:solidFill>
                  <a:srgbClr val="ED7D31"/>
                </a:solidFill>
                <a:latin typeface="Calibri" panose="020F0502020204030204"/>
              </a:rPr>
              <a:t>MACHINE LEARNING</a:t>
            </a:r>
          </a:p>
        </p:txBody>
      </p:sp>
      <p:sp>
        <p:nvSpPr>
          <p:cNvPr id="4" name="Text Box 3"/>
          <p:cNvSpPr txBox="1"/>
          <p:nvPr/>
        </p:nvSpPr>
        <p:spPr>
          <a:xfrm>
            <a:off x="356235" y="1386840"/>
            <a:ext cx="9146540" cy="3317875"/>
          </a:xfrm>
          <a:prstGeom prst="rect">
            <a:avLst/>
          </a:prstGeom>
          <a:noFill/>
        </p:spPr>
        <p:txBody>
          <a:bodyPr wrap="square" rtlCol="0">
            <a:spAutoFit/>
          </a:bodyPr>
          <a:lstStyle/>
          <a:p>
            <a:pPr marL="635" indent="0" algn="l">
              <a:lnSpc>
                <a:spcPct val="90000"/>
              </a:lnSpc>
              <a:spcBef>
                <a:spcPts val="1000"/>
              </a:spcBef>
              <a:buClr>
                <a:srgbClr val="FFFFFF"/>
              </a:buClr>
              <a:buSzTx/>
              <a:buFont typeface="Arial" panose="020B0604020202020204"/>
              <a:buNone/>
            </a:pPr>
            <a:r>
              <a:rPr sz="2800" spc="-1" dirty="0">
                <a:solidFill>
                  <a:srgbClr val="FFFFFF"/>
                </a:solidFill>
                <a:latin typeface="Times New Roman" panose="02020603050405020304"/>
              </a:rPr>
              <a:t>Machine learning is a subfield of artificial intelligence (AI) that focuses on the development of algorithms and statistical models that enable computer systems to perform tasks without explicit programming. </a:t>
            </a:r>
            <a:r>
              <a:rPr lang="en-US" sz="2800" spc="-1" dirty="0">
                <a:solidFill>
                  <a:srgbClr val="FFFFFF"/>
                </a:solidFill>
                <a:latin typeface="Times New Roman" panose="02020603050405020304"/>
              </a:rPr>
              <a:t>ML </a:t>
            </a:r>
            <a:r>
              <a:rPr lang="en-US" sz="2800" spc="-1" dirty="0" smtClean="0">
                <a:solidFill>
                  <a:srgbClr val="FFFFFF"/>
                </a:solidFill>
                <a:latin typeface="Times New Roman" panose="02020603050405020304"/>
              </a:rPr>
              <a:t>Algorithms </a:t>
            </a:r>
            <a:r>
              <a:rPr lang="en-US" sz="2800" spc="-1" dirty="0">
                <a:solidFill>
                  <a:srgbClr val="FFFFFF"/>
                </a:solidFill>
                <a:latin typeface="Times New Roman" panose="02020603050405020304"/>
              </a:rPr>
              <a:t>learns patterns from the examples of task, to solve that particular task.</a:t>
            </a:r>
            <a:endParaRPr sz="2800" spc="-1" dirty="0">
              <a:solidFill>
                <a:srgbClr val="FFFFFF"/>
              </a:solidFill>
              <a:latin typeface="Times New Roman" panose="02020603050405020304"/>
            </a:endParaRPr>
          </a:p>
          <a:p>
            <a:pPr marL="635" indent="0" algn="l">
              <a:lnSpc>
                <a:spcPct val="90000"/>
              </a:lnSpc>
              <a:spcBef>
                <a:spcPts val="1000"/>
              </a:spcBef>
              <a:buClr>
                <a:srgbClr val="FFFFFF"/>
              </a:buClr>
              <a:buSzTx/>
              <a:buFont typeface="Arial" panose="020B0604020202020204"/>
              <a:buNone/>
            </a:pPr>
            <a:r>
              <a:rPr sz="2800" spc="-1" dirty="0">
                <a:solidFill>
                  <a:srgbClr val="FFFFFF"/>
                </a:solidFill>
                <a:latin typeface="Times New Roman" panose="02020603050405020304"/>
              </a:rPr>
              <a:t>The primary goal of machine learning is to allow computers to learn and improve their performance on a specific task as they are exposed to more data over time.</a:t>
            </a:r>
          </a:p>
        </p:txBody>
      </p:sp>
      <p:pic>
        <p:nvPicPr>
          <p:cNvPr id="6" name="Picture 5" descr="machine-learning"/>
          <p:cNvPicPr>
            <a:picLocks noChangeAspect="1"/>
          </p:cNvPicPr>
          <p:nvPr/>
        </p:nvPicPr>
        <p:blipFill>
          <a:blip r:embed="rId2"/>
          <a:stretch>
            <a:fillRect/>
          </a:stretch>
        </p:blipFill>
        <p:spPr>
          <a:xfrm>
            <a:off x="3817620" y="4835525"/>
            <a:ext cx="2564130" cy="17926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96875" y="269875"/>
            <a:ext cx="3173730" cy="922020"/>
          </a:xfrm>
          <a:prstGeom prst="rect">
            <a:avLst/>
          </a:prstGeom>
          <a:noFill/>
        </p:spPr>
        <p:txBody>
          <a:bodyPr wrap="square" rtlCol="0">
            <a:spAutoFit/>
          </a:bodyPr>
          <a:lstStyle/>
          <a:p>
            <a:r>
              <a:rPr lang="en-US" altLang="en-IN" sz="5400" b="1" spc="-1">
                <a:solidFill>
                  <a:srgbClr val="ED7D31"/>
                </a:solidFill>
                <a:latin typeface="Calibri" panose="020F0502020204030204"/>
              </a:rPr>
              <a:t>DATA</a:t>
            </a:r>
          </a:p>
        </p:txBody>
      </p:sp>
      <p:sp>
        <p:nvSpPr>
          <p:cNvPr id="4" name="Text Box 3"/>
          <p:cNvSpPr txBox="1"/>
          <p:nvPr/>
        </p:nvSpPr>
        <p:spPr>
          <a:xfrm>
            <a:off x="396875" y="1362710"/>
            <a:ext cx="9048115" cy="2027555"/>
          </a:xfrm>
          <a:prstGeom prst="rect">
            <a:avLst/>
          </a:prstGeom>
          <a:noFill/>
        </p:spPr>
        <p:txBody>
          <a:bodyPr wrap="square" rtlCol="0">
            <a:spAutoFit/>
          </a:bodyPr>
          <a:lstStyle/>
          <a:p>
            <a:pPr marL="635" indent="0" algn="l">
              <a:lnSpc>
                <a:spcPct val="90000"/>
              </a:lnSpc>
              <a:spcBef>
                <a:spcPts val="1000"/>
              </a:spcBef>
              <a:buClr>
                <a:srgbClr val="FFFFFF"/>
              </a:buClr>
              <a:buSzTx/>
              <a:buFont typeface="Arial" panose="020B0604020202020204"/>
              <a:buNone/>
            </a:pPr>
            <a:r>
              <a:rPr lang="en-IN" sz="2800" spc="-1">
                <a:solidFill>
                  <a:srgbClr val="FFFFFF"/>
                </a:solidFill>
                <a:latin typeface="Times New Roman" panose="02020603050405020304"/>
              </a:rPr>
              <a:t>Data refers to </a:t>
            </a:r>
            <a:r>
              <a:rPr lang="en-US" altLang="en-IN" sz="2800" spc="-1">
                <a:solidFill>
                  <a:srgbClr val="FFFFFF"/>
                </a:solidFill>
                <a:latin typeface="Times New Roman" panose="02020603050405020304"/>
              </a:rPr>
              <a:t>a </a:t>
            </a:r>
            <a:r>
              <a:rPr lang="en-IN" sz="2800" spc="-1">
                <a:solidFill>
                  <a:schemeClr val="accent2"/>
                </a:solidFill>
                <a:latin typeface="Times New Roman" panose="02020603050405020304"/>
              </a:rPr>
              <a:t>information</a:t>
            </a:r>
            <a:r>
              <a:rPr lang="en-IN" sz="2800" spc="-1">
                <a:solidFill>
                  <a:srgbClr val="FFFFFF"/>
                </a:solidFill>
                <a:latin typeface="Times New Roman" panose="02020603050405020304"/>
              </a:rPr>
              <a:t>, or </a:t>
            </a:r>
            <a:r>
              <a:rPr lang="en-IN" sz="2800" spc="-1">
                <a:solidFill>
                  <a:schemeClr val="accent2"/>
                </a:solidFill>
                <a:latin typeface="Times New Roman" panose="02020603050405020304"/>
              </a:rPr>
              <a:t>observations </a:t>
            </a:r>
            <a:r>
              <a:rPr lang="en-IN" sz="2800" spc="-1">
                <a:solidFill>
                  <a:srgbClr val="FFFFFF"/>
                </a:solidFill>
                <a:latin typeface="Times New Roman" panose="02020603050405020304"/>
              </a:rPr>
              <a:t>that can be collected, stored, and processed. It can be in the form of </a:t>
            </a:r>
            <a:r>
              <a:rPr lang="en-IN" sz="2800" spc="-1">
                <a:solidFill>
                  <a:schemeClr val="accent2"/>
                </a:solidFill>
                <a:latin typeface="Times New Roman" panose="02020603050405020304"/>
              </a:rPr>
              <a:t>numbers</a:t>
            </a:r>
            <a:r>
              <a:rPr lang="en-IN" sz="2800" spc="-1">
                <a:solidFill>
                  <a:srgbClr val="FFFFFF"/>
                </a:solidFill>
                <a:latin typeface="Times New Roman" panose="02020603050405020304"/>
              </a:rPr>
              <a:t>, </a:t>
            </a:r>
            <a:r>
              <a:rPr lang="en-IN" sz="2800" spc="-1">
                <a:solidFill>
                  <a:schemeClr val="accent2"/>
                </a:solidFill>
                <a:latin typeface="Times New Roman" panose="02020603050405020304"/>
              </a:rPr>
              <a:t>text</a:t>
            </a:r>
            <a:r>
              <a:rPr lang="en-IN" sz="2800" spc="-1">
                <a:solidFill>
                  <a:srgbClr val="FFFFFF"/>
                </a:solidFill>
                <a:latin typeface="Times New Roman" panose="02020603050405020304"/>
              </a:rPr>
              <a:t>, </a:t>
            </a:r>
            <a:r>
              <a:rPr lang="en-IN" sz="2800" spc="-1">
                <a:solidFill>
                  <a:schemeClr val="accent2"/>
                </a:solidFill>
                <a:latin typeface="Times New Roman" panose="02020603050405020304"/>
              </a:rPr>
              <a:t>images</a:t>
            </a:r>
            <a:r>
              <a:rPr lang="en-IN" sz="2800" spc="-1">
                <a:solidFill>
                  <a:srgbClr val="FFFFFF"/>
                </a:solidFill>
                <a:latin typeface="Times New Roman" panose="02020603050405020304"/>
              </a:rPr>
              <a:t>, or any other format. it can reveal patterns, trends, and valuable information that can be used to make informed decisions or draw conclusions.</a:t>
            </a:r>
          </a:p>
        </p:txBody>
      </p:sp>
      <p:graphicFrame>
        <p:nvGraphicFramePr>
          <p:cNvPr id="5" name="Table 4"/>
          <p:cNvGraphicFramePr/>
          <p:nvPr/>
        </p:nvGraphicFramePr>
        <p:xfrm>
          <a:off x="499745" y="4114800"/>
          <a:ext cx="8534400" cy="2423160"/>
        </p:xfrm>
        <a:graphic>
          <a:graphicData uri="http://schemas.openxmlformats.org/drawingml/2006/table">
            <a:tbl>
              <a:tblPr firstRow="1">
                <a:tableStyleId>{35758FB7-9AC5-4552-8A53-C91805E547FA}</a:tableStyleId>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706880">
                  <a:extLst>
                    <a:ext uri="{9D8B030D-6E8A-4147-A177-3AD203B41FA5}">
                      <a16:colId xmlns:a16="http://schemas.microsoft.com/office/drawing/2014/main" val="20003"/>
                    </a:ext>
                  </a:extLst>
                </a:gridCol>
                <a:gridCol w="1706880">
                  <a:extLst>
                    <a:ext uri="{9D8B030D-6E8A-4147-A177-3AD203B41FA5}">
                      <a16:colId xmlns:a16="http://schemas.microsoft.com/office/drawing/2014/main" val="20004"/>
                    </a:ext>
                  </a:extLst>
                </a:gridCol>
              </a:tblGrid>
              <a:tr h="605790">
                <a:tc>
                  <a:txBody>
                    <a:bodyPr/>
                    <a:lstStyle/>
                    <a:p>
                      <a:pPr algn="ctr">
                        <a:buClrTx/>
                        <a:buSzTx/>
                        <a:buFontTx/>
                        <a:buNone/>
                      </a:pPr>
                      <a:r>
                        <a:rPr lang="en-US">
                          <a:solidFill>
                            <a:schemeClr val="accent2"/>
                          </a:solidFill>
                        </a:rPr>
                        <a:t>TEAM</a:t>
                      </a:r>
                    </a:p>
                  </a:txBody>
                  <a:tcPr/>
                </a:tc>
                <a:tc>
                  <a:txBody>
                    <a:bodyPr/>
                    <a:lstStyle/>
                    <a:p>
                      <a:pPr algn="ctr">
                        <a:buClrTx/>
                        <a:buSzTx/>
                        <a:buFontTx/>
                        <a:buNone/>
                      </a:pPr>
                      <a:r>
                        <a:rPr lang="en-US">
                          <a:solidFill>
                            <a:schemeClr val="accent2"/>
                          </a:solidFill>
                        </a:rPr>
                        <a:t>RUN</a:t>
                      </a:r>
                    </a:p>
                  </a:txBody>
                  <a:tcPr/>
                </a:tc>
                <a:tc>
                  <a:txBody>
                    <a:bodyPr/>
                    <a:lstStyle/>
                    <a:p>
                      <a:pPr algn="ctr">
                        <a:buClrTx/>
                        <a:buSzTx/>
                        <a:buFontTx/>
                        <a:buNone/>
                      </a:pPr>
                      <a:r>
                        <a:rPr lang="en-US">
                          <a:solidFill>
                            <a:schemeClr val="accent2"/>
                          </a:solidFill>
                        </a:rPr>
                        <a:t>WICKETS</a:t>
                      </a:r>
                    </a:p>
                  </a:txBody>
                  <a:tcPr/>
                </a:tc>
                <a:tc>
                  <a:txBody>
                    <a:bodyPr/>
                    <a:lstStyle/>
                    <a:p>
                      <a:pPr algn="ctr">
                        <a:buClrTx/>
                        <a:buSzTx/>
                        <a:buFontTx/>
                        <a:buNone/>
                      </a:pPr>
                      <a:r>
                        <a:rPr lang="en-US">
                          <a:solidFill>
                            <a:schemeClr val="accent2"/>
                          </a:solidFill>
                        </a:rPr>
                        <a:t>CENTURY</a:t>
                      </a:r>
                    </a:p>
                  </a:txBody>
                  <a:tcPr/>
                </a:tc>
                <a:tc>
                  <a:txBody>
                    <a:bodyPr/>
                    <a:lstStyle/>
                    <a:p>
                      <a:pPr algn="ctr">
                        <a:buNone/>
                      </a:pPr>
                      <a:r>
                        <a:rPr lang="en-US">
                          <a:solidFill>
                            <a:schemeClr val="accent2"/>
                          </a:solidFill>
                        </a:rPr>
                        <a:t>RESULT</a:t>
                      </a:r>
                    </a:p>
                  </a:txBody>
                  <a:tcPr/>
                </a:tc>
                <a:extLst>
                  <a:ext uri="{0D108BD9-81ED-4DB2-BD59-A6C34878D82A}">
                    <a16:rowId xmlns:a16="http://schemas.microsoft.com/office/drawing/2014/main" val="10000"/>
                  </a:ext>
                </a:extLst>
              </a:tr>
              <a:tr h="605790">
                <a:tc>
                  <a:txBody>
                    <a:bodyPr/>
                    <a:lstStyle/>
                    <a:p>
                      <a:pPr algn="ctr">
                        <a:buClrTx/>
                        <a:buSzTx/>
                        <a:buFontTx/>
                        <a:buNone/>
                      </a:pPr>
                      <a:r>
                        <a:rPr lang="en-US"/>
                        <a:t>India</a:t>
                      </a:r>
                    </a:p>
                  </a:txBody>
                  <a:tcPr/>
                </a:tc>
                <a:tc>
                  <a:txBody>
                    <a:bodyPr/>
                    <a:lstStyle/>
                    <a:p>
                      <a:pPr algn="ctr">
                        <a:buClrTx/>
                        <a:buSzTx/>
                        <a:buFontTx/>
                        <a:buNone/>
                      </a:pPr>
                      <a:r>
                        <a:rPr lang="en-US"/>
                        <a:t>356</a:t>
                      </a:r>
                    </a:p>
                  </a:txBody>
                  <a:tcPr/>
                </a:tc>
                <a:tc>
                  <a:txBody>
                    <a:bodyPr/>
                    <a:lstStyle/>
                    <a:p>
                      <a:pPr algn="ctr">
                        <a:buClrTx/>
                        <a:buSzTx/>
                        <a:buFontTx/>
                        <a:buNone/>
                      </a:pPr>
                      <a:r>
                        <a:rPr lang="en-US"/>
                        <a:t>8</a:t>
                      </a:r>
                    </a:p>
                  </a:txBody>
                  <a:tcPr/>
                </a:tc>
                <a:tc>
                  <a:txBody>
                    <a:bodyPr/>
                    <a:lstStyle/>
                    <a:p>
                      <a:pPr algn="ctr">
                        <a:buClrTx/>
                        <a:buSzTx/>
                        <a:buFontTx/>
                        <a:buNone/>
                      </a:pPr>
                      <a:r>
                        <a:rPr lang="en-US"/>
                        <a:t>1</a:t>
                      </a:r>
                    </a:p>
                  </a:txBody>
                  <a:tcPr/>
                </a:tc>
                <a:tc>
                  <a:txBody>
                    <a:bodyPr/>
                    <a:lstStyle/>
                    <a:p>
                      <a:pPr algn="ctr">
                        <a:buNone/>
                      </a:pPr>
                      <a:r>
                        <a:rPr lang="en-US"/>
                        <a:t>Win</a:t>
                      </a:r>
                    </a:p>
                  </a:txBody>
                  <a:tcPr/>
                </a:tc>
                <a:extLst>
                  <a:ext uri="{0D108BD9-81ED-4DB2-BD59-A6C34878D82A}">
                    <a16:rowId xmlns:a16="http://schemas.microsoft.com/office/drawing/2014/main" val="10001"/>
                  </a:ext>
                </a:extLst>
              </a:tr>
              <a:tr h="605790">
                <a:tc>
                  <a:txBody>
                    <a:bodyPr/>
                    <a:lstStyle/>
                    <a:p>
                      <a:pPr algn="ctr">
                        <a:buClrTx/>
                        <a:buSzTx/>
                        <a:buFontTx/>
                        <a:buNone/>
                      </a:pPr>
                      <a:r>
                        <a:rPr lang="en-US"/>
                        <a:t>Pakistan</a:t>
                      </a:r>
                    </a:p>
                  </a:txBody>
                  <a:tcPr/>
                </a:tc>
                <a:tc>
                  <a:txBody>
                    <a:bodyPr/>
                    <a:lstStyle/>
                    <a:p>
                      <a:pPr algn="ctr">
                        <a:buClrTx/>
                        <a:buSzTx/>
                        <a:buFontTx/>
                        <a:buNone/>
                      </a:pPr>
                      <a:r>
                        <a:rPr lang="en-US"/>
                        <a:t>242</a:t>
                      </a:r>
                    </a:p>
                  </a:txBody>
                  <a:tcPr/>
                </a:tc>
                <a:tc>
                  <a:txBody>
                    <a:bodyPr/>
                    <a:lstStyle/>
                    <a:p>
                      <a:pPr algn="ctr">
                        <a:buClrTx/>
                        <a:buSzTx/>
                        <a:buFontTx/>
                        <a:buNone/>
                      </a:pPr>
                      <a:r>
                        <a:rPr lang="en-US"/>
                        <a:t>4</a:t>
                      </a:r>
                    </a:p>
                  </a:txBody>
                  <a:tcPr/>
                </a:tc>
                <a:tc>
                  <a:txBody>
                    <a:bodyPr/>
                    <a:lstStyle/>
                    <a:p>
                      <a:pPr algn="ctr">
                        <a:buClrTx/>
                        <a:buSzTx/>
                        <a:buFontTx/>
                        <a:buNone/>
                      </a:pPr>
                      <a:r>
                        <a:rPr lang="en-US"/>
                        <a:t>1</a:t>
                      </a:r>
                    </a:p>
                  </a:txBody>
                  <a:tcPr/>
                </a:tc>
                <a:tc>
                  <a:txBody>
                    <a:bodyPr/>
                    <a:lstStyle/>
                    <a:p>
                      <a:pPr algn="ctr">
                        <a:buClrTx/>
                        <a:buSzTx/>
                        <a:buFontTx/>
                        <a:buNone/>
                      </a:pPr>
                      <a:r>
                        <a:rPr lang="en-US"/>
                        <a:t>Lose</a:t>
                      </a:r>
                    </a:p>
                  </a:txBody>
                  <a:tcPr/>
                </a:tc>
                <a:extLst>
                  <a:ext uri="{0D108BD9-81ED-4DB2-BD59-A6C34878D82A}">
                    <a16:rowId xmlns:a16="http://schemas.microsoft.com/office/drawing/2014/main" val="10002"/>
                  </a:ext>
                </a:extLst>
              </a:tr>
              <a:tr h="605790">
                <a:tc>
                  <a:txBody>
                    <a:bodyPr/>
                    <a:lstStyle/>
                    <a:p>
                      <a:pPr algn="ctr">
                        <a:buClrTx/>
                        <a:buSzTx/>
                        <a:buFontTx/>
                        <a:buNone/>
                      </a:pPr>
                      <a:r>
                        <a:rPr lang="en-US"/>
                        <a:t>Shri Lanka</a:t>
                      </a:r>
                    </a:p>
                  </a:txBody>
                  <a:tcPr/>
                </a:tc>
                <a:tc>
                  <a:txBody>
                    <a:bodyPr/>
                    <a:lstStyle/>
                    <a:p>
                      <a:pPr algn="ctr">
                        <a:buClrTx/>
                        <a:buSzTx/>
                        <a:buFontTx/>
                        <a:buNone/>
                      </a:pPr>
                      <a:r>
                        <a:rPr lang="en-US"/>
                        <a:t>258</a:t>
                      </a:r>
                    </a:p>
                  </a:txBody>
                  <a:tcPr/>
                </a:tc>
                <a:tc>
                  <a:txBody>
                    <a:bodyPr/>
                    <a:lstStyle/>
                    <a:p>
                      <a:pPr algn="ctr">
                        <a:buClrTx/>
                        <a:buSzTx/>
                        <a:buFontTx/>
                        <a:buNone/>
                      </a:pPr>
                      <a:r>
                        <a:rPr lang="en-US"/>
                        <a:t>6</a:t>
                      </a:r>
                    </a:p>
                  </a:txBody>
                  <a:tcPr/>
                </a:tc>
                <a:tc>
                  <a:txBody>
                    <a:bodyPr/>
                    <a:lstStyle/>
                    <a:p>
                      <a:pPr algn="ctr">
                        <a:buClrTx/>
                        <a:buSzTx/>
                        <a:buFontTx/>
                        <a:buNone/>
                      </a:pPr>
                      <a:r>
                        <a:rPr lang="en-US"/>
                        <a:t>1</a:t>
                      </a:r>
                    </a:p>
                  </a:txBody>
                  <a:tcPr/>
                </a:tc>
                <a:tc>
                  <a:txBody>
                    <a:bodyPr/>
                    <a:lstStyle/>
                    <a:p>
                      <a:pPr algn="ctr">
                        <a:buClrTx/>
                        <a:buSzTx/>
                        <a:buFontTx/>
                        <a:buNone/>
                      </a:pPr>
                      <a:r>
                        <a:rPr lang="en-US"/>
                        <a:t>Win</a:t>
                      </a:r>
                    </a:p>
                  </a:txBody>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96875" y="269875"/>
            <a:ext cx="3173730" cy="922020"/>
          </a:xfrm>
          <a:prstGeom prst="rect">
            <a:avLst/>
          </a:prstGeom>
          <a:noFill/>
        </p:spPr>
        <p:txBody>
          <a:bodyPr wrap="square" rtlCol="0">
            <a:spAutoFit/>
          </a:bodyPr>
          <a:lstStyle/>
          <a:p>
            <a:r>
              <a:rPr lang="en-US" altLang="en-IN" sz="5400" b="1" spc="-1">
                <a:solidFill>
                  <a:srgbClr val="ED7D31"/>
                </a:solidFill>
                <a:latin typeface="Calibri" panose="020F0502020204030204"/>
              </a:rPr>
              <a:t>DATA</a:t>
            </a:r>
          </a:p>
        </p:txBody>
      </p:sp>
      <p:sp>
        <p:nvSpPr>
          <p:cNvPr id="4" name="Rounded Rectangle 3"/>
          <p:cNvSpPr/>
          <p:nvPr/>
        </p:nvSpPr>
        <p:spPr>
          <a:xfrm>
            <a:off x="396875" y="3223895"/>
            <a:ext cx="3000375" cy="714375"/>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en-US" sz="2000" b="1">
                <a:solidFill>
                  <a:schemeClr val="tx1">
                    <a:lumMod val="95000"/>
                    <a:lumOff val="5000"/>
                  </a:schemeClr>
                </a:solidFill>
              </a:rPr>
              <a:t>STRUCTURE DATA</a:t>
            </a:r>
          </a:p>
        </p:txBody>
      </p:sp>
      <p:sp>
        <p:nvSpPr>
          <p:cNvPr id="6" name="Rounded Rectangle 5"/>
          <p:cNvSpPr/>
          <p:nvPr/>
        </p:nvSpPr>
        <p:spPr>
          <a:xfrm>
            <a:off x="3570605" y="3237865"/>
            <a:ext cx="3000375" cy="714375"/>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sz="2000" b="1">
                <a:solidFill>
                  <a:schemeClr val="tx1">
                    <a:lumMod val="95000"/>
                    <a:lumOff val="5000"/>
                  </a:schemeClr>
                </a:solidFill>
              </a:rPr>
              <a:t>NON STRUCTURE DATA</a:t>
            </a:r>
          </a:p>
        </p:txBody>
      </p:sp>
      <p:sp>
        <p:nvSpPr>
          <p:cNvPr id="7" name="Rounded Rectangle 6"/>
          <p:cNvSpPr/>
          <p:nvPr/>
        </p:nvSpPr>
        <p:spPr>
          <a:xfrm>
            <a:off x="6844030" y="3168015"/>
            <a:ext cx="3000375" cy="714375"/>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en-US" sz="2000" b="1">
                <a:solidFill>
                  <a:schemeClr val="tx1">
                    <a:lumMod val="95000"/>
                    <a:lumOff val="5000"/>
                  </a:schemeClr>
                </a:solidFill>
              </a:rPr>
              <a:t>SEMI STRUCTURE DATA</a:t>
            </a:r>
          </a:p>
        </p:txBody>
      </p:sp>
      <p:sp>
        <p:nvSpPr>
          <p:cNvPr id="8" name="Rounded Rectangle 7"/>
          <p:cNvSpPr/>
          <p:nvPr/>
        </p:nvSpPr>
        <p:spPr>
          <a:xfrm>
            <a:off x="3612515" y="1496695"/>
            <a:ext cx="3000375" cy="714375"/>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en-US"/>
              <a:t> </a:t>
            </a:r>
            <a:r>
              <a:rPr lang="en-US" sz="2000" b="1">
                <a:solidFill>
                  <a:schemeClr val="tx1">
                    <a:lumMod val="95000"/>
                    <a:lumOff val="5000"/>
                  </a:schemeClr>
                </a:solidFill>
              </a:rPr>
              <a:t>DATA</a:t>
            </a:r>
          </a:p>
        </p:txBody>
      </p:sp>
      <p:cxnSp>
        <p:nvCxnSpPr>
          <p:cNvPr id="12" name="Straight Arrow Connector 11"/>
          <p:cNvCxnSpPr/>
          <p:nvPr/>
        </p:nvCxnSpPr>
        <p:spPr>
          <a:xfrm flipH="1">
            <a:off x="2645410" y="2200275"/>
            <a:ext cx="1398270" cy="10001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Straight Arrow Connector 12"/>
          <p:cNvCxnSpPr/>
          <p:nvPr/>
        </p:nvCxnSpPr>
        <p:spPr>
          <a:xfrm>
            <a:off x="6173470" y="2214245"/>
            <a:ext cx="1388110" cy="9290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5" name="Rounded Rectangle 14"/>
          <p:cNvSpPr/>
          <p:nvPr/>
        </p:nvSpPr>
        <p:spPr>
          <a:xfrm>
            <a:off x="467995" y="4538345"/>
            <a:ext cx="3000375" cy="1454150"/>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en-US" sz="2000" b="1">
                <a:solidFill>
                  <a:schemeClr val="tx1">
                    <a:lumMod val="95000"/>
                    <a:lumOff val="5000"/>
                  </a:schemeClr>
                </a:solidFill>
              </a:rPr>
              <a:t>TABULAR DATA</a:t>
            </a:r>
          </a:p>
        </p:txBody>
      </p:sp>
      <p:sp>
        <p:nvSpPr>
          <p:cNvPr id="16" name="Rounded Rectangle 15"/>
          <p:cNvSpPr/>
          <p:nvPr/>
        </p:nvSpPr>
        <p:spPr>
          <a:xfrm>
            <a:off x="3626485" y="4567555"/>
            <a:ext cx="3114040" cy="1438910"/>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en-US" sz="2000" b="1">
                <a:solidFill>
                  <a:schemeClr val="tx1">
                    <a:lumMod val="95000"/>
                    <a:lumOff val="5000"/>
                  </a:schemeClr>
                </a:solidFill>
              </a:rPr>
              <a:t>TEXT DATA</a:t>
            </a:r>
          </a:p>
          <a:p>
            <a:pPr algn="ctr">
              <a:buClrTx/>
              <a:buSzTx/>
              <a:buFontTx/>
            </a:pPr>
            <a:r>
              <a:rPr lang="en-US" sz="2000" b="1">
                <a:solidFill>
                  <a:schemeClr val="tx1">
                    <a:lumMod val="95000"/>
                    <a:lumOff val="5000"/>
                  </a:schemeClr>
                </a:solidFill>
              </a:rPr>
              <a:t>IMAGE DATA</a:t>
            </a:r>
          </a:p>
          <a:p>
            <a:pPr algn="ctr">
              <a:buClrTx/>
              <a:buSzTx/>
              <a:buFontTx/>
            </a:pPr>
            <a:r>
              <a:rPr lang="en-US" sz="2000" b="1">
                <a:solidFill>
                  <a:schemeClr val="tx1">
                    <a:lumMod val="95000"/>
                    <a:lumOff val="5000"/>
                  </a:schemeClr>
                </a:solidFill>
              </a:rPr>
              <a:t>VIDEO DATA</a:t>
            </a:r>
          </a:p>
          <a:p>
            <a:pPr algn="ctr">
              <a:buClrTx/>
              <a:buSzTx/>
              <a:buFontTx/>
            </a:pPr>
            <a:r>
              <a:rPr lang="en-US" sz="2000" b="1">
                <a:solidFill>
                  <a:schemeClr val="tx1">
                    <a:lumMod val="95000"/>
                    <a:lumOff val="5000"/>
                  </a:schemeClr>
                </a:solidFill>
              </a:rPr>
              <a:t>AUDIO DATA</a:t>
            </a:r>
          </a:p>
        </p:txBody>
      </p:sp>
      <p:sp>
        <p:nvSpPr>
          <p:cNvPr id="17" name="Rounded Rectangle 16"/>
          <p:cNvSpPr/>
          <p:nvPr/>
        </p:nvSpPr>
        <p:spPr>
          <a:xfrm>
            <a:off x="6868795" y="4568825"/>
            <a:ext cx="3114040" cy="1438910"/>
          </a:xfrm>
          <a:prstGeom prst="roundRect">
            <a:avLst/>
          </a:prstGeom>
          <a:blipFill>
            <a:blip r:embed="rId2"/>
          </a:blip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en-US" sz="2000" b="1">
                <a:solidFill>
                  <a:schemeClr val="tx1">
                    <a:lumMod val="95000"/>
                    <a:lumOff val="5000"/>
                  </a:schemeClr>
                </a:solidFill>
              </a:rPr>
              <a:t>JSON</a:t>
            </a:r>
          </a:p>
          <a:p>
            <a:pPr algn="ctr">
              <a:buClrTx/>
              <a:buSzTx/>
              <a:buFontTx/>
            </a:pPr>
            <a:r>
              <a:rPr lang="en-US" sz="2000" b="1">
                <a:solidFill>
                  <a:schemeClr val="tx1">
                    <a:lumMod val="95000"/>
                    <a:lumOff val="5000"/>
                  </a:schemeClr>
                </a:solidFill>
              </a:rPr>
              <a:t>XML</a:t>
            </a:r>
          </a:p>
          <a:p>
            <a:pPr algn="ctr">
              <a:buClrTx/>
              <a:buSzTx/>
              <a:buFontTx/>
            </a:pPr>
            <a:r>
              <a:rPr lang="en-US" sz="2000" b="1">
                <a:solidFill>
                  <a:schemeClr val="tx1">
                    <a:lumMod val="95000"/>
                    <a:lumOff val="5000"/>
                  </a:schemeClr>
                </a:solidFill>
              </a:rPr>
              <a:t>HTML</a:t>
            </a:r>
          </a:p>
        </p:txBody>
      </p:sp>
      <p:cxnSp>
        <p:nvCxnSpPr>
          <p:cNvPr id="18" name="Straight Arrow Connector 17"/>
          <p:cNvCxnSpPr>
            <a:stCxn id="4" idx="2"/>
          </p:cNvCxnSpPr>
          <p:nvPr/>
        </p:nvCxnSpPr>
        <p:spPr>
          <a:xfrm flipH="1">
            <a:off x="1889760" y="3938270"/>
            <a:ext cx="7620" cy="6000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flipH="1">
            <a:off x="5063490" y="3989705"/>
            <a:ext cx="7620" cy="6000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flipH="1">
            <a:off x="8342630" y="3910330"/>
            <a:ext cx="1905" cy="7258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Straight Arrow Connector 20"/>
          <p:cNvCxnSpPr/>
          <p:nvPr/>
        </p:nvCxnSpPr>
        <p:spPr>
          <a:xfrm flipH="1">
            <a:off x="5179695" y="2257425"/>
            <a:ext cx="10795" cy="9366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343535"/>
            <a:ext cx="9033510" cy="922020"/>
          </a:xfrm>
          <a:prstGeom prst="rect">
            <a:avLst/>
          </a:prstGeom>
          <a:noFill/>
        </p:spPr>
        <p:txBody>
          <a:bodyPr wrap="square" rtlCol="0">
            <a:spAutoFit/>
          </a:bodyPr>
          <a:lstStyle/>
          <a:p>
            <a:r>
              <a:rPr lang="en-US" altLang="en-IN" sz="5400" b="1" spc="-1">
                <a:solidFill>
                  <a:srgbClr val="ED7D31"/>
                </a:solidFill>
                <a:latin typeface="Calibri" panose="020F0502020204030204"/>
              </a:rPr>
              <a:t>SCOPE OF AI &amp; DATA SCIENCE</a:t>
            </a:r>
          </a:p>
        </p:txBody>
      </p:sp>
      <p:sp>
        <p:nvSpPr>
          <p:cNvPr id="4" name="Text Box 3"/>
          <p:cNvSpPr txBox="1"/>
          <p:nvPr/>
        </p:nvSpPr>
        <p:spPr>
          <a:xfrm>
            <a:off x="467995" y="2003425"/>
            <a:ext cx="7618730" cy="4087495"/>
          </a:xfrm>
          <a:prstGeom prst="rect">
            <a:avLst/>
          </a:prstGeom>
          <a:noFill/>
        </p:spPr>
        <p:txBody>
          <a:bodyPr wrap="square" rtlCol="0">
            <a:spAutoFit/>
          </a:bodyPr>
          <a:lstStyle/>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rPr>
              <a:t>E-commerce</a:t>
            </a:r>
          </a:p>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sym typeface="+mn-ea"/>
              </a:rPr>
              <a:t>Agriculture</a:t>
            </a:r>
            <a:endParaRPr lang="en-IN" sz="2800" spc="-1">
              <a:solidFill>
                <a:srgbClr val="FFFFFF"/>
              </a:solidFill>
              <a:latin typeface="Times New Roman" panose="02020603050405020304"/>
            </a:endParaRPr>
          </a:p>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rPr>
              <a:t>Healthcare and Medicine</a:t>
            </a:r>
          </a:p>
          <a:p>
            <a:pPr marL="457200" indent="-456565" algn="l">
              <a:lnSpc>
                <a:spcPct val="90000"/>
              </a:lnSpc>
              <a:spcBef>
                <a:spcPts val="1000"/>
              </a:spcBef>
              <a:buClr>
                <a:srgbClr val="FFFFFF"/>
              </a:buClr>
              <a:buSzTx/>
              <a:buFont typeface="Arial" panose="020B0604020202020204"/>
              <a:buChar char="•"/>
            </a:pPr>
            <a:r>
              <a:rPr lang="en-US" altLang="en-IN" sz="2800" spc="-1">
                <a:solidFill>
                  <a:srgbClr val="FFFFFF"/>
                </a:solidFill>
                <a:latin typeface="Times New Roman" panose="02020603050405020304"/>
              </a:rPr>
              <a:t>Robotics</a:t>
            </a:r>
            <a:endParaRPr lang="en-IN" sz="2800" spc="-1">
              <a:solidFill>
                <a:srgbClr val="FFFFFF"/>
              </a:solidFill>
              <a:latin typeface="Times New Roman" panose="02020603050405020304"/>
            </a:endParaRPr>
          </a:p>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rPr>
              <a:t>Finance and Banking</a:t>
            </a:r>
          </a:p>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rPr>
              <a:t>Marketing and Advertising</a:t>
            </a:r>
          </a:p>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rPr>
              <a:t>Manufacturing and Industry</a:t>
            </a:r>
          </a:p>
          <a:p>
            <a:pPr marL="457200" indent="-456565" algn="l">
              <a:lnSpc>
                <a:spcPct val="90000"/>
              </a:lnSpc>
              <a:spcBef>
                <a:spcPts val="1000"/>
              </a:spcBef>
              <a:buClr>
                <a:srgbClr val="FFFFFF"/>
              </a:buClr>
              <a:buSzTx/>
              <a:buFont typeface="Arial" panose="020B0604020202020204"/>
              <a:buChar char="•"/>
            </a:pPr>
            <a:r>
              <a:rPr lang="en-IN" sz="2800" spc="-1">
                <a:solidFill>
                  <a:srgbClr val="FFFFFF"/>
                </a:solidFill>
                <a:latin typeface="Times New Roman" panose="02020603050405020304"/>
              </a:rPr>
              <a:t>Transportation and Logistics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180340"/>
            <a:ext cx="8409305" cy="1753235"/>
          </a:xfrm>
          <a:prstGeom prst="rect">
            <a:avLst/>
          </a:prstGeom>
          <a:noFill/>
        </p:spPr>
        <p:txBody>
          <a:bodyPr wrap="square" rtlCol="0">
            <a:spAutoFit/>
          </a:bodyPr>
          <a:lstStyle/>
          <a:p>
            <a:r>
              <a:rPr lang="en-US" altLang="en-IN" sz="5400" b="1" spc="-1">
                <a:solidFill>
                  <a:srgbClr val="ED7D31"/>
                </a:solidFill>
                <a:latin typeface="Calibri" panose="020F0502020204030204"/>
              </a:rPr>
              <a:t>PARTITION OF MACHINE LEARNING</a:t>
            </a:r>
          </a:p>
        </p:txBody>
      </p:sp>
      <p:pic>
        <p:nvPicPr>
          <p:cNvPr id="4" name="Picture 3" descr="ML-partiton"/>
          <p:cNvPicPr>
            <a:picLocks noChangeAspect="1"/>
          </p:cNvPicPr>
          <p:nvPr/>
        </p:nvPicPr>
        <p:blipFill>
          <a:blip r:embed="rId2"/>
          <a:stretch>
            <a:fillRect/>
          </a:stretch>
        </p:blipFill>
        <p:spPr>
          <a:xfrm>
            <a:off x="473710" y="2199640"/>
            <a:ext cx="9260205" cy="4330065"/>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146050"/>
            <a:ext cx="5395595" cy="922020"/>
          </a:xfrm>
          <a:prstGeom prst="rect">
            <a:avLst/>
          </a:prstGeom>
          <a:noFill/>
        </p:spPr>
        <p:txBody>
          <a:bodyPr wrap="square" rtlCol="0">
            <a:spAutoFit/>
          </a:bodyPr>
          <a:lstStyle/>
          <a:p>
            <a:r>
              <a:rPr lang="en-US" altLang="en-IN" sz="5400" b="1" spc="-1">
                <a:solidFill>
                  <a:srgbClr val="ED7D31"/>
                </a:solidFill>
                <a:latin typeface="Calibri" panose="020F0502020204030204"/>
              </a:rPr>
              <a:t>DEEP LEARNING</a:t>
            </a:r>
          </a:p>
        </p:txBody>
      </p:sp>
      <p:sp>
        <p:nvSpPr>
          <p:cNvPr id="6" name="Text Box 5"/>
          <p:cNvSpPr txBox="1"/>
          <p:nvPr/>
        </p:nvSpPr>
        <p:spPr>
          <a:xfrm>
            <a:off x="389255" y="1219200"/>
            <a:ext cx="9415145" cy="2153285"/>
          </a:xfrm>
          <a:prstGeom prst="rect">
            <a:avLst/>
          </a:prstGeom>
          <a:noFill/>
        </p:spPr>
        <p:txBody>
          <a:bodyPr wrap="square" rtlCol="0">
            <a:spAutoFit/>
          </a:bodyPr>
          <a:lstStyle/>
          <a:p>
            <a:r>
              <a:rPr lang="en-IN" sz="2800" spc="-1">
                <a:solidFill>
                  <a:srgbClr val="FFFFFF"/>
                </a:solidFill>
                <a:latin typeface="Times New Roman" panose="02020603050405020304"/>
              </a:rPr>
              <a:t>Deep Learning is a powerful subset of machine learning that involves training</a:t>
            </a:r>
            <a:r>
              <a:rPr lang="en-US" altLang="en-IN" sz="2800" spc="-1">
                <a:solidFill>
                  <a:srgbClr val="FFFFFF"/>
                </a:solidFill>
                <a:latin typeface="Times New Roman" panose="02020603050405020304"/>
              </a:rPr>
              <a:t> of</a:t>
            </a:r>
            <a:r>
              <a:rPr lang="en-IN" sz="2800" spc="-1">
                <a:solidFill>
                  <a:srgbClr val="FFFFFF"/>
                </a:solidFill>
                <a:latin typeface="Times New Roman" panose="02020603050405020304"/>
              </a:rPr>
              <a:t> </a:t>
            </a:r>
            <a:r>
              <a:rPr lang="en-US" altLang="en-IN" sz="2800" spc="-1">
                <a:solidFill>
                  <a:srgbClr val="FFFFFF"/>
                </a:solidFill>
                <a:latin typeface="Times New Roman" panose="02020603050405020304"/>
              </a:rPr>
              <a:t>A</a:t>
            </a:r>
            <a:r>
              <a:rPr lang="en-US" altLang="en-IN" sz="3200" b="1" spc="-1">
                <a:solidFill>
                  <a:srgbClr val="ED7D31"/>
                </a:solidFill>
                <a:latin typeface="Calibri" panose="020F0502020204030204"/>
              </a:rPr>
              <a:t>rtificial</a:t>
            </a:r>
            <a:r>
              <a:rPr lang="en-IN" sz="2800" spc="-1">
                <a:solidFill>
                  <a:srgbClr val="FFFFFF"/>
                </a:solidFill>
                <a:latin typeface="Times New Roman" panose="02020603050405020304"/>
              </a:rPr>
              <a:t> </a:t>
            </a:r>
            <a:r>
              <a:rPr lang="en-US" altLang="en-IN" sz="2800" spc="-1">
                <a:solidFill>
                  <a:srgbClr val="FFFFFF"/>
                </a:solidFill>
                <a:latin typeface="Times New Roman" panose="02020603050405020304"/>
              </a:rPr>
              <a:t>N</a:t>
            </a:r>
            <a:r>
              <a:rPr lang="en-US" altLang="en-IN" sz="3200" b="1" spc="-1">
                <a:solidFill>
                  <a:srgbClr val="ED7D31"/>
                </a:solidFill>
                <a:latin typeface="Calibri" panose="020F0502020204030204"/>
              </a:rPr>
              <a:t>eural</a:t>
            </a:r>
            <a:r>
              <a:rPr lang="en-IN" sz="2800" spc="-1">
                <a:solidFill>
                  <a:srgbClr val="FFFFFF"/>
                </a:solidFill>
                <a:latin typeface="Times New Roman" panose="02020603050405020304"/>
              </a:rPr>
              <a:t> </a:t>
            </a:r>
            <a:r>
              <a:rPr lang="en-US" altLang="en-IN" sz="2800" spc="-1">
                <a:solidFill>
                  <a:srgbClr val="FFFFFF"/>
                </a:solidFill>
                <a:latin typeface="Times New Roman" panose="02020603050405020304"/>
              </a:rPr>
              <a:t>N</a:t>
            </a:r>
            <a:r>
              <a:rPr lang="en-US" altLang="en-IN" sz="3200" b="1" spc="-1">
                <a:solidFill>
                  <a:srgbClr val="ED7D31"/>
                </a:solidFill>
                <a:latin typeface="Calibri" panose="020F0502020204030204"/>
              </a:rPr>
              <a:t>etworks</a:t>
            </a:r>
            <a:r>
              <a:rPr lang="en-IN" sz="2800" spc="-1">
                <a:solidFill>
                  <a:srgbClr val="FFFFFF"/>
                </a:solidFill>
                <a:latin typeface="Times New Roman" panose="02020603050405020304"/>
              </a:rPr>
              <a:t> to perform tasks, </a:t>
            </a:r>
            <a:r>
              <a:rPr lang="en-IN" sz="2800" spc="-1">
                <a:solidFill>
                  <a:srgbClr val="FFFFFF"/>
                </a:solidFill>
                <a:latin typeface="Times New Roman" panose="02020603050405020304"/>
                <a:sym typeface="+mn-ea"/>
              </a:rPr>
              <a:t>Deep learning simulates our brain</a:t>
            </a:r>
            <a:r>
              <a:rPr lang="en-US" altLang="en-IN" sz="2800" spc="-1">
                <a:solidFill>
                  <a:srgbClr val="FFFFFF"/>
                </a:solidFill>
                <a:latin typeface="Times New Roman" panose="02020603050405020304"/>
                <a:sym typeface="+mn-ea"/>
              </a:rPr>
              <a:t>. it is inspired by biological neuron concepts.</a:t>
            </a:r>
            <a:endParaRPr lang="en-IN" spc="-1">
              <a:solidFill>
                <a:srgbClr val="FFFFFF"/>
              </a:solidFill>
              <a:latin typeface="Times New Roman" panose="02020603050405020304"/>
            </a:endParaRPr>
          </a:p>
          <a:p>
            <a:endParaRPr lang="en-US"/>
          </a:p>
        </p:txBody>
      </p:sp>
      <p:pic>
        <p:nvPicPr>
          <p:cNvPr id="7" name="Picture 6" descr="neuron"/>
          <p:cNvPicPr>
            <a:picLocks noChangeAspect="1"/>
          </p:cNvPicPr>
          <p:nvPr/>
        </p:nvPicPr>
        <p:blipFill>
          <a:blip r:embed="rId2"/>
          <a:stretch>
            <a:fillRect/>
          </a:stretch>
        </p:blipFill>
        <p:spPr>
          <a:xfrm>
            <a:off x="544195" y="3385820"/>
            <a:ext cx="8820150" cy="3147060"/>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89255" y="226695"/>
            <a:ext cx="8307705" cy="922020"/>
          </a:xfrm>
          <a:prstGeom prst="rect">
            <a:avLst/>
          </a:prstGeom>
          <a:noFill/>
        </p:spPr>
        <p:txBody>
          <a:bodyPr wrap="square" rtlCol="0">
            <a:spAutoFit/>
          </a:bodyPr>
          <a:lstStyle/>
          <a:p>
            <a:r>
              <a:rPr lang="en-US" altLang="en-IN" sz="5400" b="1" spc="-1" dirty="0">
                <a:solidFill>
                  <a:srgbClr val="ED7D31"/>
                </a:solidFill>
                <a:latin typeface="Calibri" panose="020F0502020204030204"/>
              </a:rPr>
              <a:t>Biological Neural Networks</a:t>
            </a:r>
          </a:p>
        </p:txBody>
      </p:sp>
      <p:sp>
        <p:nvSpPr>
          <p:cNvPr id="6" name="Text Box 5"/>
          <p:cNvSpPr txBox="1"/>
          <p:nvPr/>
        </p:nvSpPr>
        <p:spPr>
          <a:xfrm>
            <a:off x="389255" y="1273175"/>
            <a:ext cx="9415145" cy="2245360"/>
          </a:xfrm>
          <a:prstGeom prst="rect">
            <a:avLst/>
          </a:prstGeom>
          <a:noFill/>
        </p:spPr>
        <p:txBody>
          <a:bodyPr wrap="square" rtlCol="0">
            <a:spAutoFit/>
          </a:bodyPr>
          <a:lstStyle/>
          <a:p>
            <a:r>
              <a:rPr lang="en-US" altLang="en-IN" sz="2800" spc="-1" dirty="0">
                <a:solidFill>
                  <a:srgbClr val="FFFFFF"/>
                </a:solidFill>
                <a:latin typeface="Times New Roman" panose="02020603050405020304"/>
              </a:rPr>
              <a:t>T</a:t>
            </a:r>
            <a:r>
              <a:rPr lang="en-IN" sz="2800" spc="-1" dirty="0">
                <a:solidFill>
                  <a:srgbClr val="FFFFFF"/>
                </a:solidFill>
                <a:latin typeface="Times New Roman" panose="02020603050405020304"/>
              </a:rPr>
              <a:t>he brain is the control unit of the neural network, and it has different subunits that take care of vision, senses, movement, and hearing. The brain is connected with a dense network of nerves to the rest of the body’s sensors and actors. There are approximately 10¹¹ neurons in the brain</a:t>
            </a:r>
            <a:r>
              <a:rPr lang="en-US" altLang="en-IN" sz="2800" spc="-1" dirty="0">
                <a:solidFill>
                  <a:srgbClr val="FFFFFF"/>
                </a:solidFill>
                <a:latin typeface="Times New Roman" panose="02020603050405020304"/>
              </a:rPr>
              <a:t>.</a:t>
            </a:r>
          </a:p>
        </p:txBody>
      </p:sp>
      <p:pic>
        <p:nvPicPr>
          <p:cNvPr id="4" name="Picture 3" descr="biologcl neuron"/>
          <p:cNvPicPr>
            <a:picLocks noChangeAspect="1"/>
          </p:cNvPicPr>
          <p:nvPr/>
        </p:nvPicPr>
        <p:blipFill>
          <a:blip r:embed="rId2"/>
          <a:stretch>
            <a:fillRect/>
          </a:stretch>
        </p:blipFill>
        <p:spPr>
          <a:xfrm>
            <a:off x="546100" y="3819271"/>
            <a:ext cx="6235065" cy="2691130"/>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235585" y="226695"/>
            <a:ext cx="8307705" cy="922020"/>
          </a:xfrm>
          <a:prstGeom prst="rect">
            <a:avLst/>
          </a:prstGeom>
          <a:noFill/>
        </p:spPr>
        <p:txBody>
          <a:bodyPr wrap="square" rtlCol="0">
            <a:spAutoFit/>
          </a:bodyPr>
          <a:lstStyle/>
          <a:p>
            <a:r>
              <a:rPr lang="en-US" altLang="en-IN" sz="5400" b="1" spc="-1">
                <a:solidFill>
                  <a:srgbClr val="ED7D31"/>
                </a:solidFill>
                <a:latin typeface="Calibri" panose="020F0502020204030204"/>
              </a:rPr>
              <a:t>Deep Learning Partition</a:t>
            </a:r>
          </a:p>
        </p:txBody>
      </p:sp>
      <p:pic>
        <p:nvPicPr>
          <p:cNvPr id="102" name="Picture 101"/>
          <p:cNvPicPr/>
          <p:nvPr/>
        </p:nvPicPr>
        <p:blipFill>
          <a:blip r:embed="rId2"/>
          <a:stretch>
            <a:fillRect/>
          </a:stretch>
        </p:blipFill>
        <p:spPr>
          <a:xfrm>
            <a:off x="389255" y="2205355"/>
            <a:ext cx="9043670" cy="4152900"/>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57810"/>
            <a:ext cx="8338185" cy="922020"/>
          </a:xfrm>
          <a:prstGeom prst="rect">
            <a:avLst/>
          </a:prstGeom>
          <a:noFill/>
        </p:spPr>
        <p:txBody>
          <a:bodyPr wrap="square" rtlCol="0">
            <a:spAutoFit/>
          </a:bodyPr>
          <a:lstStyle/>
          <a:p>
            <a:r>
              <a:rPr lang="en-US" altLang="en-IN" sz="5400" spc="-1" dirty="0">
                <a:solidFill>
                  <a:srgbClr val="FFFFFF"/>
                </a:solidFill>
                <a:latin typeface="Times New Roman" panose="02020603050405020304"/>
                <a:sym typeface="+mn-ea"/>
              </a:rPr>
              <a:t>A</a:t>
            </a:r>
            <a:r>
              <a:rPr lang="en-US" altLang="en-IN" sz="5400" b="1" spc="-1" dirty="0">
                <a:solidFill>
                  <a:srgbClr val="ED7D31"/>
                </a:solidFill>
                <a:latin typeface="Calibri" panose="020F0502020204030204"/>
                <a:sym typeface="+mn-ea"/>
              </a:rPr>
              <a:t>rtificial</a:t>
            </a:r>
            <a:r>
              <a:rPr lang="en-IN" sz="5400" spc="-1" dirty="0">
                <a:solidFill>
                  <a:srgbClr val="FFFFFF"/>
                </a:solidFill>
                <a:latin typeface="Times New Roman" panose="02020603050405020304"/>
                <a:sym typeface="+mn-ea"/>
              </a:rPr>
              <a:t> </a:t>
            </a:r>
            <a:r>
              <a:rPr lang="en-US" altLang="en-IN" sz="5400" spc="-1" dirty="0">
                <a:solidFill>
                  <a:srgbClr val="FFFFFF"/>
                </a:solidFill>
                <a:latin typeface="Times New Roman" panose="02020603050405020304"/>
                <a:sym typeface="+mn-ea"/>
              </a:rPr>
              <a:t>N</a:t>
            </a:r>
            <a:r>
              <a:rPr lang="en-US" altLang="en-IN" sz="5400" b="1" spc="-1" dirty="0">
                <a:solidFill>
                  <a:srgbClr val="ED7D31"/>
                </a:solidFill>
                <a:latin typeface="Calibri" panose="020F0502020204030204"/>
                <a:sym typeface="+mn-ea"/>
              </a:rPr>
              <a:t>eural</a:t>
            </a:r>
            <a:r>
              <a:rPr lang="en-IN" sz="5400" spc="-1" dirty="0">
                <a:solidFill>
                  <a:srgbClr val="FFFFFF"/>
                </a:solidFill>
                <a:latin typeface="Times New Roman" panose="02020603050405020304"/>
                <a:sym typeface="+mn-ea"/>
              </a:rPr>
              <a:t> </a:t>
            </a:r>
            <a:r>
              <a:rPr lang="en-US" altLang="en-IN" sz="5400" spc="-1" dirty="0">
                <a:solidFill>
                  <a:srgbClr val="FFFFFF"/>
                </a:solidFill>
                <a:latin typeface="Times New Roman" panose="02020603050405020304"/>
                <a:sym typeface="+mn-ea"/>
              </a:rPr>
              <a:t>N</a:t>
            </a:r>
            <a:r>
              <a:rPr lang="en-US" altLang="en-IN" sz="5400" b="1" spc="-1" dirty="0">
                <a:solidFill>
                  <a:srgbClr val="ED7D31"/>
                </a:solidFill>
                <a:latin typeface="Calibri" panose="020F0502020204030204"/>
                <a:sym typeface="+mn-ea"/>
              </a:rPr>
              <a:t>etworks</a:t>
            </a:r>
            <a:endParaRPr lang="en-US" altLang="en-IN" sz="5400" b="1" spc="-1" dirty="0">
              <a:solidFill>
                <a:srgbClr val="ED7D31"/>
              </a:solidFill>
              <a:latin typeface="Calibri" panose="020F0502020204030204"/>
            </a:endParaRPr>
          </a:p>
        </p:txBody>
      </p:sp>
      <p:pic>
        <p:nvPicPr>
          <p:cNvPr id="5" name="Picture 4" descr="nnn"/>
          <p:cNvPicPr>
            <a:picLocks noChangeAspect="1"/>
          </p:cNvPicPr>
          <p:nvPr/>
        </p:nvPicPr>
        <p:blipFill>
          <a:blip r:embed="rId2">
            <a:extLst>
              <a:ext uri="{96DAC541-7B7A-43D3-8B79-37D633B846F1}">
                <asvg:svgBlip xmlns="" xmlns:asvg="http://schemas.microsoft.com/office/drawing/2016/SVG/main" r:embed="rId4"/>
              </a:ext>
            </a:extLst>
          </a:blip>
          <a:stretch>
            <a:fillRect/>
          </a:stretch>
        </p:blipFill>
        <p:spPr>
          <a:xfrm>
            <a:off x="311150" y="3870325"/>
            <a:ext cx="6343015" cy="2729865"/>
          </a:xfrm>
          <a:prstGeom prst="rect">
            <a:avLst/>
          </a:prstGeom>
        </p:spPr>
      </p:pic>
      <p:sp>
        <p:nvSpPr>
          <p:cNvPr id="7" name="Text Box 6"/>
          <p:cNvSpPr txBox="1"/>
          <p:nvPr/>
        </p:nvSpPr>
        <p:spPr>
          <a:xfrm>
            <a:off x="225425" y="1367790"/>
            <a:ext cx="9415145" cy="2245360"/>
          </a:xfrm>
          <a:prstGeom prst="rect">
            <a:avLst/>
          </a:prstGeom>
          <a:noFill/>
        </p:spPr>
        <p:txBody>
          <a:bodyPr wrap="square" rtlCol="0">
            <a:spAutoFit/>
          </a:bodyPr>
          <a:lstStyle/>
          <a:p>
            <a:r>
              <a:rPr lang="en-IN" sz="2800" spc="-1" dirty="0">
                <a:solidFill>
                  <a:srgbClr val="FFFFFF"/>
                </a:solidFill>
                <a:latin typeface="Times New Roman" panose="02020603050405020304"/>
              </a:rPr>
              <a:t>The term "Artificial Neural Network" is derived from Biological neural networks that develop the structure of a human brain. Similar to the human brain that has neurons interconnected to one another, artificial neural networks also have neurons that are interconnected to one another in various layers of the networks.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21234"/>
            <a:ext cx="8338185" cy="922020"/>
          </a:xfrm>
          <a:prstGeom prst="rect">
            <a:avLst/>
          </a:prstGeom>
          <a:noFill/>
        </p:spPr>
        <p:txBody>
          <a:bodyPr wrap="square" rtlCol="0">
            <a:spAutoFit/>
          </a:bodyPr>
          <a:lstStyle/>
          <a:p>
            <a:r>
              <a:rPr lang="en-US" altLang="en-IN" sz="5400" spc="-1" dirty="0" smtClean="0">
                <a:solidFill>
                  <a:srgbClr val="FFFFFF"/>
                </a:solidFill>
                <a:latin typeface="Times New Roman" panose="02020603050405020304"/>
                <a:sym typeface="+mn-ea"/>
              </a:rPr>
              <a:t>A</a:t>
            </a:r>
            <a:r>
              <a:rPr lang="en-US" altLang="en-IN" sz="5400" spc="-1" dirty="0" smtClean="0">
                <a:solidFill>
                  <a:schemeClr val="accent2"/>
                </a:solidFill>
                <a:latin typeface="Times New Roman" panose="02020603050405020304"/>
                <a:sym typeface="+mn-ea"/>
              </a:rPr>
              <a:t>NN</a:t>
            </a:r>
            <a:r>
              <a:rPr lang="en-US" altLang="en-IN" sz="5400" spc="-1" dirty="0" smtClean="0">
                <a:solidFill>
                  <a:srgbClr val="FFFFFF"/>
                </a:solidFill>
                <a:latin typeface="Times New Roman" panose="02020603050405020304"/>
                <a:sym typeface="+mn-ea"/>
              </a:rPr>
              <a:t> L</a:t>
            </a:r>
            <a:r>
              <a:rPr lang="en-US" altLang="en-IN" sz="5400" spc="-1" dirty="0" smtClean="0">
                <a:solidFill>
                  <a:schemeClr val="accent2"/>
                </a:solidFill>
                <a:latin typeface="Times New Roman" panose="02020603050405020304"/>
                <a:sym typeface="+mn-ea"/>
              </a:rPr>
              <a:t>AYERS</a:t>
            </a:r>
            <a:endParaRPr lang="en-US" altLang="en-IN" sz="5400" b="1" spc="-1" dirty="0">
              <a:solidFill>
                <a:schemeClr val="accent2"/>
              </a:solidFill>
              <a:latin typeface="Calibri" panose="020F0502020204030204"/>
            </a:endParaRPr>
          </a:p>
        </p:txBody>
      </p:sp>
      <p:pic>
        <p:nvPicPr>
          <p:cNvPr id="1026" name="Picture 2" descr="Artificial Neural Network Tutorial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686" y="2514027"/>
            <a:ext cx="7757033" cy="4046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180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383540"/>
            <a:ext cx="8338185" cy="1753235"/>
          </a:xfrm>
          <a:prstGeom prst="rect">
            <a:avLst/>
          </a:prstGeom>
          <a:noFill/>
        </p:spPr>
        <p:txBody>
          <a:bodyPr wrap="square" rtlCol="0">
            <a:spAutoFit/>
          </a:bodyPr>
          <a:lstStyle/>
          <a:p>
            <a:r>
              <a:rPr lang="en-US" altLang="en-IN" sz="5400" spc="-1" dirty="0">
                <a:solidFill>
                  <a:srgbClr val="FFFFFF"/>
                </a:solidFill>
                <a:latin typeface="Times New Roman" panose="02020603050405020304"/>
                <a:sym typeface="+mn-ea"/>
              </a:rPr>
              <a:t>A</a:t>
            </a:r>
            <a:r>
              <a:rPr lang="en-US" altLang="en-IN" sz="5400" b="1" spc="-1" dirty="0">
                <a:solidFill>
                  <a:srgbClr val="ED7D31"/>
                </a:solidFill>
                <a:latin typeface="Calibri" panose="020F0502020204030204"/>
                <a:sym typeface="+mn-ea"/>
              </a:rPr>
              <a:t>rtificial</a:t>
            </a:r>
            <a:r>
              <a:rPr lang="en-IN" sz="5400" spc="-1" dirty="0">
                <a:solidFill>
                  <a:srgbClr val="FFFFFF"/>
                </a:solidFill>
                <a:latin typeface="Times New Roman" panose="02020603050405020304"/>
                <a:sym typeface="+mn-ea"/>
              </a:rPr>
              <a:t> </a:t>
            </a:r>
            <a:r>
              <a:rPr lang="en-US" altLang="en-IN" sz="5400" spc="-1" dirty="0">
                <a:solidFill>
                  <a:srgbClr val="FFFFFF"/>
                </a:solidFill>
                <a:latin typeface="Times New Roman" panose="02020603050405020304"/>
                <a:sym typeface="+mn-ea"/>
              </a:rPr>
              <a:t>N</a:t>
            </a:r>
            <a:r>
              <a:rPr lang="en-US" altLang="en-IN" sz="5400" b="1" spc="-1" dirty="0">
                <a:solidFill>
                  <a:srgbClr val="ED7D31"/>
                </a:solidFill>
                <a:latin typeface="Calibri" panose="020F0502020204030204"/>
                <a:sym typeface="+mn-ea"/>
              </a:rPr>
              <a:t>eural</a:t>
            </a:r>
            <a:r>
              <a:rPr lang="en-IN" sz="5400" spc="-1" dirty="0">
                <a:solidFill>
                  <a:srgbClr val="FFFFFF"/>
                </a:solidFill>
                <a:latin typeface="Times New Roman" panose="02020603050405020304"/>
                <a:sym typeface="+mn-ea"/>
              </a:rPr>
              <a:t> </a:t>
            </a:r>
            <a:r>
              <a:rPr lang="en-US" altLang="en-IN" sz="5400" spc="-1" dirty="0">
                <a:solidFill>
                  <a:srgbClr val="FFFFFF"/>
                </a:solidFill>
                <a:latin typeface="Times New Roman" panose="02020603050405020304"/>
                <a:sym typeface="+mn-ea"/>
              </a:rPr>
              <a:t>N</a:t>
            </a:r>
            <a:r>
              <a:rPr lang="en-US" altLang="en-IN" sz="5400" b="1" spc="-1" dirty="0">
                <a:solidFill>
                  <a:srgbClr val="ED7D31"/>
                </a:solidFill>
                <a:latin typeface="Calibri" panose="020F0502020204030204"/>
                <a:sym typeface="+mn-ea"/>
              </a:rPr>
              <a:t>etworks Layers</a:t>
            </a:r>
            <a:endParaRPr lang="en-US" altLang="en-IN" sz="5400" b="1" spc="-1" dirty="0">
              <a:solidFill>
                <a:srgbClr val="ED7D31"/>
              </a:solidFill>
              <a:latin typeface="Calibri" panose="020F0502020204030204"/>
            </a:endParaRPr>
          </a:p>
        </p:txBody>
      </p:sp>
      <p:graphicFrame>
        <p:nvGraphicFramePr>
          <p:cNvPr id="4" name="Diagram 3"/>
          <p:cNvGraphicFramePr/>
          <p:nvPr>
            <p:extLst>
              <p:ext uri="{D42A27DB-BD31-4B8C-83A1-F6EECF244321}">
                <p14:modId xmlns:p14="http://schemas.microsoft.com/office/powerpoint/2010/main" val="1488545102"/>
              </p:ext>
            </p:extLst>
          </p:nvPr>
        </p:nvGraphicFramePr>
        <p:xfrm>
          <a:off x="416242" y="1822450"/>
          <a:ext cx="8128000" cy="54184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346964"/>
            <a:ext cx="8338185" cy="923330"/>
          </a:xfrm>
          <a:prstGeom prst="rect">
            <a:avLst/>
          </a:prstGeom>
          <a:noFill/>
        </p:spPr>
        <p:txBody>
          <a:bodyPr wrap="square" rtlCol="0">
            <a:spAutoFit/>
          </a:bodyPr>
          <a:lstStyle/>
          <a:p>
            <a:r>
              <a:rPr lang="en-US" altLang="en-IN" sz="5400" spc="-1" dirty="0" smtClean="0">
                <a:solidFill>
                  <a:srgbClr val="FFFFFF"/>
                </a:solidFill>
                <a:latin typeface="Times New Roman" panose="02020603050405020304"/>
                <a:sym typeface="+mn-ea"/>
              </a:rPr>
              <a:t>A</a:t>
            </a:r>
            <a:r>
              <a:rPr lang="en-US" altLang="en-IN" sz="5400" b="1" spc="-1" dirty="0">
                <a:solidFill>
                  <a:srgbClr val="ED7D31"/>
                </a:solidFill>
                <a:latin typeface="Calibri" panose="020F0502020204030204"/>
                <a:sym typeface="+mn-ea"/>
              </a:rPr>
              <a:t>NN </a:t>
            </a:r>
            <a:r>
              <a:rPr lang="en-US" altLang="en-IN" sz="5400" spc="-1" dirty="0">
                <a:solidFill>
                  <a:srgbClr val="FFFFFF"/>
                </a:solidFill>
                <a:latin typeface="Times New Roman" panose="02020603050405020304"/>
                <a:sym typeface="+mn-ea"/>
              </a:rPr>
              <a:t>A</a:t>
            </a:r>
            <a:r>
              <a:rPr lang="en-US" altLang="en-IN" sz="5400" b="1" spc="-1" dirty="0" smtClean="0">
                <a:solidFill>
                  <a:srgbClr val="ED7D31"/>
                </a:solidFill>
                <a:latin typeface="Calibri" panose="020F0502020204030204"/>
                <a:sym typeface="+mn-ea"/>
              </a:rPr>
              <a:t>pplication</a:t>
            </a:r>
            <a:endParaRPr lang="en-US" altLang="en-IN" sz="5400" b="1" spc="-1" dirty="0">
              <a:solidFill>
                <a:srgbClr val="ED7D31"/>
              </a:solidFill>
              <a:latin typeface="Calibri" panose="020F0502020204030204"/>
            </a:endParaRPr>
          </a:p>
        </p:txBody>
      </p:sp>
      <p:sp>
        <p:nvSpPr>
          <p:cNvPr id="5" name="TextBox 4"/>
          <p:cNvSpPr txBox="1"/>
          <p:nvPr/>
        </p:nvSpPr>
        <p:spPr>
          <a:xfrm>
            <a:off x="311150" y="1950720"/>
            <a:ext cx="8881618" cy="3816429"/>
          </a:xfrm>
          <a:prstGeom prst="rect">
            <a:avLst/>
          </a:prstGeom>
          <a:noFill/>
        </p:spPr>
        <p:txBody>
          <a:bodyPr wrap="square" rtlCol="0">
            <a:spAutoFit/>
          </a:bodyPr>
          <a:lstStyle/>
          <a:p>
            <a:r>
              <a:rPr lang="en-US" sz="2800" spc="-1" dirty="0">
                <a:solidFill>
                  <a:srgbClr val="FFFFFF"/>
                </a:solidFill>
                <a:latin typeface="Times New Roman" panose="02020603050405020304"/>
              </a:rPr>
              <a:t>There are many applications of ANN. Some of them are </a:t>
            </a:r>
            <a:r>
              <a:rPr lang="en-US" sz="2800" spc="-1" dirty="0" smtClean="0">
                <a:solidFill>
                  <a:srgbClr val="FFFFFF"/>
                </a:solidFill>
                <a:latin typeface="Times New Roman" panose="02020603050405020304"/>
              </a:rPr>
              <a:t>:</a:t>
            </a:r>
          </a:p>
          <a:p>
            <a:endParaRPr lang="en-US" sz="2800" spc="-1" dirty="0">
              <a:solidFill>
                <a:srgbClr val="FFFFFF"/>
              </a:solidFill>
              <a:latin typeface="Times New Roman" panose="02020603050405020304"/>
            </a:endParaRPr>
          </a:p>
          <a:p>
            <a:pPr marL="457200" indent="-457200">
              <a:buFont typeface="Arial" panose="020B0604020202020204" pitchFamily="34" charset="0"/>
              <a:buChar char="•"/>
            </a:pPr>
            <a:r>
              <a:rPr lang="en-US" sz="2800" spc="-1" dirty="0">
                <a:solidFill>
                  <a:srgbClr val="FFFFFF"/>
                </a:solidFill>
                <a:latin typeface="Times New Roman" panose="02020603050405020304"/>
              </a:rPr>
              <a:t>Image Preprocessing and Character Recognition.</a:t>
            </a:r>
          </a:p>
          <a:p>
            <a:pPr marL="457200" indent="-457200">
              <a:buFont typeface="Arial" panose="020B0604020202020204" pitchFamily="34" charset="0"/>
              <a:buChar char="•"/>
            </a:pPr>
            <a:r>
              <a:rPr lang="en-US" sz="2800" spc="-1" dirty="0">
                <a:solidFill>
                  <a:srgbClr val="FFFFFF"/>
                </a:solidFill>
                <a:latin typeface="Times New Roman" panose="02020603050405020304"/>
              </a:rPr>
              <a:t>Forecasting.</a:t>
            </a:r>
          </a:p>
          <a:p>
            <a:pPr marL="457200" indent="-457200">
              <a:buFont typeface="Arial" panose="020B0604020202020204" pitchFamily="34" charset="0"/>
              <a:buChar char="•"/>
            </a:pPr>
            <a:r>
              <a:rPr lang="en-US" sz="2800" spc="-1" dirty="0" smtClean="0">
                <a:solidFill>
                  <a:srgbClr val="FFFFFF"/>
                </a:solidFill>
                <a:latin typeface="Times New Roman" panose="02020603050405020304"/>
              </a:rPr>
              <a:t>Classification.</a:t>
            </a:r>
            <a:endParaRPr lang="en-US" sz="2800" spc="-1" dirty="0">
              <a:solidFill>
                <a:srgbClr val="FFFFFF"/>
              </a:solidFill>
              <a:latin typeface="Times New Roman" panose="02020603050405020304"/>
            </a:endParaRPr>
          </a:p>
          <a:p>
            <a:pPr marL="457200" indent="-457200">
              <a:buFont typeface="Arial" panose="020B0604020202020204" pitchFamily="34" charset="0"/>
              <a:buChar char="•"/>
            </a:pPr>
            <a:r>
              <a:rPr lang="en-US" sz="2800" spc="-1" dirty="0" smtClean="0">
                <a:solidFill>
                  <a:srgbClr val="FFFFFF"/>
                </a:solidFill>
                <a:latin typeface="Times New Roman" panose="02020603050405020304"/>
              </a:rPr>
              <a:t>Regression.</a:t>
            </a:r>
            <a:endParaRPr lang="en-US" sz="2800" spc="-1" dirty="0">
              <a:solidFill>
                <a:srgbClr val="FFFFFF"/>
              </a:solidFill>
              <a:latin typeface="Times New Roman" panose="02020603050405020304"/>
            </a:endParaRPr>
          </a:p>
          <a:p>
            <a:pPr marL="457200" indent="-457200">
              <a:buFont typeface="Arial" panose="020B0604020202020204" pitchFamily="34" charset="0"/>
              <a:buChar char="•"/>
            </a:pPr>
            <a:r>
              <a:rPr lang="en-US" sz="2800" spc="-1" dirty="0" smtClean="0">
                <a:solidFill>
                  <a:srgbClr val="FFFFFF"/>
                </a:solidFill>
                <a:latin typeface="Times New Roman" panose="02020603050405020304"/>
              </a:rPr>
              <a:t>Pattern Recognition.</a:t>
            </a:r>
          </a:p>
          <a:p>
            <a:pPr marL="457200" indent="-457200">
              <a:buFont typeface="Arial" panose="020B0604020202020204" pitchFamily="34" charset="0"/>
              <a:buChar char="•"/>
            </a:pPr>
            <a:r>
              <a:rPr lang="en-US" sz="2800" spc="-1" dirty="0" smtClean="0">
                <a:solidFill>
                  <a:srgbClr val="FFFFFF"/>
                </a:solidFill>
                <a:latin typeface="Times New Roman" panose="02020603050405020304"/>
              </a:rPr>
              <a:t>Dimension Reduction.</a:t>
            </a:r>
            <a:endParaRPr lang="en-US" sz="2800" spc="-1" dirty="0">
              <a:solidFill>
                <a:srgbClr val="FFFFFF"/>
              </a:solidFill>
              <a:latin typeface="Times New Roman" panose="02020603050405020304"/>
            </a:endParaRPr>
          </a:p>
          <a:p>
            <a:endParaRPr lang="en-IN" dirty="0"/>
          </a:p>
        </p:txBody>
      </p:sp>
    </p:spTree>
    <p:extLst>
      <p:ext uri="{BB962C8B-B14F-4D97-AF65-F5344CB8AC3E}">
        <p14:creationId xmlns:p14="http://schemas.microsoft.com/office/powerpoint/2010/main" val="4164862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158496"/>
            <a:ext cx="8338185" cy="923330"/>
          </a:xfrm>
          <a:prstGeom prst="rect">
            <a:avLst/>
          </a:prstGeom>
          <a:noFill/>
        </p:spPr>
        <p:txBody>
          <a:bodyPr wrap="square" rtlCol="0">
            <a:spAutoFit/>
          </a:bodyPr>
          <a:lstStyle/>
          <a:p>
            <a:r>
              <a:rPr lang="en-US" altLang="en-IN" sz="5400" b="1" spc="-1" dirty="0">
                <a:solidFill>
                  <a:srgbClr val="ED7D31"/>
                </a:solidFill>
                <a:latin typeface="Calibri" panose="020F0502020204030204"/>
              </a:rPr>
              <a:t>Computer Vision</a:t>
            </a:r>
          </a:p>
        </p:txBody>
      </p:sp>
      <p:sp>
        <p:nvSpPr>
          <p:cNvPr id="5" name="TextBox 4"/>
          <p:cNvSpPr txBox="1"/>
          <p:nvPr/>
        </p:nvSpPr>
        <p:spPr>
          <a:xfrm>
            <a:off x="311150" y="2044994"/>
            <a:ext cx="9844786" cy="3785652"/>
          </a:xfrm>
          <a:prstGeom prst="rect">
            <a:avLst/>
          </a:prstGeom>
          <a:noFill/>
        </p:spPr>
        <p:txBody>
          <a:bodyPr wrap="square" rtlCol="0">
            <a:spAutoFit/>
          </a:bodyPr>
          <a:lstStyle/>
          <a:p>
            <a:pPr marL="342900" indent="-342900">
              <a:buFont typeface="Arial" panose="020B0604020202020204" pitchFamily="34" charset="0"/>
              <a:buChar char="•"/>
            </a:pPr>
            <a:r>
              <a:rPr lang="en-IN" sz="2400" spc="-1" dirty="0">
                <a:solidFill>
                  <a:srgbClr val="FFFFFF"/>
                </a:solidFill>
                <a:latin typeface="Times New Roman" panose="02020603050405020304"/>
              </a:rPr>
              <a:t>Computer vision is a field of study and technology that enables computers to interpret and make sense of visual information from the world, allowing them to understand and </a:t>
            </a:r>
            <a:r>
              <a:rPr lang="en-IN" sz="2400" spc="-1" dirty="0" smtClean="0">
                <a:solidFill>
                  <a:srgbClr val="FFFFFF"/>
                </a:solidFill>
                <a:latin typeface="Times New Roman" panose="02020603050405020304"/>
              </a:rPr>
              <a:t>analyse </a:t>
            </a:r>
            <a:r>
              <a:rPr lang="en-IN" sz="2400" spc="-1" dirty="0">
                <a:solidFill>
                  <a:srgbClr val="FFFFFF"/>
                </a:solidFill>
                <a:latin typeface="Times New Roman" panose="02020603050405020304"/>
              </a:rPr>
              <a:t>images or videos like humans do</a:t>
            </a:r>
            <a:r>
              <a:rPr lang="en-US" altLang="en-IN" sz="2400" spc="-1" dirty="0" smtClean="0">
                <a:solidFill>
                  <a:srgbClr val="FFFFFF"/>
                </a:solidFill>
                <a:latin typeface="Times New Roman" panose="02020603050405020304"/>
              </a:rPr>
              <a:t>.</a:t>
            </a:r>
          </a:p>
          <a:p>
            <a:endParaRPr lang="en-US" altLang="en-IN" sz="2400" spc="-1" dirty="0" smtClean="0">
              <a:solidFill>
                <a:srgbClr val="FFFFFF"/>
              </a:solidFill>
              <a:latin typeface="Times New Roman" panose="02020603050405020304"/>
            </a:endParaRPr>
          </a:p>
          <a:p>
            <a:endParaRPr lang="en-US" altLang="en-IN" sz="2400" spc="-1" dirty="0">
              <a:solidFill>
                <a:srgbClr val="FFFFFF"/>
              </a:solidFill>
              <a:latin typeface="Times New Roman" panose="02020603050405020304"/>
            </a:endParaRPr>
          </a:p>
          <a:p>
            <a:endParaRPr lang="en-US" altLang="en-IN" sz="2400" spc="-1" dirty="0">
              <a:solidFill>
                <a:srgbClr val="FFFFFF"/>
              </a:solidFill>
              <a:latin typeface="Times New Roman" panose="02020603050405020304"/>
            </a:endParaRPr>
          </a:p>
          <a:p>
            <a:endParaRPr lang="en-US" altLang="en-IN" sz="2400" spc="-1" dirty="0">
              <a:solidFill>
                <a:srgbClr val="FFFFFF"/>
              </a:solidFill>
              <a:latin typeface="Times New Roman" panose="02020603050405020304"/>
            </a:endParaRPr>
          </a:p>
          <a:p>
            <a:pPr marL="342900" indent="-342900">
              <a:buFont typeface="Arial" panose="020B0604020202020204" pitchFamily="34" charset="0"/>
              <a:buChar char="•"/>
            </a:pPr>
            <a:r>
              <a:rPr lang="en-US" sz="2400" spc="-1" dirty="0">
                <a:solidFill>
                  <a:srgbClr val="FFFFFF"/>
                </a:solidFill>
                <a:latin typeface="Times New Roman" panose="02020603050405020304"/>
              </a:rPr>
              <a:t>Computer vision is a field of artificial intelligence that enables computers to interpret and make decisions based on visual data from the world, such as images or videos.</a:t>
            </a:r>
            <a:endParaRPr lang="en-US" altLang="en-IN" sz="2400" spc="-1" dirty="0">
              <a:solidFill>
                <a:srgbClr val="FFFFFF"/>
              </a:solidFill>
              <a:latin typeface="Times New Roman" panose="02020603050405020304"/>
            </a:endParaRPr>
          </a:p>
        </p:txBody>
      </p:sp>
      <p:cxnSp>
        <p:nvCxnSpPr>
          <p:cNvPr id="6" name="Straight Connector 5"/>
          <p:cNvCxnSpPr/>
          <p:nvPr/>
        </p:nvCxnSpPr>
        <p:spPr>
          <a:xfrm flipV="1">
            <a:off x="311150" y="3913436"/>
            <a:ext cx="9625330" cy="24384"/>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67461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24485" y="258128"/>
            <a:ext cx="6677660" cy="1753235"/>
          </a:xfrm>
          <a:prstGeom prst="rect">
            <a:avLst/>
          </a:prstGeom>
          <a:noFill/>
        </p:spPr>
        <p:txBody>
          <a:bodyPr wrap="square" rtlCol="0">
            <a:spAutoFit/>
          </a:bodyPr>
          <a:lstStyle/>
          <a:p>
            <a:r>
              <a:rPr lang="en-US" altLang="en-IN" sz="5400" spc="-1" dirty="0">
                <a:solidFill>
                  <a:srgbClr val="FFFFFF"/>
                </a:solidFill>
                <a:latin typeface="Times New Roman" panose="02020603050405020304"/>
                <a:sym typeface="+mn-ea"/>
              </a:rPr>
              <a:t>C</a:t>
            </a:r>
            <a:r>
              <a:rPr lang="en-US" altLang="en-IN" sz="5400" b="1" spc="-1" dirty="0">
                <a:solidFill>
                  <a:srgbClr val="ED7D31"/>
                </a:solidFill>
                <a:latin typeface="Calibri" panose="020F0502020204030204"/>
                <a:sym typeface="+mn-ea"/>
              </a:rPr>
              <a:t>onvolutional</a:t>
            </a:r>
            <a:r>
              <a:rPr lang="en-IN" sz="5400" spc="-1" dirty="0">
                <a:solidFill>
                  <a:srgbClr val="FFFFFF"/>
                </a:solidFill>
                <a:latin typeface="Times New Roman" panose="02020603050405020304"/>
                <a:sym typeface="+mn-ea"/>
              </a:rPr>
              <a:t> </a:t>
            </a:r>
            <a:r>
              <a:rPr lang="en-US" altLang="en-IN" sz="5400" spc="-1" dirty="0">
                <a:solidFill>
                  <a:srgbClr val="FFFFFF"/>
                </a:solidFill>
                <a:latin typeface="Times New Roman" panose="02020603050405020304"/>
                <a:sym typeface="+mn-ea"/>
              </a:rPr>
              <a:t>N</a:t>
            </a:r>
            <a:r>
              <a:rPr lang="en-US" altLang="en-IN" sz="5400" b="1" spc="-1" dirty="0">
                <a:solidFill>
                  <a:srgbClr val="ED7D31"/>
                </a:solidFill>
                <a:latin typeface="Calibri" panose="020F0502020204030204"/>
                <a:sym typeface="+mn-ea"/>
              </a:rPr>
              <a:t>eural</a:t>
            </a:r>
            <a:r>
              <a:rPr lang="en-IN" sz="5400" spc="-1" dirty="0">
                <a:solidFill>
                  <a:srgbClr val="FFFFFF"/>
                </a:solidFill>
                <a:latin typeface="Times New Roman" panose="02020603050405020304"/>
                <a:sym typeface="+mn-ea"/>
              </a:rPr>
              <a:t> </a:t>
            </a:r>
            <a:r>
              <a:rPr lang="en-US" altLang="en-IN" sz="5400" spc="-1" dirty="0">
                <a:solidFill>
                  <a:srgbClr val="FFFFFF"/>
                </a:solidFill>
                <a:latin typeface="Times New Roman" panose="02020603050405020304"/>
                <a:sym typeface="+mn-ea"/>
              </a:rPr>
              <a:t>N</a:t>
            </a:r>
            <a:r>
              <a:rPr lang="en-US" altLang="en-IN" sz="5400" b="1" spc="-1" dirty="0">
                <a:solidFill>
                  <a:srgbClr val="ED7D31"/>
                </a:solidFill>
                <a:latin typeface="Calibri" panose="020F0502020204030204"/>
                <a:sym typeface="+mn-ea"/>
              </a:rPr>
              <a:t>etworks</a:t>
            </a:r>
            <a:endParaRPr lang="en-US" altLang="en-IN" sz="5400" b="1" spc="-1" dirty="0">
              <a:solidFill>
                <a:srgbClr val="ED7D31"/>
              </a:solidFill>
              <a:latin typeface="Calibri" panose="020F0502020204030204"/>
            </a:endParaRPr>
          </a:p>
        </p:txBody>
      </p:sp>
      <p:pic>
        <p:nvPicPr>
          <p:cNvPr id="100" name="Picture 99"/>
          <p:cNvPicPr/>
          <p:nvPr/>
        </p:nvPicPr>
        <p:blipFill>
          <a:blip r:embed="rId2"/>
          <a:stretch>
            <a:fillRect/>
          </a:stretch>
        </p:blipFill>
        <p:spPr>
          <a:xfrm>
            <a:off x="324485" y="2269490"/>
            <a:ext cx="9663430" cy="4293870"/>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146050"/>
            <a:ext cx="6677660" cy="1753235"/>
          </a:xfrm>
          <a:prstGeom prst="rect">
            <a:avLst/>
          </a:prstGeom>
          <a:noFill/>
        </p:spPr>
        <p:txBody>
          <a:bodyPr wrap="square" rtlCol="0">
            <a:spAutoFit/>
          </a:bodyPr>
          <a:lstStyle/>
          <a:p>
            <a:r>
              <a:rPr lang="en-US" altLang="en-IN" sz="5400" spc="-1">
                <a:solidFill>
                  <a:srgbClr val="FFFFFF"/>
                </a:solidFill>
                <a:latin typeface="Times New Roman" panose="02020603050405020304"/>
                <a:sym typeface="+mn-ea"/>
              </a:rPr>
              <a:t>C</a:t>
            </a:r>
            <a:r>
              <a:rPr lang="en-US" altLang="en-IN" sz="5400" b="1" spc="-1">
                <a:solidFill>
                  <a:srgbClr val="ED7D31"/>
                </a:solidFill>
                <a:latin typeface="Calibri" panose="020F0502020204030204"/>
                <a:sym typeface="+mn-ea"/>
              </a:rPr>
              <a:t>onvolutional</a:t>
            </a:r>
            <a:r>
              <a:rPr lang="en-IN" sz="5400" spc="-1">
                <a:solidFill>
                  <a:srgbClr val="FFFFFF"/>
                </a:solidFill>
                <a:latin typeface="Times New Roman" panose="02020603050405020304"/>
                <a:sym typeface="+mn-ea"/>
              </a:rPr>
              <a:t> </a:t>
            </a:r>
            <a:r>
              <a:rPr lang="en-US" altLang="en-IN"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eural</a:t>
            </a:r>
            <a:r>
              <a:rPr lang="en-IN" sz="5400" spc="-1">
                <a:solidFill>
                  <a:srgbClr val="FFFFFF"/>
                </a:solidFill>
                <a:latin typeface="Times New Roman" panose="02020603050405020304"/>
                <a:sym typeface="+mn-ea"/>
              </a:rPr>
              <a:t> </a:t>
            </a:r>
            <a:r>
              <a:rPr lang="en-US" altLang="en-IN"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etworks Use cases :</a:t>
            </a:r>
            <a:endParaRPr lang="en-US" altLang="en-IN" sz="5400" b="1" spc="-1">
              <a:solidFill>
                <a:srgbClr val="ED7D31"/>
              </a:solidFill>
              <a:latin typeface="Calibri" panose="020F0502020204030204"/>
            </a:endParaRPr>
          </a:p>
        </p:txBody>
      </p:sp>
      <p:sp>
        <p:nvSpPr>
          <p:cNvPr id="4" name="Text Box 3"/>
          <p:cNvSpPr txBox="1"/>
          <p:nvPr/>
        </p:nvSpPr>
        <p:spPr>
          <a:xfrm>
            <a:off x="450215" y="2351405"/>
            <a:ext cx="6943725" cy="3969385"/>
          </a:xfrm>
          <a:prstGeom prst="rect">
            <a:avLst/>
          </a:prstGeom>
          <a:noFill/>
        </p:spPr>
        <p:txBody>
          <a:bodyPr wrap="square" rtlCol="0">
            <a:spAutoFit/>
          </a:bodyPr>
          <a:lstStyle/>
          <a:p>
            <a:pPr marL="285750" indent="-285750">
              <a:buFont typeface="Arial" panose="020B0604020202020204" pitchFamily="34" charset="0"/>
              <a:buChar char="•"/>
            </a:pPr>
            <a:r>
              <a:rPr lang="en-IN" sz="2800" spc="-1">
                <a:solidFill>
                  <a:srgbClr val="FFFFFF"/>
                </a:solidFill>
                <a:latin typeface="Times New Roman" panose="02020603050405020304"/>
              </a:rPr>
              <a:t>Facial Recognition</a:t>
            </a:r>
          </a:p>
          <a:p>
            <a:pPr marL="285750" indent="-285750">
              <a:buFont typeface="Arial" panose="020B0604020202020204" pitchFamily="34" charset="0"/>
              <a:buChar char="•"/>
            </a:pPr>
            <a:r>
              <a:rPr lang="en-IN" sz="2800" spc="-1">
                <a:solidFill>
                  <a:srgbClr val="FFFFFF"/>
                </a:solidFill>
                <a:latin typeface="Times New Roman" panose="02020603050405020304"/>
              </a:rPr>
              <a:t>Object Detection</a:t>
            </a:r>
          </a:p>
          <a:p>
            <a:pPr marL="285750" indent="-285750">
              <a:buFont typeface="Arial" panose="020B0604020202020204" pitchFamily="34" charset="0"/>
              <a:buChar char="•"/>
            </a:pPr>
            <a:r>
              <a:rPr lang="en-IN" sz="2800" spc="-1">
                <a:solidFill>
                  <a:srgbClr val="FFFFFF"/>
                </a:solidFill>
                <a:latin typeface="Times New Roman" panose="02020603050405020304"/>
                <a:sym typeface="+mn-ea"/>
              </a:rPr>
              <a:t>Visual Search</a:t>
            </a:r>
          </a:p>
          <a:p>
            <a:pPr marL="285750" indent="-285750">
              <a:buFont typeface="Arial" panose="020B0604020202020204" pitchFamily="34" charset="0"/>
              <a:buChar char="•"/>
            </a:pPr>
            <a:r>
              <a:rPr lang="en-IN" sz="2800" spc="-1">
                <a:solidFill>
                  <a:srgbClr val="FFFFFF"/>
                </a:solidFill>
                <a:latin typeface="Times New Roman" panose="02020603050405020304"/>
                <a:sym typeface="+mn-ea"/>
              </a:rPr>
              <a:t>Autonomous vehicle</a:t>
            </a:r>
          </a:p>
          <a:p>
            <a:pPr marL="285750" indent="-285750">
              <a:buFont typeface="Arial" panose="020B0604020202020204" pitchFamily="34" charset="0"/>
              <a:buChar char="•"/>
            </a:pPr>
            <a:r>
              <a:rPr lang="en-IN" sz="2800" spc="-1">
                <a:solidFill>
                  <a:srgbClr val="FFFFFF"/>
                </a:solidFill>
                <a:latin typeface="Times New Roman" panose="02020603050405020304"/>
                <a:sym typeface="+mn-ea"/>
              </a:rPr>
              <a:t>Agricultural Monitoring</a:t>
            </a:r>
            <a:endParaRPr lang="en-IN" sz="2800" spc="-1">
              <a:solidFill>
                <a:srgbClr val="FFFFFF"/>
              </a:solidFill>
              <a:latin typeface="Times New Roman" panose="02020603050405020304"/>
            </a:endParaRPr>
          </a:p>
          <a:p>
            <a:pPr marL="285750" indent="-285750">
              <a:buFont typeface="Arial" panose="020B0604020202020204" pitchFamily="34" charset="0"/>
              <a:buChar char="•"/>
            </a:pPr>
            <a:r>
              <a:rPr lang="en-IN" sz="2800" spc="-1">
                <a:solidFill>
                  <a:srgbClr val="FFFFFF"/>
                </a:solidFill>
                <a:latin typeface="Times New Roman" panose="02020603050405020304"/>
              </a:rPr>
              <a:t>Medical Imaging</a:t>
            </a:r>
          </a:p>
          <a:p>
            <a:pPr marL="285750" indent="-285750">
              <a:buFont typeface="Arial" panose="020B0604020202020204" pitchFamily="34" charset="0"/>
              <a:buChar char="•"/>
            </a:pPr>
            <a:r>
              <a:rPr lang="en-IN" sz="2800" spc="-1">
                <a:solidFill>
                  <a:srgbClr val="FFFFFF"/>
                </a:solidFill>
                <a:latin typeface="Times New Roman" panose="02020603050405020304"/>
              </a:rPr>
              <a:t>Retail Analytics</a:t>
            </a:r>
          </a:p>
          <a:p>
            <a:pPr marL="285750" indent="-285750">
              <a:buFont typeface="Arial" panose="020B0604020202020204" pitchFamily="34" charset="0"/>
              <a:buChar char="•"/>
            </a:pPr>
            <a:r>
              <a:rPr lang="en-IN" sz="2800" spc="-1">
                <a:solidFill>
                  <a:srgbClr val="FFFFFF"/>
                </a:solidFill>
                <a:latin typeface="Times New Roman" panose="02020603050405020304"/>
              </a:rPr>
              <a:t>Automated Quality Control</a:t>
            </a:r>
          </a:p>
          <a:p>
            <a:pPr marL="285750" indent="-285750">
              <a:buFont typeface="Arial" panose="020B0604020202020204" pitchFamily="34" charset="0"/>
              <a:buChar char="•"/>
            </a:pPr>
            <a:r>
              <a:rPr lang="en-IN" sz="2800" spc="-1">
                <a:solidFill>
                  <a:srgbClr val="FFFFFF"/>
                </a:solidFill>
                <a:latin typeface="Times New Roman" panose="02020603050405020304"/>
              </a:rPr>
              <a:t>Gesture Recognition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43840"/>
            <a:ext cx="8948420" cy="922020"/>
          </a:xfrm>
          <a:prstGeom prst="rect">
            <a:avLst/>
          </a:prstGeom>
          <a:noFill/>
        </p:spPr>
        <p:txBody>
          <a:bodyPr wrap="square" rtlCol="0">
            <a:spAutoFit/>
          </a:bodyPr>
          <a:lstStyle/>
          <a:p>
            <a:r>
              <a:rPr lang="en-US"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atural</a:t>
            </a:r>
            <a:r>
              <a:rPr lang="en-US" sz="5400" spc="-1">
                <a:solidFill>
                  <a:srgbClr val="FFFFFF"/>
                </a:solidFill>
                <a:latin typeface="Times New Roman" panose="02020603050405020304"/>
                <a:sym typeface="+mn-ea"/>
              </a:rPr>
              <a:t> L</a:t>
            </a:r>
            <a:r>
              <a:rPr lang="en-US" altLang="en-IN" sz="5400" b="1" spc="-1">
                <a:solidFill>
                  <a:srgbClr val="ED7D31"/>
                </a:solidFill>
                <a:latin typeface="Calibri" panose="020F0502020204030204"/>
                <a:sym typeface="+mn-ea"/>
              </a:rPr>
              <a:t>anguage</a:t>
            </a:r>
            <a:r>
              <a:rPr lang="en-US" sz="5400" spc="-1">
                <a:solidFill>
                  <a:srgbClr val="FFFFFF"/>
                </a:solidFill>
                <a:latin typeface="Times New Roman" panose="02020603050405020304"/>
                <a:sym typeface="+mn-ea"/>
              </a:rPr>
              <a:t> P</a:t>
            </a:r>
            <a:r>
              <a:rPr lang="en-US" altLang="en-IN" sz="5400" b="1" spc="-1">
                <a:solidFill>
                  <a:srgbClr val="ED7D31"/>
                </a:solidFill>
                <a:latin typeface="Calibri" panose="020F0502020204030204"/>
                <a:sym typeface="+mn-ea"/>
              </a:rPr>
              <a:t>rocessing</a:t>
            </a:r>
            <a:endParaRPr lang="en-US" altLang="en-IN" sz="5400" b="1" spc="-1">
              <a:solidFill>
                <a:srgbClr val="ED7D31"/>
              </a:solidFill>
              <a:latin typeface="Calibri" panose="020F0502020204030204"/>
            </a:endParaRPr>
          </a:p>
        </p:txBody>
      </p:sp>
      <p:sp>
        <p:nvSpPr>
          <p:cNvPr id="4" name="Text Box 3"/>
          <p:cNvSpPr txBox="1"/>
          <p:nvPr/>
        </p:nvSpPr>
        <p:spPr>
          <a:xfrm>
            <a:off x="311150" y="1307465"/>
            <a:ext cx="9425940" cy="5446395"/>
          </a:xfrm>
          <a:prstGeom prst="rect">
            <a:avLst/>
          </a:prstGeom>
          <a:noFill/>
        </p:spPr>
        <p:txBody>
          <a:bodyPr wrap="square" rtlCol="0">
            <a:spAutoFit/>
          </a:bodyPr>
          <a:lstStyle/>
          <a:p>
            <a:r>
              <a:rPr lang="en-IN" sz="2400" spc="-1">
                <a:solidFill>
                  <a:srgbClr val="FFFFFF"/>
                </a:solidFill>
                <a:latin typeface="Times New Roman" panose="02020603050405020304"/>
              </a:rPr>
              <a:t>Natural Language Processing (NLP) is a branch of artificial intelligence that focuses on the interaction between computers and human languages. It involves the development of algorithms and computational models to enable machines to understand, interpret, and generate human language</a:t>
            </a:r>
            <a:r>
              <a:rPr lang="en-US" altLang="en-IN" sz="2400" spc="-1">
                <a:solidFill>
                  <a:srgbClr val="FFFFFF"/>
                </a:solidFill>
                <a:latin typeface="Times New Roman" panose="02020603050405020304"/>
              </a:rPr>
              <a:t>.</a:t>
            </a:r>
          </a:p>
          <a:p>
            <a:r>
              <a:rPr lang="en-US" altLang="en-IN" sz="2400" spc="-1">
                <a:solidFill>
                  <a:srgbClr val="FFFFFF"/>
                </a:solidFill>
                <a:latin typeface="Times New Roman" panose="02020603050405020304"/>
              </a:rPr>
              <a:t>NLP used to solve a wide range of tasks and applications, including </a:t>
            </a:r>
            <a:r>
              <a:rPr lang="en-US" altLang="en-IN" sz="2800" spc="-1">
                <a:solidFill>
                  <a:srgbClr val="FFFFFF"/>
                </a:solidFill>
                <a:latin typeface="Times New Roman" panose="02020603050405020304"/>
              </a:rPr>
              <a:t>:</a:t>
            </a:r>
          </a:p>
          <a:p>
            <a:endParaRPr lang="en-US" altLang="en-IN" sz="2800" spc="-1">
              <a:solidFill>
                <a:srgbClr val="FFFFFF"/>
              </a:solidFill>
              <a:latin typeface="Times New Roman" panose="02020603050405020304"/>
            </a:endParaRPr>
          </a:p>
          <a:p>
            <a:pPr marL="457200" indent="-457200">
              <a:buFont typeface="Arial" panose="020B0604020202020204" pitchFamily="34" charset="0"/>
              <a:buChar char="•"/>
            </a:pPr>
            <a:r>
              <a:rPr lang="en-US" altLang="en-IN" sz="2800" spc="-1">
                <a:solidFill>
                  <a:srgbClr val="FFFFFF"/>
                </a:solidFill>
                <a:latin typeface="Times New Roman" panose="02020603050405020304"/>
              </a:rPr>
              <a:t>Text Understanding</a:t>
            </a:r>
          </a:p>
          <a:p>
            <a:pPr marL="457200" indent="-457200">
              <a:buFont typeface="Arial" panose="020B0604020202020204" pitchFamily="34" charset="0"/>
              <a:buChar char="•"/>
            </a:pPr>
            <a:r>
              <a:rPr lang="en-US" altLang="en-IN" sz="2800" spc="-1">
                <a:solidFill>
                  <a:srgbClr val="FFFFFF"/>
                </a:solidFill>
                <a:latin typeface="Times New Roman" panose="02020603050405020304"/>
              </a:rPr>
              <a:t>Sentiment Analysis</a:t>
            </a:r>
          </a:p>
          <a:p>
            <a:pPr marL="457200" indent="-457200">
              <a:buFont typeface="Arial" panose="020B0604020202020204" pitchFamily="34" charset="0"/>
              <a:buChar char="•"/>
            </a:pPr>
            <a:r>
              <a:rPr lang="en-US" altLang="en-IN" sz="2800" spc="-1">
                <a:solidFill>
                  <a:srgbClr val="FFFFFF"/>
                </a:solidFill>
                <a:latin typeface="Times New Roman" panose="02020603050405020304"/>
              </a:rPr>
              <a:t>Question Answering</a:t>
            </a:r>
          </a:p>
          <a:p>
            <a:pPr marL="457200" indent="-457200">
              <a:buFont typeface="Arial" panose="020B0604020202020204" pitchFamily="34" charset="0"/>
              <a:buChar char="•"/>
            </a:pPr>
            <a:r>
              <a:rPr lang="en-US" altLang="en-IN" sz="2800" spc="-1">
                <a:solidFill>
                  <a:srgbClr val="FFFFFF"/>
                </a:solidFill>
                <a:latin typeface="Times New Roman" panose="02020603050405020304"/>
              </a:rPr>
              <a:t>Language Generation</a:t>
            </a:r>
          </a:p>
          <a:p>
            <a:pPr marL="457200" indent="-457200">
              <a:buFont typeface="Arial" panose="020B0604020202020204" pitchFamily="34" charset="0"/>
              <a:buChar char="•"/>
            </a:pPr>
            <a:r>
              <a:rPr lang="en-US" altLang="en-IN" sz="2800" spc="-1">
                <a:solidFill>
                  <a:srgbClr val="FFFFFF"/>
                </a:solidFill>
                <a:latin typeface="Times New Roman" panose="02020603050405020304"/>
              </a:rPr>
              <a:t>Speech Recognition</a:t>
            </a:r>
          </a:p>
          <a:p>
            <a:pPr marL="457200" indent="-457200">
              <a:buFont typeface="Arial" panose="020B0604020202020204" pitchFamily="34" charset="0"/>
              <a:buChar char="•"/>
            </a:pPr>
            <a:r>
              <a:rPr lang="en-US" altLang="en-IN" sz="2800" spc="-1">
                <a:solidFill>
                  <a:srgbClr val="FFFFFF"/>
                </a:solidFill>
                <a:latin typeface="Times New Roman" panose="02020603050405020304"/>
              </a:rPr>
              <a:t>Text Summarization</a:t>
            </a:r>
          </a:p>
          <a:p>
            <a:pPr marL="457200" indent="-457200">
              <a:buFont typeface="Arial" panose="020B0604020202020204" pitchFamily="34" charset="0"/>
              <a:buChar char="•"/>
            </a:pPr>
            <a:r>
              <a:rPr lang="en-US" altLang="en-IN" sz="2800" spc="-1">
                <a:solidFill>
                  <a:srgbClr val="FFFFFF"/>
                </a:solidFill>
                <a:latin typeface="Times New Roman" panose="02020603050405020304"/>
              </a:rPr>
              <a:t>Named Entity Recognition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43840"/>
            <a:ext cx="8948420" cy="922020"/>
          </a:xfrm>
          <a:prstGeom prst="rect">
            <a:avLst/>
          </a:prstGeom>
          <a:noFill/>
        </p:spPr>
        <p:txBody>
          <a:bodyPr wrap="square" rtlCol="0">
            <a:spAutoFit/>
          </a:bodyPr>
          <a:lstStyle/>
          <a:p>
            <a:r>
              <a:rPr lang="en-US" altLang="en-IN" sz="5400" b="1" spc="-1">
                <a:solidFill>
                  <a:srgbClr val="ED7D31"/>
                </a:solidFill>
                <a:latin typeface="Calibri" panose="020F0502020204030204"/>
                <a:sym typeface="+mn-ea"/>
              </a:rPr>
              <a:t>NLP Components</a:t>
            </a:r>
            <a:endParaRPr lang="en-US" altLang="en-IN" sz="5400" b="1" spc="-1">
              <a:solidFill>
                <a:srgbClr val="ED7D31"/>
              </a:solidFill>
              <a:latin typeface="Calibri" panose="020F0502020204030204"/>
            </a:endParaRPr>
          </a:p>
        </p:txBody>
      </p:sp>
      <p:sp>
        <p:nvSpPr>
          <p:cNvPr id="5" name="Text Box 4"/>
          <p:cNvSpPr txBox="1"/>
          <p:nvPr/>
        </p:nvSpPr>
        <p:spPr>
          <a:xfrm>
            <a:off x="311785" y="1358900"/>
            <a:ext cx="9538335" cy="6042660"/>
          </a:xfrm>
          <a:prstGeom prst="rect">
            <a:avLst/>
          </a:prstGeom>
          <a:noFill/>
        </p:spPr>
        <p:txBody>
          <a:bodyPr wrap="square" rtlCol="0">
            <a:noAutofit/>
          </a:bodyPr>
          <a:lstStyle/>
          <a:p>
            <a:r>
              <a:rPr lang="en-US" altLang="en-IN" sz="2400" b="1" spc="-1">
                <a:solidFill>
                  <a:srgbClr val="ED7D31"/>
                </a:solidFill>
                <a:latin typeface="Calibri" panose="020F0502020204030204"/>
              </a:rPr>
              <a:t>NLU (Natural Language Understanding):</a:t>
            </a:r>
            <a:endParaRPr lang="en-US" sz="2000"/>
          </a:p>
          <a:p>
            <a:r>
              <a:rPr lang="en-US" altLang="en-IN" sz="2000" b="1" spc="-1">
                <a:solidFill>
                  <a:srgbClr val="ED7D31"/>
                </a:solidFill>
                <a:latin typeface="Calibri" panose="020F0502020204030204"/>
              </a:rPr>
              <a:t>Definition:</a:t>
            </a:r>
            <a:r>
              <a:rPr lang="en-US"/>
              <a:t> </a:t>
            </a:r>
            <a:r>
              <a:rPr lang="en-IN" sz="2400" spc="-1">
                <a:solidFill>
                  <a:srgbClr val="FFFFFF"/>
                </a:solidFill>
                <a:latin typeface="Times New Roman" panose="02020603050405020304"/>
              </a:rPr>
              <a:t>NLU focuses on the machine's ability to understand and interpret human language. It involves extracting meaning and intent from the input text, enabling the system to comprehend and respond appropriately.</a:t>
            </a:r>
            <a:endParaRPr lang="en-US"/>
          </a:p>
          <a:p>
            <a:r>
              <a:rPr lang="en-US" altLang="en-IN" sz="2000" b="1" spc="-1">
                <a:solidFill>
                  <a:srgbClr val="ED7D31"/>
                </a:solidFill>
                <a:latin typeface="Calibri" panose="020F0502020204030204"/>
              </a:rPr>
              <a:t>Tasks:</a:t>
            </a:r>
            <a:r>
              <a:rPr lang="en-US"/>
              <a:t> </a:t>
            </a:r>
            <a:r>
              <a:rPr lang="en-IN" sz="2400" spc="-1">
                <a:solidFill>
                  <a:srgbClr val="FFFFFF"/>
                </a:solidFill>
                <a:latin typeface="Times New Roman" panose="02020603050405020304"/>
              </a:rPr>
              <a:t>NLU encompasses tasks such as sentiment analysis, named entity recognition, part-of-speech tagging</a:t>
            </a:r>
            <a:endParaRPr lang="en-US"/>
          </a:p>
          <a:p>
            <a:endParaRPr lang="en-US"/>
          </a:p>
          <a:p>
            <a:endParaRPr lang="en-US"/>
          </a:p>
          <a:p>
            <a:pPr algn="l">
              <a:buClrTx/>
              <a:buSzTx/>
              <a:buFontTx/>
            </a:pPr>
            <a:r>
              <a:rPr lang="en-US" altLang="en-IN" sz="2400" b="1" spc="-1">
                <a:solidFill>
                  <a:srgbClr val="ED7D31"/>
                </a:solidFill>
                <a:latin typeface="Calibri" panose="020F0502020204030204"/>
              </a:rPr>
              <a:t>NLG (Natural Language Generation):</a:t>
            </a:r>
            <a:endParaRPr lang="en-US" sz="2000"/>
          </a:p>
          <a:p>
            <a:r>
              <a:rPr lang="en-US" altLang="en-IN" sz="2000" b="1" spc="-1">
                <a:solidFill>
                  <a:srgbClr val="ED7D31"/>
                </a:solidFill>
                <a:latin typeface="Calibri" panose="020F0502020204030204"/>
              </a:rPr>
              <a:t>Definition:</a:t>
            </a:r>
            <a:r>
              <a:rPr lang="en-IN" sz="2400" spc="-1">
                <a:solidFill>
                  <a:srgbClr val="FFFFFF"/>
                </a:solidFill>
                <a:latin typeface="Times New Roman" panose="02020603050405020304"/>
              </a:rPr>
              <a:t> NLG involves the machine's ability to generate human-like text or speech based on data or instructions provided to it. NLG systems aim to produce coherent and contextually relevant language output.</a:t>
            </a:r>
            <a:endParaRPr lang="en-US"/>
          </a:p>
          <a:p>
            <a:r>
              <a:rPr lang="en-US" altLang="en-IN" sz="2000" b="1" spc="-1">
                <a:solidFill>
                  <a:srgbClr val="ED7D31"/>
                </a:solidFill>
                <a:latin typeface="Calibri" panose="020F0502020204030204"/>
              </a:rPr>
              <a:t>Tasks:</a:t>
            </a:r>
            <a:r>
              <a:rPr lang="en-US"/>
              <a:t> </a:t>
            </a:r>
            <a:r>
              <a:rPr lang="en-IN" sz="2400" spc="-1">
                <a:solidFill>
                  <a:srgbClr val="FFFFFF"/>
                </a:solidFill>
                <a:latin typeface="Times New Roman" panose="02020603050405020304"/>
              </a:rPr>
              <a:t>NLG is used in various applications, including text summarization, content creation, chatbots, and report generation. It converts structured data into natural language, making it understandable for humans.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43840"/>
            <a:ext cx="8948420" cy="922020"/>
          </a:xfrm>
          <a:prstGeom prst="rect">
            <a:avLst/>
          </a:prstGeom>
          <a:noFill/>
        </p:spPr>
        <p:txBody>
          <a:bodyPr wrap="square" rtlCol="0">
            <a:spAutoFit/>
          </a:bodyPr>
          <a:lstStyle/>
          <a:p>
            <a:r>
              <a:rPr lang="en-US" altLang="en-IN" sz="5400" b="1" spc="-1">
                <a:solidFill>
                  <a:srgbClr val="ED7D31"/>
                </a:solidFill>
                <a:latin typeface="Calibri" panose="020F0502020204030204"/>
                <a:sym typeface="+mn-ea"/>
              </a:rPr>
              <a:t>NLP Data Processing Pipeline</a:t>
            </a:r>
            <a:endParaRPr lang="en-US" altLang="en-IN" sz="5400" b="1" spc="-1">
              <a:solidFill>
                <a:srgbClr val="ED7D31"/>
              </a:solidFill>
              <a:latin typeface="Calibri" panose="020F0502020204030204"/>
            </a:endParaRPr>
          </a:p>
        </p:txBody>
      </p:sp>
      <p:pic>
        <p:nvPicPr>
          <p:cNvPr id="103" name="Picture 102"/>
          <p:cNvPicPr/>
          <p:nvPr/>
        </p:nvPicPr>
        <p:blipFill>
          <a:blip r:embed="rId2"/>
          <a:stretch>
            <a:fillRect/>
          </a:stretch>
        </p:blipFill>
        <p:spPr>
          <a:xfrm>
            <a:off x="437515" y="1806575"/>
            <a:ext cx="9103360" cy="4732020"/>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313690"/>
            <a:ext cx="8522335" cy="922020"/>
          </a:xfrm>
          <a:prstGeom prst="rect">
            <a:avLst/>
          </a:prstGeom>
          <a:noFill/>
        </p:spPr>
        <p:txBody>
          <a:bodyPr wrap="square" rtlCol="0">
            <a:spAutoFit/>
          </a:bodyPr>
          <a:lstStyle/>
          <a:p>
            <a:r>
              <a:rPr lang="en-US" altLang="en-IN" sz="5400" spc="-1">
                <a:solidFill>
                  <a:srgbClr val="FFFFFF"/>
                </a:solidFill>
                <a:latin typeface="Times New Roman" panose="02020603050405020304"/>
                <a:sym typeface="+mn-ea"/>
              </a:rPr>
              <a:t>R</a:t>
            </a:r>
            <a:r>
              <a:rPr lang="en-US" altLang="en-IN" sz="5400" b="1" spc="-1">
                <a:solidFill>
                  <a:srgbClr val="ED7D31"/>
                </a:solidFill>
                <a:latin typeface="Calibri" panose="020F0502020204030204"/>
                <a:sym typeface="+mn-ea"/>
              </a:rPr>
              <a:t>ecurrent</a:t>
            </a:r>
            <a:r>
              <a:rPr lang="en-IN" sz="5400" spc="-1">
                <a:solidFill>
                  <a:srgbClr val="FFFFFF"/>
                </a:solidFill>
                <a:latin typeface="Times New Roman" panose="02020603050405020304"/>
                <a:sym typeface="+mn-ea"/>
              </a:rPr>
              <a:t> </a:t>
            </a:r>
            <a:r>
              <a:rPr lang="en-US" altLang="en-IN"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eural</a:t>
            </a:r>
            <a:r>
              <a:rPr lang="en-IN" sz="5400" spc="-1">
                <a:solidFill>
                  <a:srgbClr val="FFFFFF"/>
                </a:solidFill>
                <a:latin typeface="Times New Roman" panose="02020603050405020304"/>
                <a:sym typeface="+mn-ea"/>
              </a:rPr>
              <a:t> </a:t>
            </a:r>
            <a:r>
              <a:rPr lang="en-US" altLang="en-IN"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etworks</a:t>
            </a:r>
            <a:endParaRPr lang="en-US" altLang="en-IN" sz="5400" b="1" spc="-1">
              <a:solidFill>
                <a:srgbClr val="ED7D31"/>
              </a:solidFill>
              <a:latin typeface="Calibri" panose="020F0502020204030204"/>
            </a:endParaRPr>
          </a:p>
        </p:txBody>
      </p:sp>
      <p:pic>
        <p:nvPicPr>
          <p:cNvPr id="101" name="Picture 100"/>
          <p:cNvPicPr/>
          <p:nvPr/>
        </p:nvPicPr>
        <p:blipFill>
          <a:blip r:embed="rId2"/>
          <a:stretch>
            <a:fillRect/>
          </a:stretch>
        </p:blipFill>
        <p:spPr>
          <a:xfrm>
            <a:off x="153670" y="3646170"/>
            <a:ext cx="9377045" cy="2619375"/>
          </a:xfrm>
          <a:prstGeom prst="rect">
            <a:avLst/>
          </a:prstGeom>
          <a:noFill/>
          <a:ln w="9525">
            <a:noFill/>
          </a:ln>
        </p:spPr>
      </p:pic>
      <p:sp>
        <p:nvSpPr>
          <p:cNvPr id="4" name="Text Box 3"/>
          <p:cNvSpPr txBox="1"/>
          <p:nvPr/>
        </p:nvSpPr>
        <p:spPr>
          <a:xfrm>
            <a:off x="361315" y="1165860"/>
            <a:ext cx="9071610" cy="2091690"/>
          </a:xfrm>
          <a:prstGeom prst="rect">
            <a:avLst/>
          </a:prstGeom>
          <a:noFill/>
        </p:spPr>
        <p:txBody>
          <a:bodyPr wrap="square" rtlCol="0">
            <a:spAutoFit/>
          </a:bodyPr>
          <a:lstStyle/>
          <a:p>
            <a:endParaRPr lang="en-US"/>
          </a:p>
          <a:p>
            <a:r>
              <a:rPr lang="en-IN" sz="2800" spc="-1">
                <a:solidFill>
                  <a:srgbClr val="FFFFFF"/>
                </a:solidFill>
                <a:latin typeface="Times New Roman" panose="02020603050405020304"/>
              </a:rPr>
              <a:t>RNN (Recurrent Neural Network): A type of artificial neural network designed for sequential data processing, capable of retaining memory and considering previous inputs to influence the current output</a:t>
            </a:r>
            <a:r>
              <a:rPr lang="en-US" altLang="en-IN" sz="2800" spc="-1">
                <a:solidFill>
                  <a:srgbClr val="FFFFFF"/>
                </a:solidFill>
                <a:latin typeface="Times New Roman" panose="02020603050405020304"/>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1150" y="285750"/>
            <a:ext cx="8522335" cy="1753235"/>
          </a:xfrm>
          <a:prstGeom prst="rect">
            <a:avLst/>
          </a:prstGeom>
          <a:noFill/>
        </p:spPr>
        <p:txBody>
          <a:bodyPr wrap="square" rtlCol="0">
            <a:spAutoFit/>
          </a:bodyPr>
          <a:lstStyle/>
          <a:p>
            <a:r>
              <a:rPr lang="en-US" altLang="en-IN" sz="5400" spc="-1">
                <a:solidFill>
                  <a:srgbClr val="FFFFFF"/>
                </a:solidFill>
                <a:latin typeface="Times New Roman" panose="02020603050405020304"/>
                <a:sym typeface="+mn-ea"/>
              </a:rPr>
              <a:t>R</a:t>
            </a:r>
            <a:r>
              <a:rPr lang="en-US" altLang="en-IN" sz="5400" b="1" spc="-1">
                <a:solidFill>
                  <a:srgbClr val="ED7D31"/>
                </a:solidFill>
                <a:latin typeface="Calibri" panose="020F0502020204030204"/>
                <a:sym typeface="+mn-ea"/>
              </a:rPr>
              <a:t>ecurrent</a:t>
            </a:r>
            <a:r>
              <a:rPr lang="en-IN" sz="5400" spc="-1">
                <a:solidFill>
                  <a:srgbClr val="FFFFFF"/>
                </a:solidFill>
                <a:latin typeface="Times New Roman" panose="02020603050405020304"/>
                <a:sym typeface="+mn-ea"/>
              </a:rPr>
              <a:t> </a:t>
            </a:r>
            <a:r>
              <a:rPr lang="en-US" altLang="en-IN"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eural</a:t>
            </a:r>
            <a:r>
              <a:rPr lang="en-IN" sz="5400" spc="-1">
                <a:solidFill>
                  <a:srgbClr val="FFFFFF"/>
                </a:solidFill>
                <a:latin typeface="Times New Roman" panose="02020603050405020304"/>
                <a:sym typeface="+mn-ea"/>
              </a:rPr>
              <a:t> </a:t>
            </a:r>
            <a:r>
              <a:rPr lang="en-US" altLang="en-IN" sz="5400" spc="-1">
                <a:solidFill>
                  <a:srgbClr val="FFFFFF"/>
                </a:solidFill>
                <a:latin typeface="Times New Roman" panose="02020603050405020304"/>
                <a:sym typeface="+mn-ea"/>
              </a:rPr>
              <a:t>N</a:t>
            </a:r>
            <a:r>
              <a:rPr lang="en-US" altLang="en-IN" sz="5400" b="1" spc="-1">
                <a:solidFill>
                  <a:srgbClr val="ED7D31"/>
                </a:solidFill>
                <a:latin typeface="Calibri" panose="020F0502020204030204"/>
                <a:sym typeface="+mn-ea"/>
              </a:rPr>
              <a:t>etworks Use Cases :</a:t>
            </a:r>
            <a:endParaRPr lang="en-US" altLang="en-IN" sz="5400" b="1" spc="-1">
              <a:solidFill>
                <a:srgbClr val="ED7D31"/>
              </a:solidFill>
              <a:latin typeface="Calibri" panose="020F0502020204030204"/>
            </a:endParaRPr>
          </a:p>
        </p:txBody>
      </p:sp>
      <p:sp>
        <p:nvSpPr>
          <p:cNvPr id="5" name="Text Box 4"/>
          <p:cNvSpPr txBox="1"/>
          <p:nvPr/>
        </p:nvSpPr>
        <p:spPr>
          <a:xfrm>
            <a:off x="408305" y="2131695"/>
            <a:ext cx="6943725" cy="4369435"/>
          </a:xfrm>
          <a:prstGeom prst="rect">
            <a:avLst/>
          </a:prstGeom>
          <a:noFill/>
        </p:spPr>
        <p:txBody>
          <a:bodyPr wrap="square" rtlCol="0">
            <a:spAutoFit/>
          </a:bodyPr>
          <a:lstStyle/>
          <a:p>
            <a:pPr marL="285750" indent="-285750">
              <a:buFont typeface="Arial" panose="020B0604020202020204" pitchFamily="34" charset="0"/>
              <a:buChar char="•"/>
            </a:pPr>
            <a:r>
              <a:rPr lang="en-US" altLang="en-IN" sz="5400" b="1" spc="-1">
                <a:solidFill>
                  <a:srgbClr val="ED7D31"/>
                </a:solidFill>
                <a:latin typeface="Calibri" panose="020F0502020204030204"/>
              </a:rPr>
              <a:t>N</a:t>
            </a:r>
            <a:r>
              <a:rPr lang="en-IN" sz="2800" spc="-1">
                <a:solidFill>
                  <a:srgbClr val="FFFFFF"/>
                </a:solidFill>
                <a:latin typeface="Times New Roman" panose="02020603050405020304"/>
              </a:rPr>
              <a:t>atural </a:t>
            </a:r>
            <a:r>
              <a:rPr lang="en-US" altLang="en-IN" sz="5400" b="1" spc="-1">
                <a:solidFill>
                  <a:srgbClr val="ED7D31"/>
                </a:solidFill>
                <a:latin typeface="Calibri" panose="020F0502020204030204"/>
              </a:rPr>
              <a:t>L</a:t>
            </a:r>
            <a:r>
              <a:rPr lang="en-IN" sz="2800" spc="-1">
                <a:solidFill>
                  <a:srgbClr val="FFFFFF"/>
                </a:solidFill>
                <a:latin typeface="Times New Roman" panose="02020603050405020304"/>
              </a:rPr>
              <a:t>anguage </a:t>
            </a:r>
            <a:r>
              <a:rPr lang="en-US" altLang="en-IN" sz="5400" b="1" spc="-1">
                <a:solidFill>
                  <a:srgbClr val="ED7D31"/>
                </a:solidFill>
                <a:latin typeface="Calibri" panose="020F0502020204030204"/>
              </a:rPr>
              <a:t>P</a:t>
            </a:r>
            <a:r>
              <a:rPr lang="en-IN" sz="2800" spc="-1">
                <a:solidFill>
                  <a:srgbClr val="FFFFFF"/>
                </a:solidFill>
                <a:latin typeface="Times New Roman" panose="02020603050405020304"/>
              </a:rPr>
              <a:t>rocessing</a:t>
            </a:r>
          </a:p>
          <a:p>
            <a:pPr marL="285750" indent="-285750">
              <a:buFont typeface="Arial" panose="020B0604020202020204" pitchFamily="34" charset="0"/>
              <a:buChar char="•"/>
            </a:pPr>
            <a:r>
              <a:rPr lang="en-IN" sz="2800" spc="-1">
                <a:solidFill>
                  <a:srgbClr val="FFFFFF"/>
                </a:solidFill>
                <a:latin typeface="Times New Roman" panose="02020603050405020304"/>
                <a:sym typeface="+mn-ea"/>
              </a:rPr>
              <a:t>Speech Recognition</a:t>
            </a:r>
          </a:p>
          <a:p>
            <a:pPr marL="285750" indent="-285750">
              <a:buFont typeface="Arial" panose="020B0604020202020204" pitchFamily="34" charset="0"/>
              <a:buChar char="•"/>
            </a:pPr>
            <a:r>
              <a:rPr lang="en-US" altLang="en-IN" sz="2800" spc="-1">
                <a:solidFill>
                  <a:srgbClr val="FFFFFF"/>
                </a:solidFill>
                <a:latin typeface="Times New Roman" panose="02020603050405020304"/>
                <a:sym typeface="+mn-ea"/>
              </a:rPr>
              <a:t>sentiment analysis</a:t>
            </a:r>
            <a:endParaRPr lang="en-IN" sz="2800" spc="-1">
              <a:solidFill>
                <a:srgbClr val="FFFFFF"/>
              </a:solidFill>
              <a:latin typeface="Times New Roman" panose="02020603050405020304"/>
              <a:sym typeface="+mn-ea"/>
            </a:endParaRPr>
          </a:p>
          <a:p>
            <a:pPr marL="285750" indent="-285750">
              <a:buFont typeface="Arial" panose="020B0604020202020204" pitchFamily="34" charset="0"/>
              <a:buChar char="•"/>
            </a:pPr>
            <a:r>
              <a:rPr lang="en-IN" sz="2800" spc="-1">
                <a:solidFill>
                  <a:srgbClr val="FFFFFF"/>
                </a:solidFill>
                <a:latin typeface="Times New Roman" panose="02020603050405020304"/>
                <a:sym typeface="+mn-ea"/>
              </a:rPr>
              <a:t>Time Series Prediction</a:t>
            </a:r>
          </a:p>
          <a:p>
            <a:pPr marL="285750" indent="-285750">
              <a:buFont typeface="Arial" panose="020B0604020202020204" pitchFamily="34" charset="0"/>
              <a:buChar char="•"/>
            </a:pPr>
            <a:r>
              <a:rPr lang="en-IN" sz="2800" spc="-1">
                <a:solidFill>
                  <a:srgbClr val="FFFFFF"/>
                </a:solidFill>
                <a:latin typeface="Times New Roman" panose="02020603050405020304"/>
              </a:rPr>
              <a:t>Handwriting Recognition</a:t>
            </a:r>
          </a:p>
          <a:p>
            <a:pPr marL="285750" indent="-285750">
              <a:buFont typeface="Arial" panose="020B0604020202020204" pitchFamily="34" charset="0"/>
              <a:buChar char="•"/>
            </a:pPr>
            <a:r>
              <a:rPr lang="en-IN" sz="2800" spc="-1">
                <a:solidFill>
                  <a:srgbClr val="FFFFFF"/>
                </a:solidFill>
                <a:latin typeface="Times New Roman" panose="02020603050405020304"/>
              </a:rPr>
              <a:t>Music Composition</a:t>
            </a:r>
          </a:p>
          <a:p>
            <a:pPr marL="285750" indent="-285750">
              <a:buFont typeface="Arial" panose="020B0604020202020204" pitchFamily="34" charset="0"/>
              <a:buChar char="•"/>
            </a:pPr>
            <a:r>
              <a:rPr lang="en-IN" sz="2800" spc="-1">
                <a:solidFill>
                  <a:srgbClr val="FFFFFF"/>
                </a:solidFill>
                <a:latin typeface="Times New Roman" panose="02020603050405020304"/>
              </a:rPr>
              <a:t>Text Generation</a:t>
            </a:r>
          </a:p>
          <a:p>
            <a:pPr marL="285750" indent="-285750">
              <a:buFont typeface="Arial" panose="020B0604020202020204" pitchFamily="34" charset="0"/>
              <a:buChar char="•"/>
            </a:pPr>
            <a:r>
              <a:rPr lang="en-US" altLang="en-IN" sz="2800" spc="-1">
                <a:solidFill>
                  <a:srgbClr val="FFFFFF"/>
                </a:solidFill>
                <a:latin typeface="Times New Roman" panose="02020603050405020304"/>
              </a:rPr>
              <a:t>Text Summarization</a:t>
            </a:r>
          </a:p>
          <a:p>
            <a:pPr marL="285750" indent="-285750">
              <a:buFont typeface="Arial" panose="020B0604020202020204" pitchFamily="34" charset="0"/>
              <a:buChar char="•"/>
            </a:pPr>
            <a:r>
              <a:rPr lang="en-US" altLang="en-IN" sz="2800" spc="-1">
                <a:solidFill>
                  <a:srgbClr val="FFFFFF"/>
                </a:solidFill>
                <a:latin typeface="Times New Roman" panose="02020603050405020304"/>
              </a:rPr>
              <a:t>Chat Bot Building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39420" y="313055"/>
            <a:ext cx="8352790" cy="1214120"/>
          </a:xfrm>
          <a:prstGeom prst="rect">
            <a:avLst/>
          </a:prstGeom>
          <a:noFill/>
        </p:spPr>
        <p:txBody>
          <a:bodyPr wrap="square" rtlCol="0">
            <a:noAutofit/>
          </a:bodyPr>
          <a:lstStyle/>
          <a:p>
            <a:r>
              <a:rPr lang="en-IN" sz="5400" b="1" spc="-1">
                <a:solidFill>
                  <a:srgbClr val="ED7D31"/>
                </a:solidFill>
                <a:latin typeface="Calibri" panose="020F0502020204030204"/>
                <a:sym typeface="+mn-ea"/>
              </a:rPr>
              <a:t>AI </a:t>
            </a:r>
            <a:r>
              <a:rPr lang="en-IN" sz="3600" b="1" spc="-1">
                <a:solidFill>
                  <a:srgbClr val="C00000"/>
                </a:solidFill>
                <a:latin typeface="Calibri" panose="020F0502020204030204"/>
                <a:sym typeface="+mn-ea"/>
              </a:rPr>
              <a:t>Vs</a:t>
            </a:r>
            <a:r>
              <a:rPr lang="en-IN" sz="5400" b="1" spc="-1">
                <a:solidFill>
                  <a:srgbClr val="ED7D31"/>
                </a:solidFill>
                <a:latin typeface="Calibri" panose="020F0502020204030204"/>
                <a:sym typeface="+mn-ea"/>
              </a:rPr>
              <a:t> ML </a:t>
            </a:r>
            <a:r>
              <a:rPr lang="en-IN" sz="3600" b="1" spc="-1">
                <a:solidFill>
                  <a:srgbClr val="C00000"/>
                </a:solidFill>
                <a:latin typeface="Calibri" panose="020F0502020204030204"/>
                <a:sym typeface="+mn-ea"/>
              </a:rPr>
              <a:t>Vs</a:t>
            </a:r>
            <a:r>
              <a:rPr lang="en-IN" sz="5400" b="1" spc="-1">
                <a:solidFill>
                  <a:srgbClr val="ED7D31"/>
                </a:solidFill>
                <a:latin typeface="Calibri" panose="020F0502020204030204"/>
                <a:sym typeface="+mn-ea"/>
              </a:rPr>
              <a:t> DL </a:t>
            </a:r>
            <a:r>
              <a:rPr lang="en-IN" sz="3600" b="1" spc="-1">
                <a:solidFill>
                  <a:srgbClr val="C00000"/>
                </a:solidFill>
                <a:latin typeface="Calibri" panose="020F0502020204030204"/>
                <a:sym typeface="+mn-ea"/>
              </a:rPr>
              <a:t>Vs</a:t>
            </a:r>
            <a:r>
              <a:rPr lang="en-IN" sz="5400" b="1" spc="-1">
                <a:solidFill>
                  <a:srgbClr val="C00000"/>
                </a:solidFill>
                <a:latin typeface="Calibri" panose="020F0502020204030204"/>
                <a:sym typeface="+mn-ea"/>
              </a:rPr>
              <a:t> </a:t>
            </a:r>
            <a:r>
              <a:rPr lang="en-IN" sz="5400" b="1" spc="-1">
                <a:solidFill>
                  <a:srgbClr val="ED7D31"/>
                </a:solidFill>
                <a:latin typeface="Calibri" panose="020F0502020204030204"/>
                <a:sym typeface="+mn-ea"/>
              </a:rPr>
              <a:t>DS</a:t>
            </a:r>
            <a:endParaRPr lang="en-IN" sz="5400" b="1" spc="-1">
              <a:solidFill>
                <a:srgbClr val="ED7D31"/>
              </a:solidFill>
              <a:latin typeface="Calibri" panose="020F0502020204030204"/>
            </a:endParaRPr>
          </a:p>
          <a:p>
            <a:endParaRPr lang="en-US" altLang="en-IN" sz="5400" b="1" spc="-1">
              <a:solidFill>
                <a:srgbClr val="ED7D31"/>
              </a:solidFill>
              <a:latin typeface="Calibri" panose="020F0502020204030204"/>
            </a:endParaRPr>
          </a:p>
        </p:txBody>
      </p:sp>
      <p:pic>
        <p:nvPicPr>
          <p:cNvPr id="4" name="Picture 3" descr="Untitled design"/>
          <p:cNvPicPr>
            <a:picLocks noChangeAspect="1"/>
          </p:cNvPicPr>
          <p:nvPr/>
        </p:nvPicPr>
        <p:blipFill>
          <a:blip r:embed="rId2"/>
          <a:stretch>
            <a:fillRect/>
          </a:stretch>
        </p:blipFill>
        <p:spPr>
          <a:xfrm>
            <a:off x="439420" y="1989455"/>
            <a:ext cx="9250045" cy="4420235"/>
          </a:xfrm>
          <a:prstGeom prst="rect">
            <a:avLst/>
          </a:prstGeom>
          <a:ln w="38100">
            <a:solidFill>
              <a:schemeClr val="accent2"/>
            </a:solidFill>
          </a:ln>
          <a:effectLst>
            <a:glow rad="101600">
              <a:schemeClr val="accent4">
                <a:satMod val="175000"/>
                <a:alpha val="40000"/>
              </a:schemeClr>
            </a:glow>
            <a:outerShdw blurRad="50800" dist="38100" dir="5400000" algn="t"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125470" y="2457450"/>
            <a:ext cx="4971415" cy="1942465"/>
          </a:xfrm>
          <a:prstGeom prst="rect">
            <a:avLst/>
          </a:prstGeom>
          <a:noFill/>
        </p:spPr>
        <p:txBody>
          <a:bodyPr wrap="square" rtlCol="0">
            <a:noAutofit/>
          </a:bodyPr>
          <a:lstStyle/>
          <a:p>
            <a:r>
              <a:rPr lang="en-US" altLang="en-IN" sz="5400" b="1" spc="-1">
                <a:solidFill>
                  <a:srgbClr val="ED7D31"/>
                </a:solidFill>
                <a:latin typeface="Calibri" panose="020F0502020204030204"/>
              </a:rPr>
              <a:t>THANK YOU </a:t>
            </a:r>
          </a:p>
          <a:p>
            <a:r>
              <a:rPr lang="en-US" altLang="en-IN" sz="5400" b="1" spc="-1">
                <a:solidFill>
                  <a:srgbClr val="ED7D31"/>
                </a:solidFill>
                <a:latin typeface="Calibri" panose="020F0502020204030204"/>
              </a:rPr>
              <a:t>       😊</a:t>
            </a:r>
            <a:endParaRPr lang="en-IN" sz="5400" b="1" spc="-1">
              <a:solidFill>
                <a:srgbClr val="ED7D31"/>
              </a:solidFill>
              <a:latin typeface="Calibri" panose="020F0502020204030204"/>
            </a:endParaRPr>
          </a:p>
          <a:p>
            <a:endParaRPr lang="en-US" altLang="en-IN" sz="5400" b="1" spc="-1">
              <a:solidFill>
                <a:srgbClr val="ED7D31"/>
              </a:solidFill>
              <a:latin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980</Words>
  <Application>Microsoft Office PowerPoint</Application>
  <PresentationFormat>Widescreen</PresentationFormat>
  <Paragraphs>148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宋体</vt: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Ranjit</dc:creator>
  <cp:lastModifiedBy>Ranjit</cp:lastModifiedBy>
  <cp:revision>97</cp:revision>
  <dcterms:created xsi:type="dcterms:W3CDTF">2023-09-26T17:01:00Z</dcterms:created>
  <dcterms:modified xsi:type="dcterms:W3CDTF">2026-03-03T16:04:37Z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1033-12.2.0.13359</vt:lpwstr>
  </property>
  <property fmtid="{D5CDD505-2E9C-101B-9397-08002B2CF9AE}" pid="3" name="ICV">
    <vt:lpwstr/>
  </property>
</Properties>
</file>